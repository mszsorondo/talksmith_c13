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quote with no attribution. Plenty of quoted lines have no person to name — a slogan, an anonymized line from a user interview, a sentence from a standard or a report, something said in the room. The template treats attribution as optional and renders nothing in its place: the quotation mark and the centering already say these are someone else's words, which is the only thing that distinguishes a quote from a statement. The rule this fixture guards is that the fill must not invent an attribution to satisfy the template, and must not demote the slide to statement because none exists.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aside is the slide-model expression of an author's &lt;!-- aside: ... --&gt; hint in draft.md. It reserves roughly 37% of the slide width as a full-bleed image column and pads the stage on that side so the head and body lay out in what remains. Because the column crops to fill rather than fitting the whole image, it is only ever atmosphere: a diagram, chart, or screenshot the audience must actually read belongs in a template that owns its image, where it is contained and legible.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variant exists for rhythm: alternating the side across a run of slides keeps a deck from feeling like a template. The choice carries no semantics — it is purely visual pacing.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Inline styling is resolved once, in html_style.py _richtext/_inline_md, on the slide's prose fields — not per template — so any field of any template accepts the marks. Escaping runs first, so authored HTML in a field stays inert text; code blocks, image paths and the enum-ish fields the renderer branches on are excluded, because their bytes are the content.</a:t>
            </a:r>
          </a:p>
          <a:p/>
          <a:p>
            <a:r>
              <a:t>Speaker notes take the same grammar (this note is proof: bold resolves here too) plus their own line breaks, because notes are prose the presenter reads rather than a schema field.</a:t>
            </a:r>
          </a:p>
          <a:p/>
          <a:p>
            <a:r>
              <a:t>The grammar stops at inline marks on purpose: block markdown inside a field (headings, lists, tables) would let content route around the schema, which is where the template and its fields do their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list whose items carry no label has nothing to build a card around, so it used to land on fallback and draw as bare bullets. It belongs on process instead: the unlabeled branch of that template is already a numbered list — an outlined number chip and the line — and the numbering is what earns the slide. It turns a loose list into a countable set the audience can hold in mind and the presenter can point at, without implying the items are steps in a sequence. The single column is deliberate here, unlike the labeled set: a numbered list is read top to bottom, and splitting it across columns breaks the count.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terms explained side by side. The columns deliberately share no row structure — that is the whole discriminator against value-columns, which is a table wearing columns and whose cells align row by row against a shared factor. Here reading across a row says nothing: each column is read top to bottom on its own, and one column may carry four bullets where its neighbour carries a paragraph. The emphasised column marks the term the slide is about, the one the others define by contrast; it is not a verdict, so the older or worse option may carry it just as well.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two-column case, and the one most likely to be misclassified. It reads adversarial — old way versus new way — but there is no shared factor and no row to read across, so it is not a value-columns grid: each side is explained in its own terms, with its own internal structure. Note also that the emphasised column here is the traditional approach, not the one the talk advocates: emphasis marks the subject under discussion, never the winner.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 case for the style test: five rules against three, each a short clause. Guards the count-stepped sizing and the uneven-column layout — the shape that first showed the items had been joined into a single run-on 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a screenshot slide takes: the header stays, the image owns everything below it, and the detail the presenter narrates lives here in the notes rather than on the slide face. The image is contained, never cropped — a capture whose edges are cut stops being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and style are separate decisions, so they are separate fields. The stage places media per design; the template emits content and nothing else. That is why every content template accepts every design — the old layout field existed on five templates only, and aside was a second vocabulary for the same decision, so a template on neither list could not be composed at all. This slide is a concept-breakdown, a template that could never carry a composed image before.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and style are separate decisions, so they are separate fields. The stage places media per design; the template emits content and nothing else. That is why every content template accepts every design — the old layout field existed on five templates only, and aside was a second vocabulary for the same decision, so a template on neither list could not be composed at all. This slide is a concept-breakdown, a template that could never carry a composed image before.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and style are separate decisions, so they are separate fields. The stage places media per design; the template emits content and nothing else. That is why every content template accepts every design — the old layout field existed on five templates only, and aside was a second vocabulary for the same decision, so a template on neither list could not be composed at all. This slide is a concept-breakdown, a template that could never carry a composed image before.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and style are separate decisions, so they are separate fields. The stage places media per design; the template emits content and nothing else. That is why every content template accepts every design — the old layout field existed on five templates only, and aside was a second vocabulary for the same decision, so a template on neither list could not be composed at all. This slide is a concept-breakdown, a template that could never carry a composed image before.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and style are separate decisions, so they are separate fields. The stage places media per design; the template emits content and nothing else. That is why every content template accepts every design — the old layout field existed on five templates only, and aside was a second vocabulary for the same decision, so a template on neither list could not be composed at all. This slide is a concept-breakdown, a template that could never carry a composed image before.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clip on a slide is a demo recording: it runs while the presenter narrates over it. Because the video carries the point and the PDF export only prints its first frame, whatever it shows has to be said here too — a reader of the deck never sees it move.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column design crops media to fill its strip, which for video means the same rule as for a photo: nothing load-bearing goes in it. Ambient motion behind a text slide is what this is for — muted and looping, so it never ends mid-talk and never competes with the presenter's voice.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source highlight is emitted as a child of the stage rather than of .cfit, so it is pinned to the slide's bottom edge instead of trailing the content wherever the content happens to end. Two consequences follow from that placement, and both are the reason for it: on a short slide the citation stays on the baseline instead of floating up under a half-empty body, and the per-slide content-fit pass — which only ever scales .cfit — can neither shrink it nor move it. Every other highlight kind is a remark on the body and stays inside .cfit, where it moves and scales with what it remarks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room commit to an answer before you advance; the reveal is one navigation step away.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room commit to an answer before you advance; the reveal is one navigation step away.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 room commit to an answer before you advance; the reveal is one navigation step away.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matrix earns its own template because the axes carry meaning. Filed as four concept cards, the labels survive and the axes vanish — and the axes were the point. The tone colours reuse the pros-cons pair rather than introducing a third palette.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media could hold code, this slide had two bad options: drop the snippet to keep the cards, or become a code-example and flatten the cards into an explanation column. Both lose content. The design places the panel; the template still just emits cards.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lookup table is supporting evidence here, not the slide — so it rides in media like a diagram would. Rendered with the same compare-strip classes value-columns uses, so a table beside a body and a table that is the body read as one piece.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catalog always described a stat pair as the lower band of a content slide, but only the stat template had a stats field — so a slide with this hook had to become a stat and demote its cards. The band is now universal; stat is for when the numbers are the whole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6.png"/><Relationship Id="rId5" Type="http://schemas.openxmlformats.org/officeDocument/2006/relationships/image" Target="../media/image29.png"/><Relationship Id="rId6"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6.png"/><Relationship Id="rId5" Type="http://schemas.openxmlformats.org/officeDocument/2006/relationships/image" Target="../media/image29.png"/><Relationship Id="rId6" Type="http://schemas.openxmlformats.org/officeDocument/2006/relationships/image" Target="../media/image34.png"/><Relationship Id="rId7" Type="http://schemas.openxmlformats.org/officeDocument/2006/relationships/image" Target="../media/image39.png"/><Relationship Id="rId8"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21.png"/><Relationship Id="rId6" Type="http://schemas.openxmlformats.org/officeDocument/2006/relationships/image" Target="../media/image42.png"/><Relationship Id="rId7" Type="http://schemas.openxmlformats.org/officeDocument/2006/relationships/image" Target="../media/image30.png"/><Relationship Id="rId8" Type="http://schemas.openxmlformats.org/officeDocument/2006/relationships/image" Target="../media/image43.png"/><Relationship Id="rId9" Type="http://schemas.openxmlformats.org/officeDocument/2006/relationships/image" Target="../media/image29.png"/><Relationship Id="rId10" Type="http://schemas.openxmlformats.org/officeDocument/2006/relationships/image" Target="../media/image4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jpg"/><Relationship Id="rId6" Type="http://schemas.openxmlformats.org/officeDocument/2006/relationships/notesSlide" Target="../notesSlides/notesSlid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jpg"/><Relationship Id="rId5" Type="http://schemas.openxmlformats.org/officeDocument/2006/relationships/notesSlide" Target="../notesSlides/notesSlide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2.png"/><Relationship Id="rId4" Type="http://schemas.openxmlformats.org/officeDocument/2006/relationships/image" Target="../media/image5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17.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hyperlink" Target="https://www.who.int" TargetMode="External"/><Relationship Id="rId8" Type="http://schemas.openxmlformats.org/officeDocument/2006/relationships/image" Target="../media/image64.png"/><Relationship Id="rId9" Type="http://schemas.openxmlformats.org/officeDocument/2006/relationships/hyperlink" Target="https://www.who.int/data" TargetMode="External"/><Relationship Id="rId10" Type="http://schemas.openxmlformats.org/officeDocument/2006/relationships/hyperlink" Target="https://who.int" TargetMode="External"/><Relationship Id="rId11" Type="http://schemas.openxmlformats.org/officeDocument/2006/relationships/hyperlink" Target="https://www.who.int/es" TargetMode="External"/><Relationship Id="rId12" Type="http://schemas.openxmlformats.org/officeDocument/2006/relationships/hyperlink" Target="https://app.sli.do/event/x" TargetMode="External"/><Relationship Id="rId13" Type="http://schemas.openxmlformats.org/officeDocument/2006/relationships/hyperlink" Target="mailto:deck@example.org" TargetMode="External"/><Relationship Id="rId14" Type="http://schemas.openxmlformats.org/officeDocument/2006/relationships/notesSlide" Target="../notesSlides/notes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17.png"/><Relationship Id="rId5" Type="http://schemas.openxmlformats.org/officeDocument/2006/relationships/image" Target="../media/image69.png"/><Relationship Id="rId6" Type="http://schemas.openxmlformats.org/officeDocument/2006/relationships/image" Target="../media/image44.png"/><Relationship Id="rId7" Type="http://schemas.openxmlformats.org/officeDocument/2006/relationships/notesSlide" Target="../notesSlides/notesSlide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68.png"/><Relationship Id="rId4" Type="http://schemas.openxmlformats.org/officeDocument/2006/relationships/hyperlink" Target="https://arxiv.org/abs/2108.07258" TargetMode="External"/><Relationship Id="rId5" Type="http://schemas.openxmlformats.org/officeDocument/2006/relationships/notesSlide" Target="../notesSlides/notesSlide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notesSlide" Target="../notesSlides/notesSlide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7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8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image" Target="../media/image8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9.png"/><Relationship Id="rId4" Type="http://schemas.openxmlformats.org/officeDocument/2006/relationships/image" Target="../media/image8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19.png"/><Relationship Id="rId4" Type="http://schemas.openxmlformats.org/officeDocument/2006/relationships/image" Target="../media/image86.png"/><Relationship Id="rId5" Type="http://schemas.openxmlformats.org/officeDocument/2006/relationships/image" Target="../media/image8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75.png"/><Relationship Id="rId4" Type="http://schemas.openxmlformats.org/officeDocument/2006/relationships/image" Target="../media/image88.png"/><Relationship Id="rId5" Type="http://schemas.openxmlformats.org/officeDocument/2006/relationships/image" Target="../media/image45.png"/><Relationship Id="rId6" Type="http://schemas.openxmlformats.org/officeDocument/2006/relationships/image" Target="../media/image89.png"/><Relationship Id="rId7" Type="http://schemas.openxmlformats.org/officeDocument/2006/relationships/image" Target="../media/image7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hyperlink" Target="https://www.who.int" TargetMode="External"/><Relationship Id="rId5" Type="http://schemas.openxmlformats.org/officeDocument/2006/relationships/image" Target="../media/image92.png"/><Relationship Id="rId6" Type="http://schemas.openxmlformats.org/officeDocument/2006/relationships/notesSlide" Target="../notesSlides/notesSlide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66.png"/><Relationship Id="rId5" Type="http://schemas.openxmlformats.org/officeDocument/2006/relationships/notesSlide" Target="../notesSlides/notesSlide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hyperlink" Target="https://www.who.int" TargetMode="External"/><Relationship Id="rId5" Type="http://schemas.openxmlformats.org/officeDocument/2006/relationships/image" Target="../media/image93.png"/><Relationship Id="rId6" Type="http://schemas.openxmlformats.org/officeDocument/2006/relationships/notesSlide" Target="../notesSlides/notesSlide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hyperlink" Target="https://www.who.int" TargetMode="External"/><Relationship Id="rId5" Type="http://schemas.openxmlformats.org/officeDocument/2006/relationships/image" Target="../media/image51.jpg"/><Relationship Id="rId6" Type="http://schemas.openxmlformats.org/officeDocument/2006/relationships/notesSlide" Target="../notesSlides/notesSlide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94.jpg"/><Relationship Id="rId5" Type="http://schemas.openxmlformats.org/officeDocument/2006/relationships/notesSlide" Target="../notesSlides/notesSlide1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95.png"/><Relationship Id="rId4" Type="http://schemas.openxmlformats.org/officeDocument/2006/relationships/notesSlide" Target="../notesSlides/notesSlide1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notesSlide" Target="../notesSlides/notesSlide1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44.png"/><Relationship Id="rId4" Type="http://schemas.openxmlformats.org/officeDocument/2006/relationships/hyperlink" Target="https://www.who.int" TargetMode="External"/><Relationship Id="rId5" Type="http://schemas.openxmlformats.org/officeDocument/2006/relationships/notesSlide" Target="../notesSlides/notesSlide1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image" Target="../media/image99.png"/><Relationship Id="rId4" Type="http://schemas.openxmlformats.org/officeDocument/2006/relationships/image" Target="../media/image10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103.png"/><Relationship Id="rId6" Type="http://schemas.openxmlformats.org/officeDocument/2006/relationships/image" Target="../media/image4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 Id="rId3" Type="http://schemas.openxmlformats.org/officeDocument/2006/relationships/image" Target="../media/image76.png"/><Relationship Id="rId4" Type="http://schemas.openxmlformats.org/officeDocument/2006/relationships/notesSlide" Target="../notesSlides/notesSlide1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notesSlide" Target="../notesSlides/notesSlide1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notesSlide" Target="../notesSlides/notesSlide2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 Id="rId3" Type="http://schemas.openxmlformats.org/officeDocument/2006/relationships/image" Target="../media/image107.png"/><Relationship Id="rId4" Type="http://schemas.openxmlformats.org/officeDocument/2006/relationships/image" Target="../media/image108.png"/><Relationship Id="rId5" Type="http://schemas.openxmlformats.org/officeDocument/2006/relationships/notesSlide" Target="../notesSlides/notesSlide2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 Id="rId3" Type="http://schemas.openxmlformats.org/officeDocument/2006/relationships/image" Target="../media/image110.png"/><Relationship Id="rId4" Type="http://schemas.openxmlformats.org/officeDocument/2006/relationships/notesSlide" Target="../notesSlides/notesSlide2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7.png"/><Relationship Id="rId5" Type="http://schemas.openxmlformats.org/officeDocument/2006/relationships/hyperlink" Target="https://github.com/austral/talksmith"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273" y="687991"/>
            <a:ext cx="8146256" cy="762000"/>
          </a:xfrm>
          <a:prstGeom prst="rect">
            <a:avLst/>
          </a:prstGeom>
          <a:noFill/>
        </p:spPr>
        <p:txBody>
          <a:bodyPr wrap="none" anchor="ctr" lIns="0" tIns="0" rIns="0" bIns="0">
            <a:noAutofit/>
          </a:bodyPr>
          <a:lstStyle/>
          <a:p>
            <a:pPr algn="l">
              <a:lnSpc>
                <a:spcPts val="5753"/>
              </a:lnSpc>
              <a:spcBef>
                <a:spcPts val="0"/>
              </a:spcBef>
              <a:spcAft>
                <a:spcPts val="0"/>
              </a:spcAft>
            </a:pPr>
            <a:r>
              <a:rPr sz="5376" b="1" i="0" u="none" spc="-107">
                <a:solidFill>
                  <a:srgbClr val="1F1E1E"/>
                </a:solidFill>
                <a:latin typeface="Arial"/>
              </a:rPr>
              <a:t>Talksmith Style Reference</a:t>
            </a:r>
          </a:p>
        </p:txBody>
      </p:sp>
      <p:sp>
        <p:nvSpPr>
          <p:cNvPr id="3" name="TextBox 2"/>
          <p:cNvSpPr txBox="1"/>
          <p:nvPr/>
        </p:nvSpPr>
        <p:spPr>
          <a:xfrm>
            <a:off x="658273" y="1642205"/>
            <a:ext cx="7173182" cy="285750"/>
          </a:xfrm>
          <a:prstGeom prst="rect">
            <a:avLst/>
          </a:prstGeom>
          <a:noFill/>
        </p:spPr>
        <p:txBody>
          <a:bodyPr wrap="none" anchor="ctr" lIns="0" tIns="0" rIns="0" bIns="0">
            <a:noAutofit/>
          </a:bodyPr>
          <a:lstStyle/>
          <a:p>
            <a:pPr algn="l">
              <a:lnSpc>
                <a:spcPts val="2436"/>
              </a:lnSpc>
              <a:spcBef>
                <a:spcPts val="0"/>
              </a:spcBef>
              <a:spcAft>
                <a:spcPts val="0"/>
              </a:spcAft>
            </a:pPr>
            <a:r>
              <a:rPr sz="1948" b="1" i="0" u="none">
                <a:solidFill>
                  <a:srgbClr val="3B3535"/>
                </a:solidFill>
                <a:latin typeface="Arial"/>
              </a:rPr>
              <a:t>md-to-deck visual regression deck</a:t>
            </a:r>
          </a:p>
        </p:txBody>
      </p:sp>
      <p:sp>
        <p:nvSpPr>
          <p:cNvPr id="4" name="TextBox 3"/>
          <p:cNvSpPr txBox="1"/>
          <p:nvPr/>
        </p:nvSpPr>
        <p:spPr>
          <a:xfrm>
            <a:off x="658273" y="3589592"/>
            <a:ext cx="8187534" cy="986409"/>
          </a:xfrm>
          <a:prstGeom prst="rect">
            <a:avLst/>
          </a:prstGeom>
          <a:noFill/>
        </p:spPr>
        <p:txBody>
          <a:bodyPr wrap="square" anchor="ctr" lIns="0" tIns="0" rIns="0" bIns="0">
            <a:noAutofit/>
          </a:bodyPr>
          <a:lstStyle/>
          <a:p>
            <a:pPr algn="l">
              <a:lnSpc>
                <a:spcPts val="2496"/>
              </a:lnSpc>
              <a:spcBef>
                <a:spcPts val="0"/>
              </a:spcBef>
              <a:spcAft>
                <a:spcPts val="0"/>
              </a:spcAft>
            </a:pPr>
            <a:r>
              <a:rPr sz="2496" b="1" i="0" u="none">
                <a:solidFill>
                  <a:srgbClr val="1F1E1E"/>
                </a:solidFill>
                <a:latin typeface="Arial"/>
              </a:rPr>
              <a:t>One example of every slide template, plus layout edge cases</a:t>
            </a:r>
          </a:p>
        </p:txBody>
      </p:sp>
      <p:sp>
        <p:nvSpPr>
          <p:cNvPr id="5" name="TextBox 4"/>
          <p:cNvSpPr txBox="1"/>
          <p:nvPr/>
        </p:nvSpPr>
        <p:spPr>
          <a:xfrm>
            <a:off x="658273" y="4475702"/>
            <a:ext cx="8187534" cy="711327"/>
          </a:xfrm>
          <a:prstGeom prst="rect">
            <a:avLst/>
          </a:prstGeom>
          <a:noFill/>
        </p:spPr>
        <p:txBody>
          <a:bodyPr wrap="square" anchor="ctr" lIns="0" tIns="0" rIns="0" bIns="0">
            <a:noAutofit/>
          </a:bodyPr>
          <a:lstStyle/>
          <a:p>
            <a:pPr algn="l">
              <a:lnSpc>
                <a:spcPts val="2952"/>
              </a:lnSpc>
              <a:spcBef>
                <a:spcPts val="0"/>
              </a:spcBef>
              <a:spcAft>
                <a:spcPts val="0"/>
              </a:spcAft>
            </a:pPr>
            <a:r>
              <a:rPr sz="1968" b="0" i="0" u="none">
                <a:solidFill>
                  <a:srgbClr val="3B3535"/>
                </a:solidFill>
                <a:latin typeface="Arial"/>
              </a:rPr>
              <a:t>Autor: Talksmith</a:t>
            </a:r>
          </a:p>
          <a:p>
            <a:pPr algn="l">
              <a:lnSpc>
                <a:spcPts val="2952"/>
              </a:lnSpc>
              <a:spcBef>
                <a:spcPts val="0"/>
              </a:spcBef>
              <a:spcAft>
                <a:spcPts val="0"/>
              </a:spcAft>
            </a:pPr>
            <a:r>
              <a:rPr sz="1968" b="0" i="0" u="none">
                <a:solidFill>
                  <a:srgbClr val="3B3535"/>
                </a:solidFill>
                <a:latin typeface="Arial"/>
              </a:rPr>
              <a:t>Última modificación: 2026-07-14</a:t>
            </a:r>
          </a:p>
        </p:txBody>
      </p:sp>
      <p:pic>
        <p:nvPicPr>
          <p:cNvPr id="6" name="Picture 5" descr="image.png"/>
          <p:cNvPicPr>
            <a:picLocks noChangeAspect="1"/>
          </p:cNvPicPr>
          <p:nvPr/>
        </p:nvPicPr>
        <p:blipFill>
          <a:blip r:embed="rId2"/>
          <a:stretch>
            <a:fillRect/>
          </a:stretch>
        </p:blipFill>
        <p:spPr>
          <a:xfrm>
            <a:off x="9095518" y="4907470"/>
            <a:ext cx="2438210" cy="195053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770317"/>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A1B2E"/>
                </a:solidFill>
                <a:latin typeface="Courier New"/>
              </a:rPr>
              <a:t>01</a:t>
            </a:r>
          </a:p>
        </p:txBody>
      </p:sp>
      <p:sp>
        <p:nvSpPr>
          <p:cNvPr id="3" name="TextBox 2"/>
          <p:cNvSpPr txBox="1"/>
          <p:nvPr/>
        </p:nvSpPr>
        <p:spPr>
          <a:xfrm>
            <a:off x="1328738" y="1675067"/>
            <a:ext cx="2910459"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Frames &amp; openers</a:t>
            </a:r>
          </a:p>
        </p:txBody>
      </p:sp>
      <p:sp>
        <p:nvSpPr>
          <p:cNvPr id="4" name="TextBox 3"/>
          <p:cNvSpPr txBox="1"/>
          <p:nvPr/>
        </p:nvSpPr>
        <p:spPr>
          <a:xfrm>
            <a:off x="670465" y="2292096"/>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02</a:t>
            </a:r>
          </a:p>
        </p:txBody>
      </p:sp>
      <p:sp>
        <p:nvSpPr>
          <p:cNvPr id="5" name="TextBox 4"/>
          <p:cNvSpPr txBox="1"/>
          <p:nvPr/>
        </p:nvSpPr>
        <p:spPr>
          <a:xfrm>
            <a:off x="1328738" y="2196846"/>
            <a:ext cx="3568922"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Statement &amp; emphasis</a:t>
            </a:r>
          </a:p>
        </p:txBody>
      </p:sp>
      <p:sp>
        <p:nvSpPr>
          <p:cNvPr id="6" name="TextBox 5"/>
          <p:cNvSpPr txBox="1"/>
          <p:nvPr/>
        </p:nvSpPr>
        <p:spPr>
          <a:xfrm>
            <a:off x="670465" y="2813876"/>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03</a:t>
            </a:r>
          </a:p>
        </p:txBody>
      </p:sp>
      <p:sp>
        <p:nvSpPr>
          <p:cNvPr id="7" name="TextBox 6"/>
          <p:cNvSpPr txBox="1"/>
          <p:nvPr/>
        </p:nvSpPr>
        <p:spPr>
          <a:xfrm>
            <a:off x="1328738" y="2718626"/>
            <a:ext cx="2233136"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Enumerations</a:t>
            </a:r>
          </a:p>
        </p:txBody>
      </p:sp>
      <p:sp>
        <p:nvSpPr>
          <p:cNvPr id="8" name="TextBox 7"/>
          <p:cNvSpPr txBox="1"/>
          <p:nvPr/>
        </p:nvSpPr>
        <p:spPr>
          <a:xfrm>
            <a:off x="670465" y="3335655"/>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04</a:t>
            </a:r>
          </a:p>
        </p:txBody>
      </p:sp>
      <p:sp>
        <p:nvSpPr>
          <p:cNvPr id="9" name="TextBox 8"/>
          <p:cNvSpPr txBox="1"/>
          <p:nvPr/>
        </p:nvSpPr>
        <p:spPr>
          <a:xfrm>
            <a:off x="1328738" y="3240405"/>
            <a:ext cx="3605212"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Ordered &amp; comparison</a:t>
            </a:r>
          </a:p>
        </p:txBody>
      </p:sp>
      <p:sp>
        <p:nvSpPr>
          <p:cNvPr id="10" name="TextBox 9"/>
          <p:cNvSpPr txBox="1"/>
          <p:nvPr/>
        </p:nvSpPr>
        <p:spPr>
          <a:xfrm>
            <a:off x="670465" y="3857434"/>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05</a:t>
            </a:r>
          </a:p>
        </p:txBody>
      </p:sp>
      <p:sp>
        <p:nvSpPr>
          <p:cNvPr id="11" name="TextBox 10"/>
          <p:cNvSpPr txBox="1"/>
          <p:nvPr/>
        </p:nvSpPr>
        <p:spPr>
          <a:xfrm>
            <a:off x="1328738" y="3762184"/>
            <a:ext cx="2099405"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Visual &amp; data</a:t>
            </a:r>
          </a:p>
        </p:txBody>
      </p:sp>
      <p:sp>
        <p:nvSpPr>
          <p:cNvPr id="12" name="TextBox 11"/>
          <p:cNvSpPr txBox="1"/>
          <p:nvPr/>
        </p:nvSpPr>
        <p:spPr>
          <a:xfrm>
            <a:off x="670465" y="4379309"/>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06</a:t>
            </a:r>
          </a:p>
        </p:txBody>
      </p:sp>
      <p:sp>
        <p:nvSpPr>
          <p:cNvPr id="13" name="TextBox 12"/>
          <p:cNvSpPr txBox="1"/>
          <p:nvPr/>
        </p:nvSpPr>
        <p:spPr>
          <a:xfrm>
            <a:off x="1328738" y="4284059"/>
            <a:ext cx="2653760"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Interactive (quiz)</a:t>
            </a:r>
          </a:p>
        </p:txBody>
      </p:sp>
      <p:sp>
        <p:nvSpPr>
          <p:cNvPr id="14" name="TextBox 13"/>
          <p:cNvSpPr txBox="1"/>
          <p:nvPr/>
        </p:nvSpPr>
        <p:spPr>
          <a:xfrm>
            <a:off x="670465" y="4901089"/>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07</a:t>
            </a:r>
          </a:p>
        </p:txBody>
      </p:sp>
      <p:sp>
        <p:nvSpPr>
          <p:cNvPr id="15" name="TextBox 14"/>
          <p:cNvSpPr txBox="1"/>
          <p:nvPr/>
        </p:nvSpPr>
        <p:spPr>
          <a:xfrm>
            <a:off x="1328738" y="4805839"/>
            <a:ext cx="1245108"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Closing</a:t>
            </a:r>
          </a:p>
        </p:txBody>
      </p:sp>
      <p:sp>
        <p:nvSpPr>
          <p:cNvPr id="16" name="TextBox 15"/>
          <p:cNvSpPr txBox="1"/>
          <p:nvPr/>
        </p:nvSpPr>
        <p:spPr>
          <a:xfrm>
            <a:off x="9965341" y="1956625"/>
            <a:ext cx="1594104" cy="1514475"/>
          </a:xfrm>
          <a:prstGeom prst="rect">
            <a:avLst/>
          </a:prstGeom>
          <a:noFill/>
        </p:spPr>
        <p:txBody>
          <a:bodyPr wrap="none" anchor="ctr" lIns="0" tIns="0" rIns="0" bIns="0">
            <a:noAutofit/>
          </a:bodyPr>
          <a:lstStyle/>
          <a:p>
            <a:pPr algn="r">
              <a:lnSpc>
                <a:spcPts val="8976"/>
              </a:lnSpc>
              <a:spcBef>
                <a:spcPts val="0"/>
              </a:spcBef>
              <a:spcAft>
                <a:spcPts val="0"/>
              </a:spcAft>
            </a:pPr>
            <a:r>
              <a:rPr sz="10560" b="1" i="0" u="none" spc="-212">
                <a:solidFill>
                  <a:srgbClr val="DA1B2E"/>
                </a:solidFill>
                <a:latin typeface="Courier New"/>
              </a:rPr>
              <a:t>01</a:t>
            </a:r>
          </a:p>
        </p:txBody>
      </p:sp>
      <p:sp>
        <p:nvSpPr>
          <p:cNvPr id="17" name="TextBox 16"/>
          <p:cNvSpPr txBox="1"/>
          <p:nvPr/>
        </p:nvSpPr>
        <p:spPr>
          <a:xfrm>
            <a:off x="8900922" y="3453384"/>
            <a:ext cx="2678779" cy="1271588"/>
          </a:xfrm>
          <a:prstGeom prst="rect">
            <a:avLst/>
          </a:prstGeom>
          <a:noFill/>
        </p:spPr>
        <p:txBody>
          <a:bodyPr wrap="square" anchor="ctr" lIns="0" tIns="0" rIns="0" bIns="0">
            <a:noAutofit/>
          </a:bodyPr>
          <a:lstStyle/>
          <a:p>
            <a:pPr algn="r">
              <a:lnSpc>
                <a:spcPts val="4838"/>
              </a:lnSpc>
              <a:spcBef>
                <a:spcPts val="0"/>
              </a:spcBef>
              <a:spcAft>
                <a:spcPts val="0"/>
              </a:spcAft>
            </a:pPr>
            <a:r>
              <a:rPr sz="4608" b="1" i="0" u="none" spc="-46">
                <a:solidFill>
                  <a:srgbClr val="1F1E1E"/>
                </a:solidFill>
                <a:latin typeface="Arial"/>
              </a:rPr>
              <a:t>Frames &amp; openers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421130"/>
            <a:ext cx="10889170" cy="285750"/>
          </a:xfrm>
          <a:prstGeom prst="rect">
            <a:avLst/>
          </a:prstGeom>
          <a:noFill/>
        </p:spPr>
        <p:txBody>
          <a:bodyPr wrap="none" anchor="ctr" lIns="0" tIns="0" rIns="0" bIns="0">
            <a:noAutofit/>
          </a:bodyPr>
          <a:lstStyle/>
          <a:p>
            <a:pPr algn="l">
              <a:lnSpc>
                <a:spcPts val="2016"/>
              </a:lnSpc>
              <a:spcBef>
                <a:spcPts val="0"/>
              </a:spcBef>
              <a:spcAft>
                <a:spcPts val="0"/>
              </a:spcAft>
            </a:pPr>
            <a:r>
              <a:rPr sz="2016" b="1" i="0" u="none" spc="242">
                <a:solidFill>
                  <a:srgbClr val="DA1B2E"/>
                </a:solidFill>
                <a:latin typeface="Arial"/>
              </a:rPr>
              <a:t>FRAMES &amp; OPENERS</a:t>
            </a:r>
          </a:p>
        </p:txBody>
      </p:sp>
      <p:sp>
        <p:nvSpPr>
          <p:cNvPr id="3" name="TextBox 2"/>
          <p:cNvSpPr txBox="1"/>
          <p:nvPr/>
        </p:nvSpPr>
        <p:spPr>
          <a:xfrm>
            <a:off x="670465" y="1960245"/>
            <a:ext cx="11032887" cy="3228594"/>
          </a:xfrm>
          <a:prstGeom prst="rect">
            <a:avLst/>
          </a:prstGeom>
          <a:noFill/>
        </p:spPr>
        <p:txBody>
          <a:bodyPr wrap="square" anchor="ctr" lIns="0" tIns="0" rIns="0" bIns="0">
            <a:noAutofit/>
          </a:bodyPr>
          <a:lstStyle/>
          <a:p>
            <a:pPr algn="l">
              <a:lnSpc>
                <a:spcPts val="6250"/>
              </a:lnSpc>
              <a:spcBef>
                <a:spcPts val="0"/>
              </a:spcBef>
              <a:spcAft>
                <a:spcPts val="0"/>
              </a:spcAft>
            </a:pPr>
            <a:r>
              <a:rPr sz="5952" b="1" i="0" u="none" spc="-59">
                <a:solidFill>
                  <a:srgbClr val="1F1E1E"/>
                </a:solidFill>
                <a:latin typeface="Arial"/>
              </a:rPr>
              <a:t>This deck renders one example of every Talksmith slide template.</a:t>
            </a:r>
          </a:p>
        </p:txBody>
      </p:sp>
      <p:sp>
        <p:nvSpPr>
          <p:cNvPr id="4" name="TextBox 3"/>
          <p:cNvSpPr txBox="1"/>
          <p:nvPr/>
        </p:nvSpPr>
        <p:spPr>
          <a:xfrm>
            <a:off x="670465" y="4706588"/>
            <a:ext cx="11032887" cy="722376"/>
          </a:xfrm>
          <a:prstGeom prst="rect">
            <a:avLst/>
          </a:prstGeom>
          <a:noFill/>
        </p:spPr>
        <p:txBody>
          <a:bodyPr wrap="square" anchor="ctr" lIns="0" tIns="0" rIns="0" bIns="0">
            <a:noAutofit/>
          </a:bodyPr>
          <a:lstStyle/>
          <a:p>
            <a:pPr algn="l">
              <a:lnSpc>
                <a:spcPts val="2688"/>
              </a:lnSpc>
              <a:spcBef>
                <a:spcPts val="0"/>
              </a:spcBef>
              <a:spcAft>
                <a:spcPts val="0"/>
              </a:spcAft>
            </a:pPr>
            <a:r>
              <a:rPr sz="2688" b="0" i="0" u="none">
                <a:solidFill>
                  <a:srgbClr val="3B3535"/>
                </a:solidFill>
                <a:latin typeface="Arial"/>
              </a:rPr>
              <a:t>Flip through it, or diff style-reference.html, and any styling regression jumps out.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2511933"/>
            <a:ext cx="11032887" cy="1831467"/>
          </a:xfrm>
          <a:prstGeom prst="rect">
            <a:avLst/>
          </a:prstGeom>
          <a:noFill/>
        </p:spPr>
        <p:txBody>
          <a:bodyPr wrap="square" anchor="ctr" lIns="0" tIns="0" rIns="0" bIns="0">
            <a:noAutofit/>
          </a:bodyPr>
          <a:lstStyle/>
          <a:p>
            <a:pPr algn="l">
              <a:lnSpc>
                <a:spcPts val="6922"/>
              </a:lnSpc>
              <a:spcBef>
                <a:spcPts val="0"/>
              </a:spcBef>
              <a:spcAft>
                <a:spcPts val="0"/>
              </a:spcAft>
            </a:pPr>
            <a:r>
              <a:rPr sz="6720" b="1" i="0" u="none" spc="-134">
                <a:solidFill>
                  <a:srgbClr val="1F1E1E"/>
                </a:solidFill>
                <a:latin typeface="Arial"/>
              </a:rPr>
              <a:t>A divider is a plain sub-opener within a section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770317"/>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01</a:t>
            </a:r>
          </a:p>
        </p:txBody>
      </p:sp>
      <p:sp>
        <p:nvSpPr>
          <p:cNvPr id="3" name="TextBox 2"/>
          <p:cNvSpPr txBox="1"/>
          <p:nvPr/>
        </p:nvSpPr>
        <p:spPr>
          <a:xfrm>
            <a:off x="1328738" y="1675067"/>
            <a:ext cx="2910459"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Frames &amp; openers</a:t>
            </a:r>
          </a:p>
        </p:txBody>
      </p:sp>
      <p:sp>
        <p:nvSpPr>
          <p:cNvPr id="4" name="TextBox 3"/>
          <p:cNvSpPr txBox="1"/>
          <p:nvPr/>
        </p:nvSpPr>
        <p:spPr>
          <a:xfrm>
            <a:off x="670465" y="2292096"/>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A1B2E"/>
                </a:solidFill>
                <a:latin typeface="Courier New"/>
              </a:rPr>
              <a:t>02</a:t>
            </a:r>
          </a:p>
        </p:txBody>
      </p:sp>
      <p:sp>
        <p:nvSpPr>
          <p:cNvPr id="5" name="TextBox 4"/>
          <p:cNvSpPr txBox="1"/>
          <p:nvPr/>
        </p:nvSpPr>
        <p:spPr>
          <a:xfrm>
            <a:off x="1328738" y="2196846"/>
            <a:ext cx="3568922"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Statement &amp; emphasis</a:t>
            </a:r>
          </a:p>
        </p:txBody>
      </p:sp>
      <p:sp>
        <p:nvSpPr>
          <p:cNvPr id="6" name="TextBox 5"/>
          <p:cNvSpPr txBox="1"/>
          <p:nvPr/>
        </p:nvSpPr>
        <p:spPr>
          <a:xfrm>
            <a:off x="670465" y="2813876"/>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03</a:t>
            </a:r>
          </a:p>
        </p:txBody>
      </p:sp>
      <p:sp>
        <p:nvSpPr>
          <p:cNvPr id="7" name="TextBox 6"/>
          <p:cNvSpPr txBox="1"/>
          <p:nvPr/>
        </p:nvSpPr>
        <p:spPr>
          <a:xfrm>
            <a:off x="1328738" y="2718626"/>
            <a:ext cx="2233136"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Enumerations</a:t>
            </a:r>
          </a:p>
        </p:txBody>
      </p:sp>
      <p:sp>
        <p:nvSpPr>
          <p:cNvPr id="8" name="TextBox 7"/>
          <p:cNvSpPr txBox="1"/>
          <p:nvPr/>
        </p:nvSpPr>
        <p:spPr>
          <a:xfrm>
            <a:off x="670465" y="3335655"/>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04</a:t>
            </a:r>
          </a:p>
        </p:txBody>
      </p:sp>
      <p:sp>
        <p:nvSpPr>
          <p:cNvPr id="9" name="TextBox 8"/>
          <p:cNvSpPr txBox="1"/>
          <p:nvPr/>
        </p:nvSpPr>
        <p:spPr>
          <a:xfrm>
            <a:off x="1328738" y="3240405"/>
            <a:ext cx="3605212"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Ordered &amp; comparison</a:t>
            </a:r>
          </a:p>
        </p:txBody>
      </p:sp>
      <p:sp>
        <p:nvSpPr>
          <p:cNvPr id="10" name="TextBox 9"/>
          <p:cNvSpPr txBox="1"/>
          <p:nvPr/>
        </p:nvSpPr>
        <p:spPr>
          <a:xfrm>
            <a:off x="670465" y="3857434"/>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05</a:t>
            </a:r>
          </a:p>
        </p:txBody>
      </p:sp>
      <p:sp>
        <p:nvSpPr>
          <p:cNvPr id="11" name="TextBox 10"/>
          <p:cNvSpPr txBox="1"/>
          <p:nvPr/>
        </p:nvSpPr>
        <p:spPr>
          <a:xfrm>
            <a:off x="1328738" y="3762184"/>
            <a:ext cx="2099405"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Visual &amp; data</a:t>
            </a:r>
          </a:p>
        </p:txBody>
      </p:sp>
      <p:sp>
        <p:nvSpPr>
          <p:cNvPr id="12" name="TextBox 11"/>
          <p:cNvSpPr txBox="1"/>
          <p:nvPr/>
        </p:nvSpPr>
        <p:spPr>
          <a:xfrm>
            <a:off x="670465" y="4379309"/>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06</a:t>
            </a:r>
          </a:p>
        </p:txBody>
      </p:sp>
      <p:sp>
        <p:nvSpPr>
          <p:cNvPr id="13" name="TextBox 12"/>
          <p:cNvSpPr txBox="1"/>
          <p:nvPr/>
        </p:nvSpPr>
        <p:spPr>
          <a:xfrm>
            <a:off x="1328738" y="4284059"/>
            <a:ext cx="2653760"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Interactive (quiz)</a:t>
            </a:r>
          </a:p>
        </p:txBody>
      </p:sp>
      <p:sp>
        <p:nvSpPr>
          <p:cNvPr id="14" name="TextBox 13"/>
          <p:cNvSpPr txBox="1"/>
          <p:nvPr/>
        </p:nvSpPr>
        <p:spPr>
          <a:xfrm>
            <a:off x="670465" y="4901089"/>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07</a:t>
            </a:r>
          </a:p>
        </p:txBody>
      </p:sp>
      <p:sp>
        <p:nvSpPr>
          <p:cNvPr id="15" name="TextBox 14"/>
          <p:cNvSpPr txBox="1"/>
          <p:nvPr/>
        </p:nvSpPr>
        <p:spPr>
          <a:xfrm>
            <a:off x="1328738" y="4805839"/>
            <a:ext cx="1245108"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Closing</a:t>
            </a:r>
          </a:p>
        </p:txBody>
      </p:sp>
      <p:sp>
        <p:nvSpPr>
          <p:cNvPr id="16" name="TextBox 15"/>
          <p:cNvSpPr txBox="1"/>
          <p:nvPr/>
        </p:nvSpPr>
        <p:spPr>
          <a:xfrm>
            <a:off x="9965341" y="1956625"/>
            <a:ext cx="1594104" cy="1514475"/>
          </a:xfrm>
          <a:prstGeom prst="rect">
            <a:avLst/>
          </a:prstGeom>
          <a:noFill/>
        </p:spPr>
        <p:txBody>
          <a:bodyPr wrap="none" anchor="ctr" lIns="0" tIns="0" rIns="0" bIns="0">
            <a:noAutofit/>
          </a:bodyPr>
          <a:lstStyle/>
          <a:p>
            <a:pPr algn="r">
              <a:lnSpc>
                <a:spcPts val="8976"/>
              </a:lnSpc>
              <a:spcBef>
                <a:spcPts val="0"/>
              </a:spcBef>
              <a:spcAft>
                <a:spcPts val="0"/>
              </a:spcAft>
            </a:pPr>
            <a:r>
              <a:rPr sz="10560" b="1" i="0" u="none" spc="-212">
                <a:solidFill>
                  <a:srgbClr val="DA1B2E"/>
                </a:solidFill>
                <a:latin typeface="Courier New"/>
              </a:rPr>
              <a:t>02</a:t>
            </a:r>
          </a:p>
        </p:txBody>
      </p:sp>
      <p:sp>
        <p:nvSpPr>
          <p:cNvPr id="17" name="TextBox 16"/>
          <p:cNvSpPr txBox="1"/>
          <p:nvPr/>
        </p:nvSpPr>
        <p:spPr>
          <a:xfrm>
            <a:off x="8294751" y="3453384"/>
            <a:ext cx="3294043" cy="1271588"/>
          </a:xfrm>
          <a:prstGeom prst="rect">
            <a:avLst/>
          </a:prstGeom>
          <a:noFill/>
        </p:spPr>
        <p:txBody>
          <a:bodyPr wrap="square" anchor="ctr" lIns="0" tIns="0" rIns="0" bIns="0">
            <a:noAutofit/>
          </a:bodyPr>
          <a:lstStyle/>
          <a:p>
            <a:pPr algn="r">
              <a:lnSpc>
                <a:spcPts val="4838"/>
              </a:lnSpc>
              <a:spcBef>
                <a:spcPts val="0"/>
              </a:spcBef>
              <a:spcAft>
                <a:spcPts val="0"/>
              </a:spcAft>
            </a:pPr>
            <a:r>
              <a:rPr sz="4608" b="1" i="0" u="none" spc="-46">
                <a:solidFill>
                  <a:srgbClr val="1F1E1E"/>
                </a:solidFill>
                <a:latin typeface="Arial"/>
              </a:rPr>
              <a:t>Statement &amp; emphasis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817942"/>
            <a:ext cx="10889170" cy="285750"/>
          </a:xfrm>
          <a:prstGeom prst="rect">
            <a:avLst/>
          </a:prstGeom>
          <a:noFill/>
        </p:spPr>
        <p:txBody>
          <a:bodyPr wrap="none" anchor="ctr" lIns="0" tIns="0" rIns="0" bIns="0">
            <a:noAutofit/>
          </a:bodyPr>
          <a:lstStyle/>
          <a:p>
            <a:pPr algn="l">
              <a:lnSpc>
                <a:spcPts val="2016"/>
              </a:lnSpc>
              <a:spcBef>
                <a:spcPts val="0"/>
              </a:spcBef>
              <a:spcAft>
                <a:spcPts val="0"/>
              </a:spcAft>
            </a:pPr>
            <a:r>
              <a:rPr sz="2016" b="1" i="0" u="none" spc="242">
                <a:solidFill>
                  <a:srgbClr val="DA1B2E"/>
                </a:solidFill>
                <a:latin typeface="Arial"/>
              </a:rPr>
              <a:t>STATEMENT &amp; EMPHASIS</a:t>
            </a:r>
          </a:p>
        </p:txBody>
      </p:sp>
      <p:sp>
        <p:nvSpPr>
          <p:cNvPr id="3" name="TextBox 2"/>
          <p:cNvSpPr txBox="1"/>
          <p:nvPr/>
        </p:nvSpPr>
        <p:spPr>
          <a:xfrm>
            <a:off x="670465" y="2356961"/>
            <a:ext cx="11032887" cy="2434971"/>
          </a:xfrm>
          <a:prstGeom prst="rect">
            <a:avLst/>
          </a:prstGeom>
          <a:noFill/>
        </p:spPr>
        <p:txBody>
          <a:bodyPr wrap="square" anchor="ctr" lIns="0" tIns="0" rIns="0" bIns="0">
            <a:noAutofit/>
          </a:bodyPr>
          <a:lstStyle/>
          <a:p>
            <a:pPr algn="l">
              <a:lnSpc>
                <a:spcPts val="6250"/>
              </a:lnSpc>
              <a:spcBef>
                <a:spcPts val="0"/>
              </a:spcBef>
              <a:spcAft>
                <a:spcPts val="0"/>
              </a:spcAft>
            </a:pPr>
            <a:r>
              <a:rPr sz="5952" b="1" i="0" u="none" spc="-59">
                <a:solidFill>
                  <a:srgbClr val="1F1E1E"/>
                </a:solidFill>
                <a:latin typeface="Arial"/>
              </a:rPr>
              <a:t>A statement slide is one dominant claim, set large.</a:t>
            </a:r>
          </a:p>
        </p:txBody>
      </p:sp>
      <p:sp>
        <p:nvSpPr>
          <p:cNvPr id="4" name="TextBox 3"/>
          <p:cNvSpPr txBox="1"/>
          <p:nvPr/>
        </p:nvSpPr>
        <p:spPr>
          <a:xfrm>
            <a:off x="670465" y="4309777"/>
            <a:ext cx="11032887" cy="722376"/>
          </a:xfrm>
          <a:prstGeom prst="rect">
            <a:avLst/>
          </a:prstGeom>
          <a:noFill/>
        </p:spPr>
        <p:txBody>
          <a:bodyPr wrap="square" anchor="ctr" lIns="0" tIns="0" rIns="0" bIns="0">
            <a:noAutofit/>
          </a:bodyPr>
          <a:lstStyle/>
          <a:p>
            <a:pPr algn="l">
              <a:lnSpc>
                <a:spcPts val="2688"/>
              </a:lnSpc>
              <a:spcBef>
                <a:spcPts val="0"/>
              </a:spcBef>
              <a:spcAft>
                <a:spcPts val="0"/>
              </a:spcAft>
            </a:pPr>
            <a:r>
              <a:rPr sz="2688" b="0" i="0" u="none">
                <a:solidFill>
                  <a:srgbClr val="3B3535"/>
                </a:solidFill>
                <a:latin typeface="Arial"/>
              </a:rPr>
              <a:t>No bullets, no cards — just the single line you want the room to remember.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755047"/>
            <a:ext cx="10889170" cy="285750"/>
          </a:xfrm>
          <a:prstGeom prst="rect">
            <a:avLst/>
          </a:prstGeom>
          <a:noFill/>
        </p:spPr>
        <p:txBody>
          <a:bodyPr wrap="none" anchor="ctr" lIns="0" tIns="0" rIns="0" bIns="0">
            <a:noAutofit/>
          </a:bodyPr>
          <a:lstStyle/>
          <a:p>
            <a:pPr algn="l">
              <a:lnSpc>
                <a:spcPts val="2016"/>
              </a:lnSpc>
              <a:spcBef>
                <a:spcPts val="0"/>
              </a:spcBef>
              <a:spcAft>
                <a:spcPts val="0"/>
              </a:spcAft>
            </a:pPr>
            <a:r>
              <a:rPr sz="2016" b="1" i="0" u="none" spc="242">
                <a:solidFill>
                  <a:srgbClr val="DA1B2E"/>
                </a:solidFill>
                <a:latin typeface="Arial"/>
              </a:rPr>
              <a:t>STATEMENT &amp; EMPHASIS</a:t>
            </a:r>
          </a:p>
        </p:txBody>
      </p:sp>
      <p:sp>
        <p:nvSpPr>
          <p:cNvPr id="3" name="TextBox 2"/>
          <p:cNvSpPr txBox="1"/>
          <p:nvPr/>
        </p:nvSpPr>
        <p:spPr>
          <a:xfrm>
            <a:off x="670465" y="1294067"/>
            <a:ext cx="11032887" cy="4815459"/>
          </a:xfrm>
          <a:prstGeom prst="rect">
            <a:avLst/>
          </a:prstGeom>
          <a:noFill/>
        </p:spPr>
        <p:txBody>
          <a:bodyPr wrap="square" anchor="ctr" lIns="0" tIns="0" rIns="0" bIns="0">
            <a:noAutofit/>
          </a:bodyPr>
          <a:lstStyle/>
          <a:p>
            <a:pPr algn="l">
              <a:lnSpc>
                <a:spcPts val="6250"/>
              </a:lnSpc>
              <a:spcBef>
                <a:spcPts val="0"/>
              </a:spcBef>
              <a:spcAft>
                <a:spcPts val="0"/>
              </a:spcAft>
            </a:pPr>
            <a:r>
              <a:rPr sz="5952" b="1" i="0" u="none" spc="-59">
                <a:solidFill>
                  <a:srgbClr val="1F1E1E"/>
                </a:solidFill>
                <a:latin typeface="Arial"/>
              </a:rPr>
              <a:t>A statement title can run long, and it should still wrap gracefully across two or three lines while reading as one strong, uninterrupted assertion.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00598"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197608"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STATEMENT &amp; EMPHASIS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big-number: one hero metric</a:t>
            </a:r>
          </a:p>
        </p:txBody>
      </p:sp>
      <p:sp>
        <p:nvSpPr>
          <p:cNvPr id="5" name="TextBox 4"/>
          <p:cNvSpPr txBox="1"/>
          <p:nvPr/>
        </p:nvSpPr>
        <p:spPr>
          <a:xfrm>
            <a:off x="670465" y="1775555"/>
            <a:ext cx="10887075" cy="2028825"/>
          </a:xfrm>
          <a:prstGeom prst="rect">
            <a:avLst/>
          </a:prstGeom>
          <a:noFill/>
        </p:spPr>
        <p:txBody>
          <a:bodyPr wrap="none" anchor="ctr" lIns="0" tIns="0" rIns="0" bIns="0">
            <a:noAutofit/>
          </a:bodyPr>
          <a:lstStyle/>
          <a:p>
            <a:pPr algn="l">
              <a:lnSpc>
                <a:spcPts val="13872"/>
              </a:lnSpc>
              <a:spcBef>
                <a:spcPts val="0"/>
              </a:spcBef>
              <a:spcAft>
                <a:spcPts val="0"/>
              </a:spcAft>
            </a:pPr>
            <a:r>
              <a:rPr sz="16319" b="1" i="0" u="none" spc="-490">
                <a:solidFill>
                  <a:srgbClr val="DA1B2E"/>
                </a:solidFill>
                <a:latin typeface="Arial"/>
              </a:rPr>
              <a:t>1</a:t>
            </a:r>
          </a:p>
        </p:txBody>
      </p:sp>
      <p:sp>
        <p:nvSpPr>
          <p:cNvPr id="6" name="TextBox 5"/>
          <p:cNvSpPr txBox="1"/>
          <p:nvPr/>
        </p:nvSpPr>
        <p:spPr>
          <a:xfrm>
            <a:off x="670465" y="3703606"/>
            <a:ext cx="11030760" cy="1373124"/>
          </a:xfrm>
          <a:prstGeom prst="rect">
            <a:avLst/>
          </a:prstGeom>
          <a:noFill/>
        </p:spPr>
        <p:txBody>
          <a:bodyPr wrap="square" anchor="ctr" lIns="0" tIns="0" rIns="0" bIns="0">
            <a:noAutofit/>
          </a:bodyPr>
          <a:lstStyle/>
          <a:p>
            <a:pPr algn="l">
              <a:lnSpc>
                <a:spcPts val="3456"/>
              </a:lnSpc>
              <a:spcBef>
                <a:spcPts val="0"/>
              </a:spcBef>
              <a:spcAft>
                <a:spcPts val="0"/>
              </a:spcAft>
            </a:pPr>
            <a:r>
              <a:rPr sz="3456" b="1" i="0" u="none">
                <a:solidFill>
                  <a:srgbClr val="1F1E1E"/>
                </a:solidFill>
                <a:latin typeface="Arial"/>
              </a:rPr>
              <a:t>big-number is for a single hero figure — one number set very large, one caption, nothing competing with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328452"/>
            <a:ext cx="9804082" cy="285750"/>
          </a:xfrm>
          <a:prstGeom prst="rect">
            <a:avLst/>
          </a:prstGeom>
          <a:noFill/>
        </p:spPr>
        <p:txBody>
          <a:bodyPr wrap="none" anchor="ctr" lIns="0" tIns="0" rIns="0" bIns="0">
            <a:noAutofit/>
          </a:bodyPr>
          <a:lstStyle/>
          <a:p>
            <a:pPr algn="l">
              <a:lnSpc>
                <a:spcPts val="2016"/>
              </a:lnSpc>
              <a:spcBef>
                <a:spcPts val="0"/>
              </a:spcBef>
              <a:spcAft>
                <a:spcPts val="0"/>
              </a:spcAft>
            </a:pPr>
            <a:r>
              <a:rPr sz="2016" b="1" i="0" u="none" spc="242">
                <a:solidFill>
                  <a:srgbClr val="DA1B2E"/>
                </a:solidFill>
                <a:latin typeface="Arial"/>
              </a:rPr>
              <a:t>STATEMENT &amp; EMPHASIS</a:t>
            </a:r>
          </a:p>
        </p:txBody>
      </p:sp>
      <p:sp>
        <p:nvSpPr>
          <p:cNvPr id="3" name="TextBox 2"/>
          <p:cNvSpPr txBox="1"/>
          <p:nvPr/>
        </p:nvSpPr>
        <p:spPr>
          <a:xfrm>
            <a:off x="670465" y="1438846"/>
            <a:ext cx="9804082" cy="1638300"/>
          </a:xfrm>
          <a:prstGeom prst="rect">
            <a:avLst/>
          </a:prstGeom>
          <a:noFill/>
        </p:spPr>
        <p:txBody>
          <a:bodyPr wrap="none" anchor="ctr" lIns="0" tIns="0" rIns="0" bIns="0">
            <a:noAutofit/>
          </a:bodyPr>
          <a:lstStyle/>
          <a:p>
            <a:pPr algn="l">
              <a:lnSpc>
                <a:spcPts val="5760"/>
              </a:lnSpc>
              <a:spcBef>
                <a:spcPts val="0"/>
              </a:spcBef>
              <a:spcAft>
                <a:spcPts val="0"/>
              </a:spcAft>
            </a:pPr>
            <a:r>
              <a:rPr sz="11520" b="1" i="0" u="none">
                <a:solidFill>
                  <a:srgbClr val="DA1B2E"/>
                </a:solidFill>
                <a:latin typeface="Arial"/>
              </a:rPr>
              <a:t>“</a:t>
            </a:r>
          </a:p>
        </p:txBody>
      </p:sp>
      <p:sp>
        <p:nvSpPr>
          <p:cNvPr id="4" name="TextBox 3"/>
          <p:cNvSpPr txBox="1"/>
          <p:nvPr/>
        </p:nvSpPr>
        <p:spPr>
          <a:xfrm>
            <a:off x="670465" y="2749487"/>
            <a:ext cx="9931522" cy="2761202"/>
          </a:xfrm>
          <a:prstGeom prst="rect">
            <a:avLst/>
          </a:prstGeom>
          <a:noFill/>
        </p:spPr>
        <p:txBody>
          <a:bodyPr wrap="square" anchor="ctr" lIns="0" tIns="0" rIns="0" bIns="0">
            <a:noAutofit/>
          </a:bodyPr>
          <a:lstStyle/>
          <a:p>
            <a:pPr algn="l">
              <a:lnSpc>
                <a:spcPts val="5520"/>
              </a:lnSpc>
              <a:spcBef>
                <a:spcPts val="0"/>
              </a:spcBef>
              <a:spcAft>
                <a:spcPts val="0"/>
              </a:spcAft>
            </a:pPr>
            <a:r>
              <a:rPr sz="4800" b="1" i="0" u="none" spc="-48">
                <a:solidFill>
                  <a:srgbClr val="1F1E1E"/>
                </a:solidFill>
                <a:latin typeface="Arial"/>
              </a:rPr>
              <a:t>A quote slide is the whole slide — one voiced line, centered, with an attribution beneath.</a:t>
            </a:r>
          </a:p>
        </p:txBody>
      </p:sp>
      <p:sp>
        <p:nvSpPr>
          <p:cNvPr id="5" name="TextBox 4"/>
          <p:cNvSpPr txBox="1"/>
          <p:nvPr/>
        </p:nvSpPr>
        <p:spPr>
          <a:xfrm>
            <a:off x="670465" y="5189506"/>
            <a:ext cx="9804082" cy="333375"/>
          </a:xfrm>
          <a:prstGeom prst="rect">
            <a:avLst/>
          </a:prstGeom>
          <a:noFill/>
        </p:spPr>
        <p:txBody>
          <a:bodyPr wrap="none" anchor="ctr" lIns="0" tIns="0" rIns="0" bIns="0">
            <a:noAutofit/>
          </a:bodyPr>
          <a:lstStyle/>
          <a:p>
            <a:pPr algn="l">
              <a:lnSpc>
                <a:spcPts val="2304"/>
              </a:lnSpc>
              <a:spcBef>
                <a:spcPts val="0"/>
              </a:spcBef>
              <a:spcAft>
                <a:spcPts val="0"/>
              </a:spcAft>
            </a:pPr>
            <a:r>
              <a:rPr sz="2304" b="1" i="0" u="none">
                <a:solidFill>
                  <a:srgbClr val="3B3535"/>
                </a:solidFill>
                <a:latin typeface="Arial"/>
              </a:rPr>
              <a:t>— the Talksmith style guide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657540"/>
            <a:ext cx="9804082" cy="285750"/>
          </a:xfrm>
          <a:prstGeom prst="rect">
            <a:avLst/>
          </a:prstGeom>
          <a:noFill/>
        </p:spPr>
        <p:txBody>
          <a:bodyPr wrap="none" anchor="ctr" lIns="0" tIns="0" rIns="0" bIns="0">
            <a:noAutofit/>
          </a:bodyPr>
          <a:lstStyle/>
          <a:p>
            <a:pPr algn="l">
              <a:lnSpc>
                <a:spcPts val="2016"/>
              </a:lnSpc>
              <a:spcBef>
                <a:spcPts val="0"/>
              </a:spcBef>
              <a:spcAft>
                <a:spcPts val="0"/>
              </a:spcAft>
            </a:pPr>
            <a:r>
              <a:rPr sz="2016" b="1" i="0" u="none" spc="242">
                <a:solidFill>
                  <a:srgbClr val="DA1B2E"/>
                </a:solidFill>
                <a:latin typeface="Arial"/>
              </a:rPr>
              <a:t>STATEMENT &amp; EMPHASIS</a:t>
            </a:r>
          </a:p>
        </p:txBody>
      </p:sp>
      <p:sp>
        <p:nvSpPr>
          <p:cNvPr id="3" name="TextBox 2"/>
          <p:cNvSpPr txBox="1"/>
          <p:nvPr/>
        </p:nvSpPr>
        <p:spPr>
          <a:xfrm>
            <a:off x="670465" y="1767935"/>
            <a:ext cx="9804082" cy="1638300"/>
          </a:xfrm>
          <a:prstGeom prst="rect">
            <a:avLst/>
          </a:prstGeom>
          <a:noFill/>
        </p:spPr>
        <p:txBody>
          <a:bodyPr wrap="none" anchor="ctr" lIns="0" tIns="0" rIns="0" bIns="0">
            <a:noAutofit/>
          </a:bodyPr>
          <a:lstStyle/>
          <a:p>
            <a:pPr algn="l">
              <a:lnSpc>
                <a:spcPts val="5760"/>
              </a:lnSpc>
              <a:spcBef>
                <a:spcPts val="0"/>
              </a:spcBef>
              <a:spcAft>
                <a:spcPts val="0"/>
              </a:spcAft>
            </a:pPr>
            <a:r>
              <a:rPr sz="11520" b="1" i="0" u="none">
                <a:solidFill>
                  <a:srgbClr val="DA1B2E"/>
                </a:solidFill>
                <a:latin typeface="Arial"/>
              </a:rPr>
              <a:t>“</a:t>
            </a:r>
          </a:p>
        </p:txBody>
      </p:sp>
      <p:sp>
        <p:nvSpPr>
          <p:cNvPr id="4" name="TextBox 3"/>
          <p:cNvSpPr txBox="1"/>
          <p:nvPr/>
        </p:nvSpPr>
        <p:spPr>
          <a:xfrm>
            <a:off x="670465" y="3078480"/>
            <a:ext cx="9931522" cy="2102930"/>
          </a:xfrm>
          <a:prstGeom prst="rect">
            <a:avLst/>
          </a:prstGeom>
          <a:noFill/>
        </p:spPr>
        <p:txBody>
          <a:bodyPr wrap="square" anchor="ctr" lIns="0" tIns="0" rIns="0" bIns="0">
            <a:noAutofit/>
          </a:bodyPr>
          <a:lstStyle/>
          <a:p>
            <a:pPr algn="l">
              <a:lnSpc>
                <a:spcPts val="5520"/>
              </a:lnSpc>
              <a:spcBef>
                <a:spcPts val="0"/>
              </a:spcBef>
              <a:spcAft>
                <a:spcPts val="0"/>
              </a:spcAft>
            </a:pPr>
            <a:r>
              <a:rPr sz="4800" b="1" i="0" u="none" spc="-48">
                <a:solidFill>
                  <a:srgbClr val="1F1E1E"/>
                </a:solidFill>
                <a:latin typeface="Arial"/>
              </a:rPr>
              <a:t>No hubo hackers. No hubo malware. Alguien pegó código en un chatbot.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00598"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197608"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STATEMENT &amp; EMPHASIS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callout: an emphasized aside</a:t>
            </a:r>
          </a:p>
        </p:txBody>
      </p:sp>
      <p:sp>
        <p:nvSpPr>
          <p:cNvPr id="5" name="Rounded Rectangle 4"/>
          <p:cNvSpPr/>
          <p:nvPr/>
        </p:nvSpPr>
        <p:spPr>
          <a:xfrm>
            <a:off x="670465" y="1775555"/>
            <a:ext cx="10848975" cy="1868805"/>
          </a:xfrm>
          <a:prstGeom prst="roundRect">
            <a:avLst>
              <a:gd name="adj" fmla="val 13047"/>
            </a:avLst>
          </a:prstGeom>
          <a:solidFill>
            <a:srgbClr val="F7BBC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1011746" y="2068163"/>
            <a:ext cx="560832" cy="560832"/>
          </a:xfrm>
          <a:prstGeom prst="rect">
            <a:avLst/>
          </a:prstGeom>
        </p:spPr>
      </p:pic>
      <p:sp>
        <p:nvSpPr>
          <p:cNvPr id="7" name="TextBox 6"/>
          <p:cNvSpPr txBox="1"/>
          <p:nvPr/>
        </p:nvSpPr>
        <p:spPr>
          <a:xfrm>
            <a:off x="1816322" y="2096738"/>
            <a:ext cx="9521411" cy="1255014"/>
          </a:xfrm>
          <a:prstGeom prst="rect">
            <a:avLst/>
          </a:prstGeom>
          <a:noFill/>
        </p:spPr>
        <p:txBody>
          <a:bodyPr wrap="square" anchor="ctr" lIns="0" tIns="0" rIns="0" bIns="0">
            <a:noAutofit/>
          </a:bodyPr>
          <a:lstStyle/>
          <a:p>
            <a:pPr algn="l">
              <a:lnSpc>
                <a:spcPts val="3370"/>
              </a:lnSpc>
              <a:spcBef>
                <a:spcPts val="0"/>
              </a:spcBef>
              <a:spcAft>
                <a:spcPts val="0"/>
              </a:spcAft>
            </a:pPr>
            <a:r>
              <a:rPr sz="2496" b="1" i="0" u="none">
                <a:solidFill>
                  <a:srgbClr val="000000"/>
                </a:solidFill>
                <a:latin typeface="Arial"/>
              </a:rPr>
              <a:t>Think of it this way</a:t>
            </a:r>
            <a:r>
              <a:rPr sz="2496" b="0" i="0" u="none">
                <a:solidFill>
                  <a:srgbClr val="000000"/>
                </a:solidFill>
                <a:latin typeface="Arial"/>
              </a:rPr>
              <a:t> A callout is a single rounded panel for a tip, analogy, or warning — pink for a lateral note, blue for a declarative takeaway.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00598"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197608"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STATEMENT &amp; EMPHASIS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callout: the blue tone</a:t>
            </a:r>
          </a:p>
        </p:txBody>
      </p:sp>
      <p:sp>
        <p:nvSpPr>
          <p:cNvPr id="5" name="Rounded Rectangle 4"/>
          <p:cNvSpPr/>
          <p:nvPr/>
        </p:nvSpPr>
        <p:spPr>
          <a:xfrm>
            <a:off x="670465" y="1775555"/>
            <a:ext cx="10848975" cy="1868805"/>
          </a:xfrm>
          <a:prstGeom prst="roundRect">
            <a:avLst>
              <a:gd name="adj" fmla="val 13047"/>
            </a:avLst>
          </a:prstGeom>
          <a:solidFill>
            <a:srgbClr val="B8E6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1011746" y="2068163"/>
            <a:ext cx="560832" cy="560832"/>
          </a:xfrm>
          <a:prstGeom prst="rect">
            <a:avLst/>
          </a:prstGeom>
        </p:spPr>
      </p:pic>
      <p:sp>
        <p:nvSpPr>
          <p:cNvPr id="7" name="TextBox 6"/>
          <p:cNvSpPr txBox="1"/>
          <p:nvPr/>
        </p:nvSpPr>
        <p:spPr>
          <a:xfrm>
            <a:off x="1816322" y="2096738"/>
            <a:ext cx="9521411" cy="1255014"/>
          </a:xfrm>
          <a:prstGeom prst="rect">
            <a:avLst/>
          </a:prstGeom>
          <a:noFill/>
        </p:spPr>
        <p:txBody>
          <a:bodyPr wrap="square" anchor="ctr" lIns="0" tIns="0" rIns="0" bIns="0">
            <a:noAutofit/>
          </a:bodyPr>
          <a:lstStyle/>
          <a:p>
            <a:pPr algn="l">
              <a:lnSpc>
                <a:spcPts val="3370"/>
              </a:lnSpc>
              <a:spcBef>
                <a:spcPts val="0"/>
              </a:spcBef>
              <a:spcAft>
                <a:spcPts val="0"/>
              </a:spcAft>
            </a:pPr>
            <a:r>
              <a:rPr sz="2496" b="1" i="0" u="none">
                <a:solidFill>
                  <a:srgbClr val="1F1E1E"/>
                </a:solidFill>
                <a:latin typeface="Arial"/>
              </a:rPr>
              <a:t>The other tone</a:t>
            </a:r>
            <a:r>
              <a:rPr sz="2496" b="0" i="0" u="none">
                <a:solidFill>
                  <a:srgbClr val="1F1E1E"/>
                </a:solidFill>
                <a:latin typeface="Arial"/>
              </a:rPr>
              <a:t> Blue is the declarative takeaway — a conclusion the audience should carry out of the slide. Pink (previous slide) is the lateral note: an aside, analogy, or caution.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00598"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197608"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STATEMENT &amp; EMPHASIS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single-point: one lead plus one point</a:t>
            </a:r>
          </a:p>
        </p:txBody>
      </p:sp>
      <p:sp>
        <p:nvSpPr>
          <p:cNvPr id="5" name="Rounded Rectangle 4"/>
          <p:cNvSpPr/>
          <p:nvPr/>
        </p:nvSpPr>
        <p:spPr>
          <a:xfrm>
            <a:off x="670465" y="1775555"/>
            <a:ext cx="10848975" cy="1440942"/>
          </a:xfrm>
          <a:prstGeom prst="roundRect">
            <a:avLst>
              <a:gd name="adj" fmla="val 16922"/>
            </a:avLst>
          </a:prstGeom>
          <a:solidFill>
            <a:srgbClr val="F7BBC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1011746" y="2068163"/>
            <a:ext cx="560832" cy="560832"/>
          </a:xfrm>
          <a:prstGeom prst="rect">
            <a:avLst/>
          </a:prstGeom>
        </p:spPr>
      </p:pic>
      <p:sp>
        <p:nvSpPr>
          <p:cNvPr id="7" name="TextBox 6"/>
          <p:cNvSpPr txBox="1"/>
          <p:nvPr/>
        </p:nvSpPr>
        <p:spPr>
          <a:xfrm>
            <a:off x="1816322" y="2096738"/>
            <a:ext cx="9521411" cy="827151"/>
          </a:xfrm>
          <a:prstGeom prst="rect">
            <a:avLst/>
          </a:prstGeom>
          <a:noFill/>
        </p:spPr>
        <p:txBody>
          <a:bodyPr wrap="square" anchor="ctr" lIns="0" tIns="0" rIns="0" bIns="0">
            <a:noAutofit/>
          </a:bodyPr>
          <a:lstStyle/>
          <a:p>
            <a:pPr algn="l">
              <a:lnSpc>
                <a:spcPts val="3370"/>
              </a:lnSpc>
              <a:spcBef>
                <a:spcPts val="0"/>
              </a:spcBef>
              <a:spcAft>
                <a:spcPts val="0"/>
              </a:spcAft>
            </a:pPr>
            <a:r>
              <a:rPr sz="2496" b="1" i="0" u="none">
                <a:solidFill>
                  <a:srgbClr val="000000"/>
                </a:solidFill>
                <a:latin typeface="Arial"/>
              </a:rPr>
              <a:t>The rule</a:t>
            </a:r>
            <a:r>
              <a:rPr sz="2496" b="0" i="0" u="none">
                <a:solidFill>
                  <a:srgbClr val="000000"/>
                </a:solidFill>
                <a:latin typeface="Arial"/>
              </a:rPr>
              <a:t> When a slide is a claim plus exactly one supporting beat, give that beat a card — never a lone bullet floating under a title.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770317"/>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01</a:t>
            </a:r>
          </a:p>
        </p:txBody>
      </p:sp>
      <p:sp>
        <p:nvSpPr>
          <p:cNvPr id="3" name="TextBox 2"/>
          <p:cNvSpPr txBox="1"/>
          <p:nvPr/>
        </p:nvSpPr>
        <p:spPr>
          <a:xfrm>
            <a:off x="1328738" y="1675067"/>
            <a:ext cx="2910459"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Frames &amp; openers</a:t>
            </a:r>
          </a:p>
        </p:txBody>
      </p:sp>
      <p:sp>
        <p:nvSpPr>
          <p:cNvPr id="4" name="TextBox 3"/>
          <p:cNvSpPr txBox="1"/>
          <p:nvPr/>
        </p:nvSpPr>
        <p:spPr>
          <a:xfrm>
            <a:off x="670465" y="2292096"/>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02</a:t>
            </a:r>
          </a:p>
        </p:txBody>
      </p:sp>
      <p:sp>
        <p:nvSpPr>
          <p:cNvPr id="5" name="TextBox 4"/>
          <p:cNvSpPr txBox="1"/>
          <p:nvPr/>
        </p:nvSpPr>
        <p:spPr>
          <a:xfrm>
            <a:off x="1328738" y="2196846"/>
            <a:ext cx="3568922"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Statement &amp; emphasis</a:t>
            </a:r>
          </a:p>
        </p:txBody>
      </p:sp>
      <p:sp>
        <p:nvSpPr>
          <p:cNvPr id="6" name="TextBox 5"/>
          <p:cNvSpPr txBox="1"/>
          <p:nvPr/>
        </p:nvSpPr>
        <p:spPr>
          <a:xfrm>
            <a:off x="670465" y="2813876"/>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A1B2E"/>
                </a:solidFill>
                <a:latin typeface="Courier New"/>
              </a:rPr>
              <a:t>03</a:t>
            </a:r>
          </a:p>
        </p:txBody>
      </p:sp>
      <p:sp>
        <p:nvSpPr>
          <p:cNvPr id="7" name="TextBox 6"/>
          <p:cNvSpPr txBox="1"/>
          <p:nvPr/>
        </p:nvSpPr>
        <p:spPr>
          <a:xfrm>
            <a:off x="1328738" y="2718626"/>
            <a:ext cx="2233136"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Enumerations</a:t>
            </a:r>
          </a:p>
        </p:txBody>
      </p:sp>
      <p:sp>
        <p:nvSpPr>
          <p:cNvPr id="8" name="TextBox 7"/>
          <p:cNvSpPr txBox="1"/>
          <p:nvPr/>
        </p:nvSpPr>
        <p:spPr>
          <a:xfrm>
            <a:off x="670465" y="3335655"/>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04</a:t>
            </a:r>
          </a:p>
        </p:txBody>
      </p:sp>
      <p:sp>
        <p:nvSpPr>
          <p:cNvPr id="9" name="TextBox 8"/>
          <p:cNvSpPr txBox="1"/>
          <p:nvPr/>
        </p:nvSpPr>
        <p:spPr>
          <a:xfrm>
            <a:off x="1328738" y="3240405"/>
            <a:ext cx="3605212"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Ordered &amp; comparison</a:t>
            </a:r>
          </a:p>
        </p:txBody>
      </p:sp>
      <p:sp>
        <p:nvSpPr>
          <p:cNvPr id="10" name="TextBox 9"/>
          <p:cNvSpPr txBox="1"/>
          <p:nvPr/>
        </p:nvSpPr>
        <p:spPr>
          <a:xfrm>
            <a:off x="670465" y="3857434"/>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05</a:t>
            </a:r>
          </a:p>
        </p:txBody>
      </p:sp>
      <p:sp>
        <p:nvSpPr>
          <p:cNvPr id="11" name="TextBox 10"/>
          <p:cNvSpPr txBox="1"/>
          <p:nvPr/>
        </p:nvSpPr>
        <p:spPr>
          <a:xfrm>
            <a:off x="1328738" y="3762184"/>
            <a:ext cx="2099405"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Visual &amp; data</a:t>
            </a:r>
          </a:p>
        </p:txBody>
      </p:sp>
      <p:sp>
        <p:nvSpPr>
          <p:cNvPr id="12" name="TextBox 11"/>
          <p:cNvSpPr txBox="1"/>
          <p:nvPr/>
        </p:nvSpPr>
        <p:spPr>
          <a:xfrm>
            <a:off x="670465" y="4379309"/>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06</a:t>
            </a:r>
          </a:p>
        </p:txBody>
      </p:sp>
      <p:sp>
        <p:nvSpPr>
          <p:cNvPr id="13" name="TextBox 12"/>
          <p:cNvSpPr txBox="1"/>
          <p:nvPr/>
        </p:nvSpPr>
        <p:spPr>
          <a:xfrm>
            <a:off x="1328738" y="4284059"/>
            <a:ext cx="2653760"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Interactive (quiz)</a:t>
            </a:r>
          </a:p>
        </p:txBody>
      </p:sp>
      <p:sp>
        <p:nvSpPr>
          <p:cNvPr id="14" name="TextBox 13"/>
          <p:cNvSpPr txBox="1"/>
          <p:nvPr/>
        </p:nvSpPr>
        <p:spPr>
          <a:xfrm>
            <a:off x="670465" y="4901089"/>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07</a:t>
            </a:r>
          </a:p>
        </p:txBody>
      </p:sp>
      <p:sp>
        <p:nvSpPr>
          <p:cNvPr id="15" name="TextBox 14"/>
          <p:cNvSpPr txBox="1"/>
          <p:nvPr/>
        </p:nvSpPr>
        <p:spPr>
          <a:xfrm>
            <a:off x="1328738" y="4805839"/>
            <a:ext cx="1245108"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Closing</a:t>
            </a:r>
          </a:p>
        </p:txBody>
      </p:sp>
      <p:sp>
        <p:nvSpPr>
          <p:cNvPr id="16" name="TextBox 15"/>
          <p:cNvSpPr txBox="1"/>
          <p:nvPr/>
        </p:nvSpPr>
        <p:spPr>
          <a:xfrm>
            <a:off x="9965341" y="2263807"/>
            <a:ext cx="1594104" cy="1514475"/>
          </a:xfrm>
          <a:prstGeom prst="rect">
            <a:avLst/>
          </a:prstGeom>
          <a:noFill/>
        </p:spPr>
        <p:txBody>
          <a:bodyPr wrap="none" anchor="ctr" lIns="0" tIns="0" rIns="0" bIns="0">
            <a:noAutofit/>
          </a:bodyPr>
          <a:lstStyle/>
          <a:p>
            <a:pPr algn="r">
              <a:lnSpc>
                <a:spcPts val="8976"/>
              </a:lnSpc>
              <a:spcBef>
                <a:spcPts val="0"/>
              </a:spcBef>
              <a:spcAft>
                <a:spcPts val="0"/>
              </a:spcAft>
            </a:pPr>
            <a:r>
              <a:rPr sz="10560" b="1" i="0" u="none" spc="-212">
                <a:solidFill>
                  <a:srgbClr val="DA1B2E"/>
                </a:solidFill>
                <a:latin typeface="Courier New"/>
              </a:rPr>
              <a:t>03</a:t>
            </a:r>
          </a:p>
        </p:txBody>
      </p:sp>
      <p:sp>
        <p:nvSpPr>
          <p:cNvPr id="17" name="TextBox 16"/>
          <p:cNvSpPr txBox="1"/>
          <p:nvPr/>
        </p:nvSpPr>
        <p:spPr>
          <a:xfrm>
            <a:off x="7689342" y="3760565"/>
            <a:ext cx="3870103" cy="657225"/>
          </a:xfrm>
          <a:prstGeom prst="rect">
            <a:avLst/>
          </a:prstGeom>
          <a:noFill/>
        </p:spPr>
        <p:txBody>
          <a:bodyPr wrap="none" anchor="ctr" lIns="0" tIns="0" rIns="0" bIns="0">
            <a:noAutofit/>
          </a:bodyPr>
          <a:lstStyle/>
          <a:p>
            <a:pPr algn="r">
              <a:lnSpc>
                <a:spcPts val="4838"/>
              </a:lnSpc>
              <a:spcBef>
                <a:spcPts val="0"/>
              </a:spcBef>
              <a:spcAft>
                <a:spcPts val="0"/>
              </a:spcAft>
            </a:pPr>
            <a:r>
              <a:rPr sz="4608" b="1" i="0" u="none" spc="-46">
                <a:solidFill>
                  <a:srgbClr val="1F1E1E"/>
                </a:solidFill>
                <a:latin typeface="Arial"/>
              </a:rPr>
              <a:t>Enumerations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2 cards, explicit icons, reveal together</a:t>
            </a:r>
          </a:p>
        </p:txBody>
      </p:sp>
      <p:sp>
        <p:nvSpPr>
          <p:cNvPr id="5" name="Rounded Rectangle 4"/>
          <p:cNvSpPr/>
          <p:nvPr/>
        </p:nvSpPr>
        <p:spPr>
          <a:xfrm>
            <a:off x="670465" y="2328577"/>
            <a:ext cx="5290376" cy="2201608"/>
          </a:xfrm>
          <a:prstGeom prst="roundRect">
            <a:avLst>
              <a:gd name="adj" fmla="val 1107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63073" y="2669858"/>
            <a:ext cx="707041" cy="707041"/>
          </a:xfrm>
          <a:prstGeom prst="rect">
            <a:avLst/>
          </a:prstGeom>
        </p:spPr>
      </p:pic>
      <p:sp>
        <p:nvSpPr>
          <p:cNvPr id="7" name="TextBox 6"/>
          <p:cNvSpPr txBox="1"/>
          <p:nvPr/>
        </p:nvSpPr>
        <p:spPr>
          <a:xfrm>
            <a:off x="1877282" y="2660332"/>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Two is valid</a:t>
            </a:r>
          </a:p>
        </p:txBody>
      </p:sp>
      <p:sp>
        <p:nvSpPr>
          <p:cNvPr id="8" name="TextBox 7"/>
          <p:cNvSpPr txBox="1"/>
          <p:nvPr/>
        </p:nvSpPr>
        <p:spPr>
          <a:xfrm>
            <a:off x="1877282" y="3138678"/>
            <a:ext cx="3866864" cy="1050131"/>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A two-item labeled set is a real concept-breakdown, not something to drop to prose.</a:t>
            </a:r>
          </a:p>
        </p:txBody>
      </p:sp>
      <p:sp>
        <p:nvSpPr>
          <p:cNvPr id="9" name="Rounded Rectangle 8"/>
          <p:cNvSpPr/>
          <p:nvPr/>
        </p:nvSpPr>
        <p:spPr>
          <a:xfrm>
            <a:off x="6229064" y="2328577"/>
            <a:ext cx="5290376" cy="2201608"/>
          </a:xfrm>
          <a:prstGeom prst="roundRect">
            <a:avLst>
              <a:gd name="adj" fmla="val 1107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6521672" y="2669858"/>
            <a:ext cx="707041" cy="707041"/>
          </a:xfrm>
          <a:prstGeom prst="rect">
            <a:avLst/>
          </a:prstGeom>
        </p:spPr>
      </p:pic>
      <p:sp>
        <p:nvSpPr>
          <p:cNvPr id="11" name="TextBox 10"/>
          <p:cNvSpPr txBox="1"/>
          <p:nvPr/>
        </p:nvSpPr>
        <p:spPr>
          <a:xfrm>
            <a:off x="7435882" y="2660332"/>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Iconed</a:t>
            </a:r>
          </a:p>
        </p:txBody>
      </p:sp>
      <p:sp>
        <p:nvSpPr>
          <p:cNvPr id="12" name="TextBox 11"/>
          <p:cNvSpPr txBox="1"/>
          <p:nvPr/>
        </p:nvSpPr>
        <p:spPr>
          <a:xfrm>
            <a:off x="7435882" y="3138678"/>
            <a:ext cx="3866864" cy="1050131"/>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Each card still gets its own distinct, content-matched icon beside the label.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3 cards (2 + 1 across the width)</a:t>
            </a:r>
          </a:p>
        </p:txBody>
      </p:sp>
      <p:sp>
        <p:nvSpPr>
          <p:cNvPr id="5" name="Rounded Rectangle 4"/>
          <p:cNvSpPr/>
          <p:nvPr/>
        </p:nvSpPr>
        <p:spPr>
          <a:xfrm>
            <a:off x="670465" y="2328577"/>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63073" y="2669858"/>
            <a:ext cx="707041" cy="707041"/>
          </a:xfrm>
          <a:prstGeom prst="rect">
            <a:avLst/>
          </a:prstGeom>
        </p:spPr>
      </p:pic>
      <p:sp>
        <p:nvSpPr>
          <p:cNvPr id="7" name="TextBox 6"/>
          <p:cNvSpPr txBox="1"/>
          <p:nvPr/>
        </p:nvSpPr>
        <p:spPr>
          <a:xfrm>
            <a:off x="1877282" y="2660332"/>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Unordered</a:t>
            </a:r>
          </a:p>
        </p:txBody>
      </p:sp>
      <p:sp>
        <p:nvSpPr>
          <p:cNvPr id="8" name="TextBox 7"/>
          <p:cNvSpPr txBox="1"/>
          <p:nvPr/>
        </p:nvSpPr>
        <p:spPr>
          <a:xfrm>
            <a:off x="1877282" y="3138678"/>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cards have no sequence; order carries no meaning here.</a:t>
            </a:r>
          </a:p>
        </p:txBody>
      </p:sp>
      <p:sp>
        <p:nvSpPr>
          <p:cNvPr id="9" name="Rounded Rectangle 8"/>
          <p:cNvSpPr/>
          <p:nvPr/>
        </p:nvSpPr>
        <p:spPr>
          <a:xfrm>
            <a:off x="6229064" y="2328577"/>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6521672" y="2669858"/>
            <a:ext cx="707041" cy="707041"/>
          </a:xfrm>
          <a:prstGeom prst="rect">
            <a:avLst/>
          </a:prstGeom>
        </p:spPr>
      </p:pic>
      <p:sp>
        <p:nvSpPr>
          <p:cNvPr id="11" name="TextBox 10"/>
          <p:cNvSpPr txBox="1"/>
          <p:nvPr/>
        </p:nvSpPr>
        <p:spPr>
          <a:xfrm>
            <a:off x="7435882" y="2660332"/>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Short bodies</a:t>
            </a:r>
          </a:p>
        </p:txBody>
      </p:sp>
      <p:sp>
        <p:nvSpPr>
          <p:cNvPr id="12" name="TextBox 11"/>
          <p:cNvSpPr txBox="1"/>
          <p:nvPr/>
        </p:nvSpPr>
        <p:spPr>
          <a:xfrm>
            <a:off x="7435882" y="3138678"/>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Keep each body to a line or two so the grid stays even.</a:t>
            </a:r>
          </a:p>
        </p:txBody>
      </p:sp>
      <p:sp>
        <p:nvSpPr>
          <p:cNvPr id="13" name="Rounded Rectangle 12"/>
          <p:cNvSpPr/>
          <p:nvPr/>
        </p:nvSpPr>
        <p:spPr>
          <a:xfrm>
            <a:off x="670465" y="4441888"/>
            <a:ext cx="10848975" cy="1488758"/>
          </a:xfrm>
          <a:prstGeom prst="roundRect">
            <a:avLst>
              <a:gd name="adj" fmla="val 1637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4"/>
          <a:stretch>
            <a:fillRect/>
          </a:stretch>
        </p:blipFill>
        <p:spPr>
          <a:xfrm>
            <a:off x="963073" y="4783169"/>
            <a:ext cx="707041" cy="707041"/>
          </a:xfrm>
          <a:prstGeom prst="rect">
            <a:avLst/>
          </a:prstGeom>
        </p:spPr>
      </p:pic>
      <p:sp>
        <p:nvSpPr>
          <p:cNvPr id="15" name="TextBox 14"/>
          <p:cNvSpPr txBox="1"/>
          <p:nvPr/>
        </p:nvSpPr>
        <p:spPr>
          <a:xfrm>
            <a:off x="1877282" y="4773644"/>
            <a:ext cx="93876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No source image</a:t>
            </a:r>
          </a:p>
        </p:txBody>
      </p:sp>
      <p:sp>
        <p:nvSpPr>
          <p:cNvPr id="16" name="TextBox 15"/>
          <p:cNvSpPr txBox="1"/>
          <p:nvPr/>
        </p:nvSpPr>
        <p:spPr>
          <a:xfrm>
            <a:off x="1877282" y="5251990"/>
            <a:ext cx="9387650" cy="304800"/>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Any picture would route the slide to figures instead.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4 cards (2×2), longer bodies edge case</a:t>
            </a:r>
          </a:p>
        </p:txBody>
      </p:sp>
      <p:sp>
        <p:nvSpPr>
          <p:cNvPr id="5" name="Rounded Rectangle 4"/>
          <p:cNvSpPr/>
          <p:nvPr/>
        </p:nvSpPr>
        <p:spPr>
          <a:xfrm>
            <a:off x="670465" y="2328577"/>
            <a:ext cx="5311140" cy="1855280"/>
          </a:xfrm>
          <a:prstGeom prst="roundRect">
            <a:avLst>
              <a:gd name="adj" fmla="val 1314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17067" y="2616137"/>
            <a:ext cx="595884" cy="595884"/>
          </a:xfrm>
          <a:prstGeom prst="rect">
            <a:avLst/>
          </a:prstGeom>
        </p:spPr>
      </p:pic>
      <p:sp>
        <p:nvSpPr>
          <p:cNvPr id="7" name="TextBox 6"/>
          <p:cNvSpPr txBox="1"/>
          <p:nvPr/>
        </p:nvSpPr>
        <p:spPr>
          <a:xfrm>
            <a:off x="1687449" y="2608136"/>
            <a:ext cx="4085654"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Capacity</a:t>
            </a:r>
          </a:p>
        </p:txBody>
      </p:sp>
      <p:sp>
        <p:nvSpPr>
          <p:cNvPr id="8" name="TextBox 7"/>
          <p:cNvSpPr txBox="1"/>
          <p:nvPr/>
        </p:nvSpPr>
        <p:spPr>
          <a:xfrm>
            <a:off x="1687449" y="3011234"/>
            <a:ext cx="4127317"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Two through six cards fit; beyond six, split across two slides so nothing has to shrink.</a:t>
            </a:r>
          </a:p>
        </p:txBody>
      </p:sp>
      <p:sp>
        <p:nvSpPr>
          <p:cNvPr id="9" name="Rounded Rectangle 8"/>
          <p:cNvSpPr/>
          <p:nvPr/>
        </p:nvSpPr>
        <p:spPr>
          <a:xfrm>
            <a:off x="6207633" y="2328577"/>
            <a:ext cx="5311330" cy="1855280"/>
          </a:xfrm>
          <a:prstGeom prst="roundRect">
            <a:avLst>
              <a:gd name="adj" fmla="val 1314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6454235" y="2616137"/>
            <a:ext cx="595884" cy="595884"/>
          </a:xfrm>
          <a:prstGeom prst="rect">
            <a:avLst/>
          </a:prstGeom>
        </p:spPr>
      </p:pic>
      <p:sp>
        <p:nvSpPr>
          <p:cNvPr id="11" name="TextBox 10"/>
          <p:cNvSpPr txBox="1"/>
          <p:nvPr/>
        </p:nvSpPr>
        <p:spPr>
          <a:xfrm>
            <a:off x="7224617" y="2608136"/>
            <a:ext cx="4085844"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Wrapping</a:t>
            </a:r>
          </a:p>
        </p:txBody>
      </p:sp>
      <p:sp>
        <p:nvSpPr>
          <p:cNvPr id="12" name="TextBox 11"/>
          <p:cNvSpPr txBox="1"/>
          <p:nvPr/>
        </p:nvSpPr>
        <p:spPr>
          <a:xfrm>
            <a:off x="7224617" y="3011234"/>
            <a:ext cx="4127510"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Longer bodies wrap inside their card, and all four cards hold the same height as a 2×2 grid.</a:t>
            </a:r>
          </a:p>
        </p:txBody>
      </p:sp>
      <p:sp>
        <p:nvSpPr>
          <p:cNvPr id="13" name="Rounded Rectangle 12"/>
          <p:cNvSpPr/>
          <p:nvPr/>
        </p:nvSpPr>
        <p:spPr>
          <a:xfrm>
            <a:off x="670465" y="4409884"/>
            <a:ext cx="5311140" cy="1838516"/>
          </a:xfrm>
          <a:prstGeom prst="roundRect">
            <a:avLst>
              <a:gd name="adj" fmla="val 1326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4"/>
          <a:stretch>
            <a:fillRect/>
          </a:stretch>
        </p:blipFill>
        <p:spPr>
          <a:xfrm>
            <a:off x="917067" y="4697444"/>
            <a:ext cx="595884" cy="595884"/>
          </a:xfrm>
          <a:prstGeom prst="rect">
            <a:avLst/>
          </a:prstGeom>
        </p:spPr>
      </p:pic>
      <p:sp>
        <p:nvSpPr>
          <p:cNvPr id="15" name="TextBox 14"/>
          <p:cNvSpPr txBox="1"/>
          <p:nvPr/>
        </p:nvSpPr>
        <p:spPr>
          <a:xfrm>
            <a:off x="1687449" y="4689443"/>
            <a:ext cx="4085654"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Distinct icons</a:t>
            </a:r>
          </a:p>
        </p:txBody>
      </p:sp>
      <p:sp>
        <p:nvSpPr>
          <p:cNvPr id="16" name="TextBox 15"/>
          <p:cNvSpPr txBox="1"/>
          <p:nvPr/>
        </p:nvSpPr>
        <p:spPr>
          <a:xfrm>
            <a:off x="1687449" y="5092541"/>
            <a:ext cx="4127317"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The renderer never repeats an icon within a slide, so four cards means four different glyphs.</a:t>
            </a:r>
          </a:p>
        </p:txBody>
      </p:sp>
      <p:sp>
        <p:nvSpPr>
          <p:cNvPr id="17" name="Rounded Rectangle 16"/>
          <p:cNvSpPr/>
          <p:nvPr/>
        </p:nvSpPr>
        <p:spPr>
          <a:xfrm>
            <a:off x="6207633" y="4409884"/>
            <a:ext cx="5311330" cy="1838516"/>
          </a:xfrm>
          <a:prstGeom prst="roundRect">
            <a:avLst>
              <a:gd name="adj" fmla="val 1326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5"/>
          <a:stretch>
            <a:fillRect/>
          </a:stretch>
        </p:blipFill>
        <p:spPr>
          <a:xfrm>
            <a:off x="6454235" y="4697444"/>
            <a:ext cx="595884" cy="595884"/>
          </a:xfrm>
          <a:prstGeom prst="rect">
            <a:avLst/>
          </a:prstGeom>
        </p:spPr>
      </p:pic>
      <p:sp>
        <p:nvSpPr>
          <p:cNvPr id="19" name="TextBox 18"/>
          <p:cNvSpPr txBox="1"/>
          <p:nvPr/>
        </p:nvSpPr>
        <p:spPr>
          <a:xfrm>
            <a:off x="7224617" y="4689443"/>
            <a:ext cx="4085844"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When to switch</a:t>
            </a:r>
          </a:p>
        </p:txBody>
      </p:sp>
      <p:sp>
        <p:nvSpPr>
          <p:cNvPr id="20" name="TextBox 19"/>
          <p:cNvSpPr txBox="1"/>
          <p:nvPr/>
        </p:nvSpPr>
        <p:spPr>
          <a:xfrm>
            <a:off x="7224617" y="5092541"/>
            <a:ext cx="4127510"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If a body is too long to read comfortably here, move it to content-text, which gives each item prose room.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6 cards (3×2), the dense edge</a:t>
            </a:r>
          </a:p>
        </p:txBody>
      </p:sp>
      <p:sp>
        <p:nvSpPr>
          <p:cNvPr id="5" name="Rounded Rectangle 4"/>
          <p:cNvSpPr/>
          <p:nvPr/>
        </p:nvSpPr>
        <p:spPr>
          <a:xfrm>
            <a:off x="670465" y="2328577"/>
            <a:ext cx="3465386" cy="1855280"/>
          </a:xfrm>
          <a:prstGeom prst="roundRect">
            <a:avLst>
              <a:gd name="adj" fmla="val 1314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17067" y="2616137"/>
            <a:ext cx="595884" cy="595884"/>
          </a:xfrm>
          <a:prstGeom prst="rect">
            <a:avLst/>
          </a:prstGeom>
        </p:spPr>
      </p:pic>
      <p:sp>
        <p:nvSpPr>
          <p:cNvPr id="7" name="TextBox 6"/>
          <p:cNvSpPr txBox="1"/>
          <p:nvPr/>
        </p:nvSpPr>
        <p:spPr>
          <a:xfrm>
            <a:off x="1687449" y="2608136"/>
            <a:ext cx="2239899"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Default home</a:t>
            </a:r>
          </a:p>
        </p:txBody>
      </p:sp>
      <p:sp>
        <p:nvSpPr>
          <p:cNvPr id="8" name="TextBox 7"/>
          <p:cNvSpPr txBox="1"/>
          <p:nvPr/>
        </p:nvSpPr>
        <p:spPr>
          <a:xfrm>
            <a:off x="1687449" y="3011234"/>
            <a:ext cx="2253876"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The general case for any labeled set of two or more.</a:t>
            </a:r>
          </a:p>
        </p:txBody>
      </p:sp>
      <p:sp>
        <p:nvSpPr>
          <p:cNvPr id="9" name="Rounded Rectangle 8"/>
          <p:cNvSpPr/>
          <p:nvPr/>
        </p:nvSpPr>
        <p:spPr>
          <a:xfrm>
            <a:off x="4361878" y="2328577"/>
            <a:ext cx="3465576" cy="1855280"/>
          </a:xfrm>
          <a:prstGeom prst="roundRect">
            <a:avLst>
              <a:gd name="adj" fmla="val 1314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4608481" y="2616137"/>
            <a:ext cx="595884" cy="595884"/>
          </a:xfrm>
          <a:prstGeom prst="rect">
            <a:avLst/>
          </a:prstGeom>
        </p:spPr>
      </p:pic>
      <p:sp>
        <p:nvSpPr>
          <p:cNvPr id="11" name="TextBox 10"/>
          <p:cNvSpPr txBox="1"/>
          <p:nvPr/>
        </p:nvSpPr>
        <p:spPr>
          <a:xfrm>
            <a:off x="5378863" y="2608136"/>
            <a:ext cx="2240090"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Grid</a:t>
            </a:r>
          </a:p>
        </p:txBody>
      </p:sp>
      <p:sp>
        <p:nvSpPr>
          <p:cNvPr id="12" name="TextBox 11"/>
          <p:cNvSpPr txBox="1"/>
          <p:nvPr/>
        </p:nvSpPr>
        <p:spPr>
          <a:xfrm>
            <a:off x="5378863" y="3011234"/>
            <a:ext cx="2254069"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Six cards lay out as a 3×2 grid with uniform gutters.</a:t>
            </a:r>
          </a:p>
        </p:txBody>
      </p:sp>
      <p:sp>
        <p:nvSpPr>
          <p:cNvPr id="13" name="Rounded Rectangle 12"/>
          <p:cNvSpPr/>
          <p:nvPr/>
        </p:nvSpPr>
        <p:spPr>
          <a:xfrm>
            <a:off x="8053388" y="2328577"/>
            <a:ext cx="3465386" cy="1855280"/>
          </a:xfrm>
          <a:prstGeom prst="roundRect">
            <a:avLst>
              <a:gd name="adj" fmla="val 1314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4"/>
          <a:stretch>
            <a:fillRect/>
          </a:stretch>
        </p:blipFill>
        <p:spPr>
          <a:xfrm>
            <a:off x="8299990" y="2616137"/>
            <a:ext cx="595884" cy="595884"/>
          </a:xfrm>
          <a:prstGeom prst="rect">
            <a:avLst/>
          </a:prstGeom>
        </p:spPr>
      </p:pic>
      <p:sp>
        <p:nvSpPr>
          <p:cNvPr id="15" name="TextBox 14"/>
          <p:cNvSpPr txBox="1"/>
          <p:nvPr/>
        </p:nvSpPr>
        <p:spPr>
          <a:xfrm>
            <a:off x="9070467" y="2608136"/>
            <a:ext cx="2239899"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Icon each</a:t>
            </a:r>
          </a:p>
        </p:txBody>
      </p:sp>
      <p:sp>
        <p:nvSpPr>
          <p:cNvPr id="16" name="TextBox 15"/>
          <p:cNvSpPr txBox="1"/>
          <p:nvPr/>
        </p:nvSpPr>
        <p:spPr>
          <a:xfrm>
            <a:off x="9070467" y="3011234"/>
            <a:ext cx="2253876"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Six distinct icons, one anchoring every concept.</a:t>
            </a:r>
          </a:p>
        </p:txBody>
      </p:sp>
      <p:sp>
        <p:nvSpPr>
          <p:cNvPr id="17" name="Rounded Rectangle 16"/>
          <p:cNvSpPr/>
          <p:nvPr/>
        </p:nvSpPr>
        <p:spPr>
          <a:xfrm>
            <a:off x="670465" y="4409884"/>
            <a:ext cx="3465386" cy="1838516"/>
          </a:xfrm>
          <a:prstGeom prst="roundRect">
            <a:avLst>
              <a:gd name="adj" fmla="val 1326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5"/>
          <a:stretch>
            <a:fillRect/>
          </a:stretch>
        </p:blipFill>
        <p:spPr>
          <a:xfrm>
            <a:off x="917067" y="4697444"/>
            <a:ext cx="595884" cy="595884"/>
          </a:xfrm>
          <a:prstGeom prst="rect">
            <a:avLst/>
          </a:prstGeom>
        </p:spPr>
      </p:pic>
      <p:sp>
        <p:nvSpPr>
          <p:cNvPr id="19" name="TextBox 18"/>
          <p:cNvSpPr txBox="1"/>
          <p:nvPr/>
        </p:nvSpPr>
        <p:spPr>
          <a:xfrm>
            <a:off x="1687449" y="4689443"/>
            <a:ext cx="2239899"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Terse</a:t>
            </a:r>
          </a:p>
        </p:txBody>
      </p:sp>
      <p:sp>
        <p:nvSpPr>
          <p:cNvPr id="20" name="TextBox 19"/>
          <p:cNvSpPr txBox="1"/>
          <p:nvPr/>
        </p:nvSpPr>
        <p:spPr>
          <a:xfrm>
            <a:off x="1687449" y="5092541"/>
            <a:ext cx="2253876"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At six cards, keep every body to a single short line.</a:t>
            </a:r>
          </a:p>
        </p:txBody>
      </p:sp>
      <p:sp>
        <p:nvSpPr>
          <p:cNvPr id="21" name="Rounded Rectangle 20"/>
          <p:cNvSpPr/>
          <p:nvPr/>
        </p:nvSpPr>
        <p:spPr>
          <a:xfrm>
            <a:off x="4361878" y="4409884"/>
            <a:ext cx="3465576" cy="1838516"/>
          </a:xfrm>
          <a:prstGeom prst="roundRect">
            <a:avLst>
              <a:gd name="adj" fmla="val 1326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2" name="Picture 21" descr="image.png"/>
          <p:cNvPicPr>
            <a:picLocks noChangeAspect="1"/>
          </p:cNvPicPr>
          <p:nvPr/>
        </p:nvPicPr>
        <p:blipFill>
          <a:blip r:embed="rId6"/>
          <a:stretch>
            <a:fillRect/>
          </a:stretch>
        </p:blipFill>
        <p:spPr>
          <a:xfrm>
            <a:off x="4608481" y="4697444"/>
            <a:ext cx="595884" cy="595884"/>
          </a:xfrm>
          <a:prstGeom prst="rect">
            <a:avLst/>
          </a:prstGeom>
        </p:spPr>
      </p:pic>
      <p:sp>
        <p:nvSpPr>
          <p:cNvPr id="23" name="TextBox 22"/>
          <p:cNvSpPr txBox="1"/>
          <p:nvPr/>
        </p:nvSpPr>
        <p:spPr>
          <a:xfrm>
            <a:off x="5378863" y="4689443"/>
            <a:ext cx="2240090"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Split point</a:t>
            </a:r>
          </a:p>
        </p:txBody>
      </p:sp>
      <p:sp>
        <p:nvSpPr>
          <p:cNvPr id="24" name="TextBox 23"/>
          <p:cNvSpPr txBox="1"/>
          <p:nvPr/>
        </p:nvSpPr>
        <p:spPr>
          <a:xfrm>
            <a:off x="5378863" y="5092541"/>
            <a:ext cx="2254069"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Need more than six? Split the set across two slides.</a:t>
            </a:r>
          </a:p>
        </p:txBody>
      </p:sp>
      <p:sp>
        <p:nvSpPr>
          <p:cNvPr id="25" name="Rounded Rectangle 24"/>
          <p:cNvSpPr/>
          <p:nvPr/>
        </p:nvSpPr>
        <p:spPr>
          <a:xfrm>
            <a:off x="8053388" y="4409884"/>
            <a:ext cx="3465386" cy="1838516"/>
          </a:xfrm>
          <a:prstGeom prst="roundRect">
            <a:avLst>
              <a:gd name="adj" fmla="val 1326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6" name="Picture 25" descr="image.png"/>
          <p:cNvPicPr>
            <a:picLocks noChangeAspect="1"/>
          </p:cNvPicPr>
          <p:nvPr/>
        </p:nvPicPr>
        <p:blipFill>
          <a:blip r:embed="rId7"/>
          <a:stretch>
            <a:fillRect/>
          </a:stretch>
        </p:blipFill>
        <p:spPr>
          <a:xfrm>
            <a:off x="8299990" y="4697444"/>
            <a:ext cx="595884" cy="595884"/>
          </a:xfrm>
          <a:prstGeom prst="rect">
            <a:avLst/>
          </a:prstGeom>
        </p:spPr>
      </p:pic>
      <p:sp>
        <p:nvSpPr>
          <p:cNvPr id="27" name="TextBox 26"/>
          <p:cNvSpPr txBox="1"/>
          <p:nvPr/>
        </p:nvSpPr>
        <p:spPr>
          <a:xfrm>
            <a:off x="9070467" y="4689443"/>
            <a:ext cx="2239899" cy="337090"/>
          </a:xfrm>
          <a:prstGeom prst="rect">
            <a:avLst/>
          </a:prstGeom>
          <a:noFill/>
        </p:spPr>
        <p:txBody>
          <a:bodyPr wrap="none" anchor="ctr" lIns="0" tIns="0" rIns="0" bIns="0">
            <a:noAutofit/>
          </a:bodyPr>
          <a:lstStyle/>
          <a:p>
            <a:pPr algn="l">
              <a:lnSpc>
                <a:spcPts val="2572"/>
              </a:lnSpc>
              <a:spcBef>
                <a:spcPts val="0"/>
              </a:spcBef>
              <a:spcAft>
                <a:spcPts val="0"/>
              </a:spcAft>
            </a:pPr>
            <a:r>
              <a:rPr sz="2339" b="1" i="0" u="none">
                <a:solidFill>
                  <a:srgbClr val="1F1E1E"/>
                </a:solidFill>
                <a:latin typeface="Arial"/>
              </a:rPr>
              <a:t>Still cards</a:t>
            </a:r>
          </a:p>
        </p:txBody>
      </p:sp>
      <p:sp>
        <p:nvSpPr>
          <p:cNvPr id="28" name="TextBox 27"/>
          <p:cNvSpPr txBox="1"/>
          <p:nvPr/>
        </p:nvSpPr>
        <p:spPr>
          <a:xfrm>
            <a:off x="9070467" y="5092541"/>
            <a:ext cx="2253876" cy="857631"/>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Even this dense, it is cards — never a bullet list.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editorial: 3 concepts, one row of three</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The editorial format keeps the icon, the label and the body, and drops the panel around them:</a:t>
            </a:r>
          </a:p>
        </p:txBody>
      </p:sp>
      <p:sp>
        <p:nvSpPr>
          <p:cNvPr id="6" name="Rectangle 5"/>
          <p:cNvSpPr/>
          <p:nvPr/>
        </p:nvSpPr>
        <p:spPr>
          <a:xfrm>
            <a:off x="670465" y="2745391"/>
            <a:ext cx="3372422" cy="161820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2745391"/>
            <a:ext cx="3372422"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670465" y="2937700"/>
            <a:ext cx="377857" cy="377857"/>
          </a:xfrm>
          <a:prstGeom prst="rect">
            <a:avLst/>
          </a:prstGeom>
        </p:spPr>
      </p:pic>
      <p:sp>
        <p:nvSpPr>
          <p:cNvPr id="9" name="TextBox 8"/>
          <p:cNvSpPr txBox="1"/>
          <p:nvPr/>
        </p:nvSpPr>
        <p:spPr>
          <a:xfrm>
            <a:off x="1218914" y="2937700"/>
            <a:ext cx="2862072"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No card</a:t>
            </a:r>
          </a:p>
        </p:txBody>
      </p:sp>
      <p:sp>
        <p:nvSpPr>
          <p:cNvPr id="10" name="TextBox 9"/>
          <p:cNvSpPr txBox="1"/>
          <p:nvPr/>
        </p:nvSpPr>
        <p:spPr>
          <a:xfrm>
            <a:off x="1218914" y="3404997"/>
            <a:ext cx="2885382" cy="958596"/>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No fill, no radius, no wide padding — the concept sits on the canvas.</a:t>
            </a:r>
          </a:p>
        </p:txBody>
      </p:sp>
      <p:sp>
        <p:nvSpPr>
          <p:cNvPr id="11" name="Rectangle 10"/>
          <p:cNvSpPr/>
          <p:nvPr/>
        </p:nvSpPr>
        <p:spPr>
          <a:xfrm>
            <a:off x="4408551" y="2745391"/>
            <a:ext cx="3372612" cy="161820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4408551" y="2745391"/>
            <a:ext cx="3372612"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4408551" y="2937700"/>
            <a:ext cx="377857" cy="377857"/>
          </a:xfrm>
          <a:prstGeom prst="rect">
            <a:avLst/>
          </a:prstGeom>
        </p:spPr>
      </p:pic>
      <p:sp>
        <p:nvSpPr>
          <p:cNvPr id="14" name="TextBox 13"/>
          <p:cNvSpPr txBox="1"/>
          <p:nvPr/>
        </p:nvSpPr>
        <p:spPr>
          <a:xfrm>
            <a:off x="4957000" y="2937700"/>
            <a:ext cx="2862262"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Small icon</a:t>
            </a:r>
          </a:p>
        </p:txBody>
      </p:sp>
      <p:sp>
        <p:nvSpPr>
          <p:cNvPr id="15" name="TextBox 14"/>
          <p:cNvSpPr txBox="1"/>
          <p:nvPr/>
        </p:nvSpPr>
        <p:spPr>
          <a:xfrm>
            <a:off x="4957000" y="3404997"/>
            <a:ext cx="2885575" cy="958596"/>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The glyph is a reference mark beside the label, not the anchor.</a:t>
            </a:r>
          </a:p>
        </p:txBody>
      </p:sp>
      <p:sp>
        <p:nvSpPr>
          <p:cNvPr id="16" name="Rectangle 15"/>
          <p:cNvSpPr/>
          <p:nvPr/>
        </p:nvSpPr>
        <p:spPr>
          <a:xfrm>
            <a:off x="8146828" y="2745391"/>
            <a:ext cx="3372422" cy="161820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8146828" y="2745391"/>
            <a:ext cx="3372422"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4"/>
          <a:stretch>
            <a:fillRect/>
          </a:stretch>
        </p:blipFill>
        <p:spPr>
          <a:xfrm>
            <a:off x="8146828" y="2937700"/>
            <a:ext cx="377857" cy="377857"/>
          </a:xfrm>
          <a:prstGeom prst="rect">
            <a:avLst/>
          </a:prstGeom>
        </p:spPr>
      </p:pic>
      <p:sp>
        <p:nvSpPr>
          <p:cNvPr id="19" name="TextBox 18"/>
          <p:cNvSpPr txBox="1"/>
          <p:nvPr/>
        </p:nvSpPr>
        <p:spPr>
          <a:xfrm>
            <a:off x="8695277" y="2937700"/>
            <a:ext cx="2862072"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One row</a:t>
            </a:r>
          </a:p>
        </p:txBody>
      </p:sp>
      <p:sp>
        <p:nvSpPr>
          <p:cNvPr id="20" name="TextBox 19"/>
          <p:cNvSpPr txBox="1"/>
          <p:nvPr/>
        </p:nvSpPr>
        <p:spPr>
          <a:xfrm>
            <a:off x="8695277" y="3404997"/>
            <a:ext cx="2885382" cy="958596"/>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Three concepts share a single row instead of two plus one wide.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677543"/>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editorial: 4 concepts, a 2×2 grid</a:t>
            </a:r>
          </a:p>
        </p:txBody>
      </p:sp>
      <p:sp>
        <p:nvSpPr>
          <p:cNvPr id="5" name="TextBox 4"/>
          <p:cNvSpPr txBox="1"/>
          <p:nvPr/>
        </p:nvSpPr>
        <p:spPr>
          <a:xfrm>
            <a:off x="670465" y="2187607"/>
            <a:ext cx="11032887" cy="469582"/>
          </a:xfrm>
          <a:prstGeom prst="rect">
            <a:avLst/>
          </a:prstGeom>
          <a:noFill/>
        </p:spPr>
        <p:txBody>
          <a:bodyPr wrap="square" anchor="ctr" lIns="0" tIns="0" rIns="0" bIns="0">
            <a:noAutofit/>
          </a:bodyPr>
          <a:lstStyle/>
          <a:p>
            <a:pPr algn="l">
              <a:lnSpc>
                <a:spcPts val="1748"/>
              </a:lnSpc>
              <a:spcBef>
                <a:spcPts val="0"/>
              </a:spcBef>
              <a:spcAft>
                <a:spcPts val="0"/>
              </a:spcAft>
            </a:pPr>
            <a:r>
              <a:rPr sz="1748" b="1" i="0" u="none">
                <a:solidFill>
                  <a:srgbClr val="3B3535"/>
                </a:solidFill>
                <a:latin typeface="Arial"/>
              </a:rPr>
              <a:t>Four concepts fill two columns over two rows — the same rhythm the card grid uses, without the boxes:</a:t>
            </a:r>
          </a:p>
        </p:txBody>
      </p:sp>
      <p:sp>
        <p:nvSpPr>
          <p:cNvPr id="6" name="Rectangle 5"/>
          <p:cNvSpPr/>
          <p:nvPr/>
        </p:nvSpPr>
        <p:spPr>
          <a:xfrm>
            <a:off x="670465" y="2967323"/>
            <a:ext cx="5241608" cy="128911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2967323"/>
            <a:ext cx="5241608"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670465" y="3159633"/>
            <a:ext cx="377857" cy="377857"/>
          </a:xfrm>
          <a:prstGeom prst="rect">
            <a:avLst/>
          </a:prstGeom>
        </p:spPr>
      </p:pic>
      <p:sp>
        <p:nvSpPr>
          <p:cNvPr id="9" name="TextBox 8"/>
          <p:cNvSpPr txBox="1"/>
          <p:nvPr/>
        </p:nvSpPr>
        <p:spPr>
          <a:xfrm>
            <a:off x="1218914" y="3159633"/>
            <a:ext cx="4731258"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Two columns</a:t>
            </a:r>
          </a:p>
        </p:txBody>
      </p:sp>
      <p:sp>
        <p:nvSpPr>
          <p:cNvPr id="10" name="TextBox 9"/>
          <p:cNvSpPr txBox="1"/>
          <p:nvPr/>
        </p:nvSpPr>
        <p:spPr>
          <a:xfrm>
            <a:off x="1218914" y="3626929"/>
            <a:ext cx="4782605" cy="629602"/>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Each concept takes half the useful width, so the measure stays comfortable.</a:t>
            </a:r>
          </a:p>
        </p:txBody>
      </p:sp>
      <p:sp>
        <p:nvSpPr>
          <p:cNvPr id="11" name="Rectangle 10"/>
          <p:cNvSpPr/>
          <p:nvPr/>
        </p:nvSpPr>
        <p:spPr>
          <a:xfrm>
            <a:off x="6277737" y="2967323"/>
            <a:ext cx="5241703" cy="128911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6277737" y="2967323"/>
            <a:ext cx="5241703"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6277737" y="3159633"/>
            <a:ext cx="377857" cy="377857"/>
          </a:xfrm>
          <a:prstGeom prst="rect">
            <a:avLst/>
          </a:prstGeom>
        </p:spPr>
      </p:pic>
      <p:sp>
        <p:nvSpPr>
          <p:cNvPr id="14" name="TextBox 13"/>
          <p:cNvSpPr txBox="1"/>
          <p:nvPr/>
        </p:nvSpPr>
        <p:spPr>
          <a:xfrm>
            <a:off x="6826186" y="3159633"/>
            <a:ext cx="4731353"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Aligned labels</a:t>
            </a:r>
          </a:p>
        </p:txBody>
      </p:sp>
      <p:sp>
        <p:nvSpPr>
          <p:cNvPr id="15" name="TextBox 14"/>
          <p:cNvSpPr txBox="1"/>
          <p:nvPr/>
        </p:nvSpPr>
        <p:spPr>
          <a:xfrm>
            <a:off x="6826186" y="3626929"/>
            <a:ext cx="4782702" cy="629602"/>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Labels in a row share a baseline; bodies indent to the label's left edge.</a:t>
            </a:r>
          </a:p>
        </p:txBody>
      </p:sp>
      <p:sp>
        <p:nvSpPr>
          <p:cNvPr id="16" name="Rectangle 15"/>
          <p:cNvSpPr/>
          <p:nvPr/>
        </p:nvSpPr>
        <p:spPr>
          <a:xfrm>
            <a:off x="670465" y="4670965"/>
            <a:ext cx="5241608" cy="128911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670465" y="4670965"/>
            <a:ext cx="5241608"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4"/>
          <a:stretch>
            <a:fillRect/>
          </a:stretch>
        </p:blipFill>
        <p:spPr>
          <a:xfrm>
            <a:off x="670465" y="4863274"/>
            <a:ext cx="377857" cy="377857"/>
          </a:xfrm>
          <a:prstGeom prst="rect">
            <a:avLst/>
          </a:prstGeom>
        </p:spPr>
      </p:pic>
      <p:sp>
        <p:nvSpPr>
          <p:cNvPr id="19" name="TextBox 18"/>
          <p:cNvSpPr txBox="1"/>
          <p:nvPr/>
        </p:nvSpPr>
        <p:spPr>
          <a:xfrm>
            <a:off x="1218914" y="4863274"/>
            <a:ext cx="4731258"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A hairline, not a box</a:t>
            </a:r>
          </a:p>
        </p:txBody>
      </p:sp>
      <p:sp>
        <p:nvSpPr>
          <p:cNvPr id="20" name="TextBox 19"/>
          <p:cNvSpPr txBox="1"/>
          <p:nvPr/>
        </p:nvSpPr>
        <p:spPr>
          <a:xfrm>
            <a:off x="1218914" y="5330571"/>
            <a:ext cx="4782605" cy="629602"/>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One thin rule marks the row; white space does the rest of the separating.</a:t>
            </a:r>
          </a:p>
        </p:txBody>
      </p:sp>
      <p:sp>
        <p:nvSpPr>
          <p:cNvPr id="21" name="Rectangle 20"/>
          <p:cNvSpPr/>
          <p:nvPr/>
        </p:nvSpPr>
        <p:spPr>
          <a:xfrm>
            <a:off x="6277737" y="4670965"/>
            <a:ext cx="5241703" cy="128911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6277737" y="4670965"/>
            <a:ext cx="5241703"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3" name="Picture 22" descr="image.png"/>
          <p:cNvPicPr>
            <a:picLocks noChangeAspect="1"/>
          </p:cNvPicPr>
          <p:nvPr/>
        </p:nvPicPr>
        <p:blipFill>
          <a:blip r:embed="rId5"/>
          <a:stretch>
            <a:fillRect/>
          </a:stretch>
        </p:blipFill>
        <p:spPr>
          <a:xfrm>
            <a:off x="6277737" y="4863274"/>
            <a:ext cx="377857" cy="377857"/>
          </a:xfrm>
          <a:prstGeom prst="rect">
            <a:avLst/>
          </a:prstGeom>
        </p:spPr>
      </p:pic>
      <p:sp>
        <p:nvSpPr>
          <p:cNvPr id="24" name="TextBox 23"/>
          <p:cNvSpPr txBox="1"/>
          <p:nvPr/>
        </p:nvSpPr>
        <p:spPr>
          <a:xfrm>
            <a:off x="6826186" y="4863274"/>
            <a:ext cx="4731353" cy="342900"/>
          </a:xfrm>
          <a:prstGeom prst="rect">
            <a:avLst/>
          </a:prstGeom>
          <a:noFill/>
        </p:spPr>
        <p:txBody>
          <a:bodyPr wrap="none" anchor="ctr" lIns="0" tIns="0" rIns="0" bIns="0">
            <a:noAutofit/>
          </a:bodyPr>
          <a:lstStyle/>
          <a:p>
            <a:pPr algn="l">
              <a:lnSpc>
                <a:spcPts val="2760"/>
              </a:lnSpc>
              <a:spcBef>
                <a:spcPts val="0"/>
              </a:spcBef>
              <a:spcAft>
                <a:spcPts val="0"/>
              </a:spcAft>
            </a:pPr>
            <a:r>
              <a:rPr sz="2400" b="1" i="0" u="none">
                <a:solidFill>
                  <a:srgbClr val="1F1E1E"/>
                </a:solidFill>
                <a:latin typeface="Arial"/>
              </a:rPr>
              <a:t>Opt-in</a:t>
            </a:r>
          </a:p>
        </p:txBody>
      </p:sp>
      <p:sp>
        <p:nvSpPr>
          <p:cNvPr id="25" name="TextBox 24"/>
          <p:cNvSpPr txBox="1"/>
          <p:nvPr/>
        </p:nvSpPr>
        <p:spPr>
          <a:xfrm>
            <a:off x="6826186" y="5330571"/>
            <a:ext cx="4782702" cy="629602"/>
          </a:xfrm>
          <a:prstGeom prst="rect">
            <a:avLst/>
          </a:prstGeom>
          <a:noFill/>
        </p:spPr>
        <p:txBody>
          <a:bodyPr wrap="square" anchor="ctr" lIns="0" tIns="0" rIns="0" bIns="0">
            <a:noAutofit/>
          </a:bodyPr>
          <a:lstStyle/>
          <a:p>
            <a:pPr algn="l">
              <a:lnSpc>
                <a:spcPts val="2592"/>
              </a:lnSpc>
              <a:spcBef>
                <a:spcPts val="0"/>
              </a:spcBef>
              <a:spcAft>
                <a:spcPts val="0"/>
              </a:spcAft>
            </a:pPr>
            <a:r>
              <a:rPr sz="1920" b="0" i="0" u="none">
                <a:solidFill>
                  <a:srgbClr val="3B3535"/>
                </a:solidFill>
                <a:latin typeface="Arial"/>
              </a:rPr>
              <a:t>Set format editorial; leaving it off keeps the card grid exactly as it was.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editorial: 5 concepts, three then two centered</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 short last row keeps the width of the row above and centers, instead of stretching to fill:</a:t>
            </a:r>
          </a:p>
        </p:txBody>
      </p:sp>
      <p:sp>
        <p:nvSpPr>
          <p:cNvPr id="6" name="Rectangle 5"/>
          <p:cNvSpPr/>
          <p:nvPr/>
        </p:nvSpPr>
        <p:spPr>
          <a:xfrm>
            <a:off x="670465" y="2745391"/>
            <a:ext cx="3381280" cy="15588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2745391"/>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670465" y="2930652"/>
            <a:ext cx="364046" cy="364046"/>
          </a:xfrm>
          <a:prstGeom prst="rect">
            <a:avLst/>
          </a:prstGeom>
        </p:spPr>
      </p:pic>
      <p:sp>
        <p:nvSpPr>
          <p:cNvPr id="9" name="TextBox 8"/>
          <p:cNvSpPr txBox="1"/>
          <p:nvPr/>
        </p:nvSpPr>
        <p:spPr>
          <a:xfrm>
            <a:off x="1198816" y="2930652"/>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Three up top</a:t>
            </a:r>
          </a:p>
        </p:txBody>
      </p:sp>
      <p:sp>
        <p:nvSpPr>
          <p:cNvPr id="10" name="TextBox 9"/>
          <p:cNvSpPr txBox="1"/>
          <p:nvPr/>
        </p:nvSpPr>
        <p:spPr>
          <a:xfrm>
            <a:off x="1198816" y="3380804"/>
            <a:ext cx="2914869" cy="903065"/>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The first row sets the column rhythm.</a:t>
            </a:r>
          </a:p>
        </p:txBody>
      </p:sp>
      <p:sp>
        <p:nvSpPr>
          <p:cNvPr id="11" name="Rectangle 10"/>
          <p:cNvSpPr/>
          <p:nvPr/>
        </p:nvSpPr>
        <p:spPr>
          <a:xfrm>
            <a:off x="4403979" y="2745391"/>
            <a:ext cx="3381280" cy="15588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4403979" y="2745391"/>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4403979" y="2930652"/>
            <a:ext cx="364046" cy="364046"/>
          </a:xfrm>
          <a:prstGeom prst="rect">
            <a:avLst/>
          </a:prstGeom>
        </p:spPr>
      </p:pic>
      <p:sp>
        <p:nvSpPr>
          <p:cNvPr id="14" name="TextBox 13"/>
          <p:cNvSpPr txBox="1"/>
          <p:nvPr/>
        </p:nvSpPr>
        <p:spPr>
          <a:xfrm>
            <a:off x="4932331" y="2930652"/>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Same width</a:t>
            </a:r>
          </a:p>
        </p:txBody>
      </p:sp>
      <p:sp>
        <p:nvSpPr>
          <p:cNvPr id="15" name="TextBox 14"/>
          <p:cNvSpPr txBox="1"/>
          <p:nvPr/>
        </p:nvSpPr>
        <p:spPr>
          <a:xfrm>
            <a:off x="4932331" y="3380804"/>
            <a:ext cx="2914869" cy="923449"/>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Row two keeps that item width, so every measure matches.</a:t>
            </a:r>
          </a:p>
        </p:txBody>
      </p:sp>
      <p:sp>
        <p:nvSpPr>
          <p:cNvPr id="16" name="Rectangle 15"/>
          <p:cNvSpPr/>
          <p:nvPr/>
        </p:nvSpPr>
        <p:spPr>
          <a:xfrm>
            <a:off x="8137588" y="2745391"/>
            <a:ext cx="3381280" cy="15588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8137588" y="2745391"/>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4"/>
          <a:stretch>
            <a:fillRect/>
          </a:stretch>
        </p:blipFill>
        <p:spPr>
          <a:xfrm>
            <a:off x="8137588" y="2930652"/>
            <a:ext cx="364046" cy="364046"/>
          </a:xfrm>
          <a:prstGeom prst="rect">
            <a:avLst/>
          </a:prstGeom>
        </p:spPr>
      </p:pic>
      <p:sp>
        <p:nvSpPr>
          <p:cNvPr id="19" name="TextBox 18"/>
          <p:cNvSpPr txBox="1"/>
          <p:nvPr/>
        </p:nvSpPr>
        <p:spPr>
          <a:xfrm>
            <a:off x="8665845" y="2930652"/>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Centered</a:t>
            </a:r>
          </a:p>
        </p:txBody>
      </p:sp>
      <p:sp>
        <p:nvSpPr>
          <p:cNvPr id="20" name="TextBox 19"/>
          <p:cNvSpPr txBox="1"/>
          <p:nvPr/>
        </p:nvSpPr>
        <p:spPr>
          <a:xfrm>
            <a:off x="8665845" y="3380804"/>
            <a:ext cx="2914869" cy="903065"/>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The leftover width splits evenly on both sides.</a:t>
            </a:r>
          </a:p>
        </p:txBody>
      </p:sp>
      <p:sp>
        <p:nvSpPr>
          <p:cNvPr id="21" name="Rectangle 20"/>
          <p:cNvSpPr/>
          <p:nvPr/>
        </p:nvSpPr>
        <p:spPr>
          <a:xfrm>
            <a:off x="2537270" y="4703540"/>
            <a:ext cx="3381280" cy="1544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2537270" y="4703540"/>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3" name="Picture 22" descr="image.png"/>
          <p:cNvPicPr>
            <a:picLocks noChangeAspect="1"/>
          </p:cNvPicPr>
          <p:nvPr/>
        </p:nvPicPr>
        <p:blipFill>
          <a:blip r:embed="rId5"/>
          <a:stretch>
            <a:fillRect/>
          </a:stretch>
        </p:blipFill>
        <p:spPr>
          <a:xfrm>
            <a:off x="2537270" y="4888706"/>
            <a:ext cx="364046" cy="364046"/>
          </a:xfrm>
          <a:prstGeom prst="rect">
            <a:avLst/>
          </a:prstGeom>
        </p:spPr>
      </p:pic>
      <p:sp>
        <p:nvSpPr>
          <p:cNvPr id="24" name="TextBox 23"/>
          <p:cNvSpPr txBox="1"/>
          <p:nvPr/>
        </p:nvSpPr>
        <p:spPr>
          <a:xfrm>
            <a:off x="3065526" y="4888706"/>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Never one wide</a:t>
            </a:r>
          </a:p>
        </p:txBody>
      </p:sp>
      <p:sp>
        <p:nvSpPr>
          <p:cNvPr id="25" name="TextBox 24"/>
          <p:cNvSpPr txBox="1"/>
          <p:nvPr/>
        </p:nvSpPr>
        <p:spPr>
          <a:xfrm>
            <a:off x="3065526" y="5338953"/>
            <a:ext cx="2914869" cy="903065"/>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No item ever spans a whole row on its own.</a:t>
            </a:r>
          </a:p>
        </p:txBody>
      </p:sp>
      <p:sp>
        <p:nvSpPr>
          <p:cNvPr id="26" name="Rectangle 25"/>
          <p:cNvSpPr/>
          <p:nvPr/>
        </p:nvSpPr>
        <p:spPr>
          <a:xfrm>
            <a:off x="6270784" y="4703540"/>
            <a:ext cx="3381280" cy="1544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Rectangle 26"/>
          <p:cNvSpPr/>
          <p:nvPr/>
        </p:nvSpPr>
        <p:spPr>
          <a:xfrm>
            <a:off x="6270784" y="4703540"/>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8" name="Picture 27" descr="image.png"/>
          <p:cNvPicPr>
            <a:picLocks noChangeAspect="1"/>
          </p:cNvPicPr>
          <p:nvPr/>
        </p:nvPicPr>
        <p:blipFill>
          <a:blip r:embed="rId6"/>
          <a:stretch>
            <a:fillRect/>
          </a:stretch>
        </p:blipFill>
        <p:spPr>
          <a:xfrm>
            <a:off x="6270784" y="4888706"/>
            <a:ext cx="364046" cy="364046"/>
          </a:xfrm>
          <a:prstGeom prst="rect">
            <a:avLst/>
          </a:prstGeom>
        </p:spPr>
      </p:pic>
      <p:sp>
        <p:nvSpPr>
          <p:cNvPr id="29" name="TextBox 28"/>
          <p:cNvSpPr txBox="1"/>
          <p:nvPr/>
        </p:nvSpPr>
        <p:spPr>
          <a:xfrm>
            <a:off x="6799040" y="4888706"/>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Room to breathe</a:t>
            </a:r>
          </a:p>
        </p:txBody>
      </p:sp>
      <p:sp>
        <p:nvSpPr>
          <p:cNvPr id="30" name="TextBox 29"/>
          <p:cNvSpPr txBox="1"/>
          <p:nvPr/>
        </p:nvSpPr>
        <p:spPr>
          <a:xfrm>
            <a:off x="6799040" y="5338953"/>
            <a:ext cx="2914869" cy="923449"/>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The unused half-columns read as white space, not as a gap.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editorial: 6 concepts, a 3×2 grid</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Six concepts are the format's comfortable middle — three columns over two rows:</a:t>
            </a:r>
          </a:p>
        </p:txBody>
      </p:sp>
      <p:sp>
        <p:nvSpPr>
          <p:cNvPr id="6" name="Rectangle 5"/>
          <p:cNvSpPr/>
          <p:nvPr/>
        </p:nvSpPr>
        <p:spPr>
          <a:xfrm>
            <a:off x="670465" y="2745391"/>
            <a:ext cx="3381280" cy="15588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2745391"/>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670465" y="2930652"/>
            <a:ext cx="364046" cy="364046"/>
          </a:xfrm>
          <a:prstGeom prst="rect">
            <a:avLst/>
          </a:prstGeom>
        </p:spPr>
      </p:pic>
      <p:sp>
        <p:nvSpPr>
          <p:cNvPr id="9" name="TextBox 8"/>
          <p:cNvSpPr txBox="1"/>
          <p:nvPr/>
        </p:nvSpPr>
        <p:spPr>
          <a:xfrm>
            <a:off x="1198816" y="2930652"/>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Three columns</a:t>
            </a:r>
          </a:p>
        </p:txBody>
      </p:sp>
      <p:sp>
        <p:nvSpPr>
          <p:cNvPr id="10" name="TextBox 9"/>
          <p:cNvSpPr txBox="1"/>
          <p:nvPr/>
        </p:nvSpPr>
        <p:spPr>
          <a:xfrm>
            <a:off x="1198816" y="3380804"/>
            <a:ext cx="2914869" cy="923449"/>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The same span as the three-concept row, twice over.</a:t>
            </a:r>
          </a:p>
        </p:txBody>
      </p:sp>
      <p:sp>
        <p:nvSpPr>
          <p:cNvPr id="11" name="Rectangle 10"/>
          <p:cNvSpPr/>
          <p:nvPr/>
        </p:nvSpPr>
        <p:spPr>
          <a:xfrm>
            <a:off x="4403979" y="2745391"/>
            <a:ext cx="3381280" cy="15588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4403979" y="2745391"/>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4403979" y="2930652"/>
            <a:ext cx="364046" cy="364046"/>
          </a:xfrm>
          <a:prstGeom prst="rect">
            <a:avLst/>
          </a:prstGeom>
        </p:spPr>
      </p:pic>
      <p:sp>
        <p:nvSpPr>
          <p:cNvPr id="14" name="TextBox 13"/>
          <p:cNvSpPr txBox="1"/>
          <p:nvPr/>
        </p:nvSpPr>
        <p:spPr>
          <a:xfrm>
            <a:off x="4932331" y="2930652"/>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Even density</a:t>
            </a:r>
          </a:p>
        </p:txBody>
      </p:sp>
      <p:sp>
        <p:nvSpPr>
          <p:cNvPr id="15" name="TextBox 14"/>
          <p:cNvSpPr txBox="1"/>
          <p:nvPr/>
        </p:nvSpPr>
        <p:spPr>
          <a:xfrm>
            <a:off x="4932331" y="3380804"/>
            <a:ext cx="2914869" cy="903065"/>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Six flat blocks weigh less than six cards.</a:t>
            </a:r>
          </a:p>
        </p:txBody>
      </p:sp>
      <p:sp>
        <p:nvSpPr>
          <p:cNvPr id="16" name="Rectangle 15"/>
          <p:cNvSpPr/>
          <p:nvPr/>
        </p:nvSpPr>
        <p:spPr>
          <a:xfrm>
            <a:off x="8137588" y="2745391"/>
            <a:ext cx="3381280" cy="155886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8137588" y="2745391"/>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4"/>
          <a:stretch>
            <a:fillRect/>
          </a:stretch>
        </p:blipFill>
        <p:spPr>
          <a:xfrm>
            <a:off x="8137588" y="2930652"/>
            <a:ext cx="364046" cy="364046"/>
          </a:xfrm>
          <a:prstGeom prst="rect">
            <a:avLst/>
          </a:prstGeom>
        </p:spPr>
      </p:pic>
      <p:sp>
        <p:nvSpPr>
          <p:cNvPr id="19" name="TextBox 18"/>
          <p:cNvSpPr txBox="1"/>
          <p:nvPr/>
        </p:nvSpPr>
        <p:spPr>
          <a:xfrm>
            <a:off x="8665845" y="2930652"/>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Rows read across</a:t>
            </a:r>
          </a:p>
        </p:txBody>
      </p:sp>
      <p:sp>
        <p:nvSpPr>
          <p:cNvPr id="20" name="TextBox 19"/>
          <p:cNvSpPr txBox="1"/>
          <p:nvPr/>
        </p:nvSpPr>
        <p:spPr>
          <a:xfrm>
            <a:off x="8665845" y="3380804"/>
            <a:ext cx="2914869" cy="903065"/>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Reading order stays left to right, top to bottom.</a:t>
            </a:r>
          </a:p>
        </p:txBody>
      </p:sp>
      <p:sp>
        <p:nvSpPr>
          <p:cNvPr id="21" name="Rectangle 20"/>
          <p:cNvSpPr/>
          <p:nvPr/>
        </p:nvSpPr>
        <p:spPr>
          <a:xfrm>
            <a:off x="670465" y="4703540"/>
            <a:ext cx="3381280" cy="1544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670465" y="4703540"/>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3" name="Picture 22" descr="image.png"/>
          <p:cNvPicPr>
            <a:picLocks noChangeAspect="1"/>
          </p:cNvPicPr>
          <p:nvPr/>
        </p:nvPicPr>
        <p:blipFill>
          <a:blip r:embed="rId5"/>
          <a:stretch>
            <a:fillRect/>
          </a:stretch>
        </p:blipFill>
        <p:spPr>
          <a:xfrm>
            <a:off x="670465" y="4888706"/>
            <a:ext cx="364046" cy="364046"/>
          </a:xfrm>
          <a:prstGeom prst="rect">
            <a:avLst/>
          </a:prstGeom>
        </p:spPr>
      </p:pic>
      <p:sp>
        <p:nvSpPr>
          <p:cNvPr id="24" name="TextBox 23"/>
          <p:cNvSpPr txBox="1"/>
          <p:nvPr/>
        </p:nvSpPr>
        <p:spPr>
          <a:xfrm>
            <a:off x="1198816" y="4888706"/>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Short bodies</a:t>
            </a:r>
          </a:p>
        </p:txBody>
      </p:sp>
      <p:sp>
        <p:nvSpPr>
          <p:cNvPr id="25" name="TextBox 24"/>
          <p:cNvSpPr txBox="1"/>
          <p:nvPr/>
        </p:nvSpPr>
        <p:spPr>
          <a:xfrm>
            <a:off x="1198816" y="5338953"/>
            <a:ext cx="2914869" cy="923449"/>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Around a hundred characters each at this width.</a:t>
            </a:r>
          </a:p>
        </p:txBody>
      </p:sp>
      <p:sp>
        <p:nvSpPr>
          <p:cNvPr id="26" name="Rectangle 25"/>
          <p:cNvSpPr/>
          <p:nvPr/>
        </p:nvSpPr>
        <p:spPr>
          <a:xfrm>
            <a:off x="4403979" y="4703540"/>
            <a:ext cx="3381280" cy="1544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Rectangle 26"/>
          <p:cNvSpPr/>
          <p:nvPr/>
        </p:nvSpPr>
        <p:spPr>
          <a:xfrm>
            <a:off x="4403979" y="4703540"/>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8" name="Picture 27" descr="image.png"/>
          <p:cNvPicPr>
            <a:picLocks noChangeAspect="1"/>
          </p:cNvPicPr>
          <p:nvPr/>
        </p:nvPicPr>
        <p:blipFill>
          <a:blip r:embed="rId6"/>
          <a:stretch>
            <a:fillRect/>
          </a:stretch>
        </p:blipFill>
        <p:spPr>
          <a:xfrm>
            <a:off x="4403979" y="4888706"/>
            <a:ext cx="364046" cy="364046"/>
          </a:xfrm>
          <a:prstGeom prst="rect">
            <a:avLst/>
          </a:prstGeom>
        </p:spPr>
      </p:pic>
      <p:sp>
        <p:nvSpPr>
          <p:cNvPr id="29" name="TextBox 28"/>
          <p:cNvSpPr txBox="1"/>
          <p:nvPr/>
        </p:nvSpPr>
        <p:spPr>
          <a:xfrm>
            <a:off x="4932331" y="4888706"/>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Longer prose warns</a:t>
            </a:r>
          </a:p>
        </p:txBody>
      </p:sp>
      <p:sp>
        <p:nvSpPr>
          <p:cNvPr id="30" name="TextBox 29"/>
          <p:cNvSpPr txBox="1"/>
          <p:nvPr/>
        </p:nvSpPr>
        <p:spPr>
          <a:xfrm>
            <a:off x="4932331" y="5338953"/>
            <a:ext cx="2914869" cy="903065"/>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The build says so instead of shrinking the type.</a:t>
            </a:r>
          </a:p>
        </p:txBody>
      </p:sp>
      <p:sp>
        <p:nvSpPr>
          <p:cNvPr id="31" name="Rectangle 30"/>
          <p:cNvSpPr/>
          <p:nvPr/>
        </p:nvSpPr>
        <p:spPr>
          <a:xfrm>
            <a:off x="8137588" y="4703540"/>
            <a:ext cx="3381280" cy="1544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Rectangle 31"/>
          <p:cNvSpPr/>
          <p:nvPr/>
        </p:nvSpPr>
        <p:spPr>
          <a:xfrm>
            <a:off x="8137588" y="4703540"/>
            <a:ext cx="3381280"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3" name="Picture 32" descr="image.png"/>
          <p:cNvPicPr>
            <a:picLocks noChangeAspect="1"/>
          </p:cNvPicPr>
          <p:nvPr/>
        </p:nvPicPr>
        <p:blipFill>
          <a:blip r:embed="rId7"/>
          <a:stretch>
            <a:fillRect/>
          </a:stretch>
        </p:blipFill>
        <p:spPr>
          <a:xfrm>
            <a:off x="8137588" y="4888706"/>
            <a:ext cx="364046" cy="364046"/>
          </a:xfrm>
          <a:prstGeom prst="rect">
            <a:avLst/>
          </a:prstGeom>
        </p:spPr>
      </p:pic>
      <p:sp>
        <p:nvSpPr>
          <p:cNvPr id="34" name="TextBox 33"/>
          <p:cNvSpPr txBox="1"/>
          <p:nvPr/>
        </p:nvSpPr>
        <p:spPr>
          <a:xfrm>
            <a:off x="8665845" y="4888706"/>
            <a:ext cx="2891123" cy="330327"/>
          </a:xfrm>
          <a:prstGeom prst="rect">
            <a:avLst/>
          </a:prstGeom>
          <a:noFill/>
        </p:spPr>
        <p:txBody>
          <a:bodyPr wrap="none" anchor="ctr" lIns="0" tIns="0" rIns="0" bIns="0">
            <a:noAutofit/>
          </a:bodyPr>
          <a:lstStyle/>
          <a:p>
            <a:pPr algn="l">
              <a:lnSpc>
                <a:spcPts val="2650"/>
              </a:lnSpc>
              <a:spcBef>
                <a:spcPts val="0"/>
              </a:spcBef>
              <a:spcAft>
                <a:spcPts val="0"/>
              </a:spcAft>
            </a:pPr>
            <a:r>
              <a:rPr sz="2304" b="1" i="0" u="none">
                <a:solidFill>
                  <a:srgbClr val="1F1E1E"/>
                </a:solidFill>
                <a:latin typeface="Arial"/>
              </a:rPr>
              <a:t>Or use content-text</a:t>
            </a:r>
          </a:p>
        </p:txBody>
      </p:sp>
      <p:sp>
        <p:nvSpPr>
          <p:cNvPr id="35" name="TextBox 34"/>
          <p:cNvSpPr txBox="1"/>
          <p:nvPr/>
        </p:nvSpPr>
        <p:spPr>
          <a:xfrm>
            <a:off x="8665845" y="5338953"/>
            <a:ext cx="2914869" cy="923449"/>
          </a:xfrm>
          <a:prstGeom prst="rect">
            <a:avLst/>
          </a:prstGeom>
          <a:noFill/>
        </p:spPr>
        <p:txBody>
          <a:bodyPr wrap="square" anchor="ctr" lIns="0" tIns="0" rIns="0" bIns="0">
            <a:noAutofit/>
          </a:bodyPr>
          <a:lstStyle/>
          <a:p>
            <a:pPr algn="l">
              <a:lnSpc>
                <a:spcPts val="2488"/>
              </a:lnSpc>
              <a:spcBef>
                <a:spcPts val="0"/>
              </a:spcBef>
              <a:spcAft>
                <a:spcPts val="0"/>
              </a:spcAft>
            </a:pPr>
            <a:r>
              <a:rPr sz="1843" b="0" i="0" u="none">
                <a:solidFill>
                  <a:srgbClr val="3B3535"/>
                </a:solidFill>
                <a:latin typeface="Arial"/>
              </a:rPr>
              <a:t>Prose that needs a full-width column is content-text, not a labeled set.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editorial: 7 concepts, four then three centered</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Seven is the count the card grid handled worst — 3+3+1 left a single item stranded on its own row:</a:t>
            </a:r>
          </a:p>
        </p:txBody>
      </p:sp>
      <p:sp>
        <p:nvSpPr>
          <p:cNvPr id="6" name="Rectangle 5"/>
          <p:cNvSpPr/>
          <p:nvPr/>
        </p:nvSpPr>
        <p:spPr>
          <a:xfrm>
            <a:off x="670465" y="2745391"/>
            <a:ext cx="2454116" cy="1339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2745391"/>
            <a:ext cx="2454116"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670465" y="2892076"/>
            <a:ext cx="298228" cy="298228"/>
          </a:xfrm>
          <a:prstGeom prst="rect">
            <a:avLst/>
          </a:prstGeom>
        </p:spPr>
      </p:pic>
      <p:sp>
        <p:nvSpPr>
          <p:cNvPr id="9" name="TextBox 8"/>
          <p:cNvSpPr txBox="1"/>
          <p:nvPr/>
        </p:nvSpPr>
        <p:spPr>
          <a:xfrm>
            <a:off x="1094994" y="2892076"/>
            <a:ext cx="2067782" cy="277940"/>
          </a:xfrm>
          <a:prstGeom prst="rect">
            <a:avLst/>
          </a:prstGeom>
          <a:noFill/>
        </p:spPr>
        <p:txBody>
          <a:bodyPr wrap="none" anchor="ctr" lIns="0" tIns="0" rIns="0" bIns="0">
            <a:noAutofit/>
          </a:bodyPr>
          <a:lstStyle/>
          <a:p>
            <a:pPr algn="l">
              <a:lnSpc>
                <a:spcPts val="2283"/>
              </a:lnSpc>
              <a:spcBef>
                <a:spcPts val="0"/>
              </a:spcBef>
              <a:spcAft>
                <a:spcPts val="0"/>
              </a:spcAft>
            </a:pPr>
            <a:r>
              <a:rPr sz="1985" b="1" i="0" u="none">
                <a:solidFill>
                  <a:srgbClr val="1F1E1E"/>
                </a:solidFill>
                <a:latin typeface="Arial"/>
              </a:rPr>
              <a:t>Four up top</a:t>
            </a:r>
          </a:p>
        </p:txBody>
      </p:sp>
      <p:sp>
        <p:nvSpPr>
          <p:cNvPr id="10" name="TextBox 9"/>
          <p:cNvSpPr txBox="1"/>
          <p:nvPr/>
        </p:nvSpPr>
        <p:spPr>
          <a:xfrm>
            <a:off x="1094994" y="3265551"/>
            <a:ext cx="2079177" cy="818864"/>
          </a:xfrm>
          <a:prstGeom prst="rect">
            <a:avLst/>
          </a:prstGeom>
          <a:noFill/>
        </p:spPr>
        <p:txBody>
          <a:bodyPr wrap="square" anchor="ctr" lIns="0" tIns="0" rIns="0" bIns="0">
            <a:noAutofit/>
          </a:bodyPr>
          <a:lstStyle/>
          <a:p>
            <a:pPr algn="l">
              <a:lnSpc>
                <a:spcPts val="2193"/>
              </a:lnSpc>
              <a:spcBef>
                <a:spcPts val="0"/>
              </a:spcBef>
              <a:spcAft>
                <a:spcPts val="0"/>
              </a:spcAft>
            </a:pPr>
            <a:r>
              <a:rPr sz="1623" b="0" i="0" u="none">
                <a:solidFill>
                  <a:srgbClr val="3B3535"/>
                </a:solidFill>
                <a:latin typeface="Arial"/>
              </a:rPr>
              <a:t>Seven and eight concepts move to four columns.</a:t>
            </a:r>
          </a:p>
        </p:txBody>
      </p:sp>
      <p:sp>
        <p:nvSpPr>
          <p:cNvPr id="11" name="Rectangle 10"/>
          <p:cNvSpPr/>
          <p:nvPr/>
        </p:nvSpPr>
        <p:spPr>
          <a:xfrm>
            <a:off x="3468814" y="2745391"/>
            <a:ext cx="2454116" cy="1339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3468814" y="2745391"/>
            <a:ext cx="2454116"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3468814" y="2892076"/>
            <a:ext cx="298228" cy="298228"/>
          </a:xfrm>
          <a:prstGeom prst="rect">
            <a:avLst/>
          </a:prstGeom>
        </p:spPr>
      </p:pic>
      <p:sp>
        <p:nvSpPr>
          <p:cNvPr id="14" name="TextBox 13"/>
          <p:cNvSpPr txBox="1"/>
          <p:nvPr/>
        </p:nvSpPr>
        <p:spPr>
          <a:xfrm>
            <a:off x="3893248" y="2892076"/>
            <a:ext cx="2067782" cy="277940"/>
          </a:xfrm>
          <a:prstGeom prst="rect">
            <a:avLst/>
          </a:prstGeom>
          <a:noFill/>
        </p:spPr>
        <p:txBody>
          <a:bodyPr wrap="none" anchor="ctr" lIns="0" tIns="0" rIns="0" bIns="0">
            <a:noAutofit/>
          </a:bodyPr>
          <a:lstStyle/>
          <a:p>
            <a:pPr algn="l">
              <a:lnSpc>
                <a:spcPts val="2283"/>
              </a:lnSpc>
              <a:spcBef>
                <a:spcPts val="0"/>
              </a:spcBef>
              <a:spcAft>
                <a:spcPts val="0"/>
              </a:spcAft>
            </a:pPr>
            <a:r>
              <a:rPr sz="1985" b="1" i="0" u="none">
                <a:solidFill>
                  <a:srgbClr val="1F1E1E"/>
                </a:solidFill>
                <a:latin typeface="Arial"/>
              </a:rPr>
              <a:t>Type steps down</a:t>
            </a:r>
          </a:p>
        </p:txBody>
      </p:sp>
      <p:sp>
        <p:nvSpPr>
          <p:cNvPr id="15" name="TextBox 14"/>
          <p:cNvSpPr txBox="1"/>
          <p:nvPr/>
        </p:nvSpPr>
        <p:spPr>
          <a:xfrm>
            <a:off x="3893248" y="3265551"/>
            <a:ext cx="2079177" cy="818864"/>
          </a:xfrm>
          <a:prstGeom prst="rect">
            <a:avLst/>
          </a:prstGeom>
          <a:noFill/>
        </p:spPr>
        <p:txBody>
          <a:bodyPr wrap="square" anchor="ctr" lIns="0" tIns="0" rIns="0" bIns="0">
            <a:noAutofit/>
          </a:bodyPr>
          <a:lstStyle/>
          <a:p>
            <a:pPr algn="l">
              <a:lnSpc>
                <a:spcPts val="2193"/>
              </a:lnSpc>
              <a:spcBef>
                <a:spcPts val="0"/>
              </a:spcBef>
              <a:spcAft>
                <a:spcPts val="0"/>
              </a:spcAft>
            </a:pPr>
            <a:r>
              <a:rPr sz="1623" b="0" i="0" u="none">
                <a:solidFill>
                  <a:srgbClr val="3B3535"/>
                </a:solidFill>
                <a:latin typeface="Arial"/>
              </a:rPr>
              <a:t>Icon and text shrink one notch at four across.</a:t>
            </a:r>
          </a:p>
        </p:txBody>
      </p:sp>
      <p:sp>
        <p:nvSpPr>
          <p:cNvPr id="16" name="Rectangle 15"/>
          <p:cNvSpPr/>
          <p:nvPr/>
        </p:nvSpPr>
        <p:spPr>
          <a:xfrm>
            <a:off x="6267164" y="2745391"/>
            <a:ext cx="2454116" cy="1339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6267164" y="2745391"/>
            <a:ext cx="2454116"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4"/>
          <a:stretch>
            <a:fillRect/>
          </a:stretch>
        </p:blipFill>
        <p:spPr>
          <a:xfrm>
            <a:off x="6267164" y="2892076"/>
            <a:ext cx="298228" cy="298228"/>
          </a:xfrm>
          <a:prstGeom prst="rect">
            <a:avLst/>
          </a:prstGeom>
        </p:spPr>
      </p:pic>
      <p:sp>
        <p:nvSpPr>
          <p:cNvPr id="19" name="TextBox 18"/>
          <p:cNvSpPr txBox="1"/>
          <p:nvPr/>
        </p:nvSpPr>
        <p:spPr>
          <a:xfrm>
            <a:off x="6691598" y="2892076"/>
            <a:ext cx="2067782" cy="277940"/>
          </a:xfrm>
          <a:prstGeom prst="rect">
            <a:avLst/>
          </a:prstGeom>
          <a:noFill/>
        </p:spPr>
        <p:txBody>
          <a:bodyPr wrap="none" anchor="ctr" lIns="0" tIns="0" rIns="0" bIns="0">
            <a:noAutofit/>
          </a:bodyPr>
          <a:lstStyle/>
          <a:p>
            <a:pPr algn="l">
              <a:lnSpc>
                <a:spcPts val="2283"/>
              </a:lnSpc>
              <a:spcBef>
                <a:spcPts val="0"/>
              </a:spcBef>
              <a:spcAft>
                <a:spcPts val="0"/>
              </a:spcAft>
            </a:pPr>
            <a:r>
              <a:rPr sz="1985" b="1" i="0" u="none">
                <a:solidFill>
                  <a:srgbClr val="1F1E1E"/>
                </a:solidFill>
                <a:latin typeface="Arial"/>
              </a:rPr>
              <a:t>Three centered</a:t>
            </a:r>
          </a:p>
        </p:txBody>
      </p:sp>
      <p:sp>
        <p:nvSpPr>
          <p:cNvPr id="20" name="TextBox 19"/>
          <p:cNvSpPr txBox="1"/>
          <p:nvPr/>
        </p:nvSpPr>
        <p:spPr>
          <a:xfrm>
            <a:off x="6691598" y="3265551"/>
            <a:ext cx="2079177" cy="818864"/>
          </a:xfrm>
          <a:prstGeom prst="rect">
            <a:avLst/>
          </a:prstGeom>
          <a:noFill/>
        </p:spPr>
        <p:txBody>
          <a:bodyPr wrap="square" anchor="ctr" lIns="0" tIns="0" rIns="0" bIns="0">
            <a:noAutofit/>
          </a:bodyPr>
          <a:lstStyle/>
          <a:p>
            <a:pPr algn="l">
              <a:lnSpc>
                <a:spcPts val="2193"/>
              </a:lnSpc>
              <a:spcBef>
                <a:spcPts val="0"/>
              </a:spcBef>
              <a:spcAft>
                <a:spcPts val="0"/>
              </a:spcAft>
            </a:pPr>
            <a:r>
              <a:rPr sz="1623" b="0" i="0" u="none">
                <a:solidFill>
                  <a:srgbClr val="3B3535"/>
                </a:solidFill>
                <a:latin typeface="Arial"/>
              </a:rPr>
              <a:t>The second row centers on the same grid.</a:t>
            </a:r>
          </a:p>
        </p:txBody>
      </p:sp>
      <p:sp>
        <p:nvSpPr>
          <p:cNvPr id="21" name="Rectangle 20"/>
          <p:cNvSpPr/>
          <p:nvPr/>
        </p:nvSpPr>
        <p:spPr>
          <a:xfrm>
            <a:off x="9065514" y="2745391"/>
            <a:ext cx="2454116" cy="13390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9065514" y="2745391"/>
            <a:ext cx="2454116"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3" name="Picture 22" descr="image.png"/>
          <p:cNvPicPr>
            <a:picLocks noChangeAspect="1"/>
          </p:cNvPicPr>
          <p:nvPr/>
        </p:nvPicPr>
        <p:blipFill>
          <a:blip r:embed="rId5"/>
          <a:stretch>
            <a:fillRect/>
          </a:stretch>
        </p:blipFill>
        <p:spPr>
          <a:xfrm>
            <a:off x="9065514" y="2892076"/>
            <a:ext cx="298228" cy="298228"/>
          </a:xfrm>
          <a:prstGeom prst="rect">
            <a:avLst/>
          </a:prstGeom>
        </p:spPr>
      </p:pic>
      <p:sp>
        <p:nvSpPr>
          <p:cNvPr id="24" name="TextBox 23"/>
          <p:cNvSpPr txBox="1"/>
          <p:nvPr/>
        </p:nvSpPr>
        <p:spPr>
          <a:xfrm>
            <a:off x="9489948" y="2892076"/>
            <a:ext cx="2067782" cy="277940"/>
          </a:xfrm>
          <a:prstGeom prst="rect">
            <a:avLst/>
          </a:prstGeom>
          <a:noFill/>
        </p:spPr>
        <p:txBody>
          <a:bodyPr wrap="none" anchor="ctr" lIns="0" tIns="0" rIns="0" bIns="0">
            <a:noAutofit/>
          </a:bodyPr>
          <a:lstStyle/>
          <a:p>
            <a:pPr algn="l">
              <a:lnSpc>
                <a:spcPts val="2283"/>
              </a:lnSpc>
              <a:spcBef>
                <a:spcPts val="0"/>
              </a:spcBef>
              <a:spcAft>
                <a:spcPts val="0"/>
              </a:spcAft>
            </a:pPr>
            <a:r>
              <a:rPr sz="1985" b="1" i="0" u="none">
                <a:solidFill>
                  <a:srgbClr val="1F1E1E"/>
                </a:solidFill>
                <a:latin typeface="Arial"/>
              </a:rPr>
              <a:t>No orphan row</a:t>
            </a:r>
          </a:p>
        </p:txBody>
      </p:sp>
      <p:sp>
        <p:nvSpPr>
          <p:cNvPr id="25" name="TextBox 24"/>
          <p:cNvSpPr txBox="1"/>
          <p:nvPr/>
        </p:nvSpPr>
        <p:spPr>
          <a:xfrm>
            <a:off x="9489948" y="3265551"/>
            <a:ext cx="2079177" cy="808292"/>
          </a:xfrm>
          <a:prstGeom prst="rect">
            <a:avLst/>
          </a:prstGeom>
          <a:noFill/>
        </p:spPr>
        <p:txBody>
          <a:bodyPr wrap="square" anchor="ctr" lIns="0" tIns="0" rIns="0" bIns="0">
            <a:noAutofit/>
          </a:bodyPr>
          <a:lstStyle/>
          <a:p>
            <a:pPr algn="l">
              <a:lnSpc>
                <a:spcPts val="2193"/>
              </a:lnSpc>
              <a:spcBef>
                <a:spcPts val="0"/>
              </a:spcBef>
              <a:spcAft>
                <a:spcPts val="0"/>
              </a:spcAft>
            </a:pPr>
            <a:r>
              <a:rPr sz="1623" b="0" i="0" u="none">
                <a:solidFill>
                  <a:srgbClr val="3B3535"/>
                </a:solidFill>
                <a:latin typeface="Arial"/>
              </a:rPr>
              <a:t>Nothing is left alone across the width.</a:t>
            </a:r>
          </a:p>
        </p:txBody>
      </p:sp>
      <p:sp>
        <p:nvSpPr>
          <p:cNvPr id="26" name="Rectangle 25"/>
          <p:cNvSpPr/>
          <p:nvPr/>
        </p:nvSpPr>
        <p:spPr>
          <a:xfrm>
            <a:off x="2069592" y="4474559"/>
            <a:ext cx="2454116" cy="16212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Rectangle 26"/>
          <p:cNvSpPr/>
          <p:nvPr/>
        </p:nvSpPr>
        <p:spPr>
          <a:xfrm>
            <a:off x="2069592" y="4474559"/>
            <a:ext cx="2454116"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8" name="Picture 27" descr="image.png"/>
          <p:cNvPicPr>
            <a:picLocks noChangeAspect="1"/>
          </p:cNvPicPr>
          <p:nvPr/>
        </p:nvPicPr>
        <p:blipFill>
          <a:blip r:embed="rId6"/>
          <a:stretch>
            <a:fillRect/>
          </a:stretch>
        </p:blipFill>
        <p:spPr>
          <a:xfrm>
            <a:off x="2069592" y="4762310"/>
            <a:ext cx="298228" cy="298228"/>
          </a:xfrm>
          <a:prstGeom prst="rect">
            <a:avLst/>
          </a:prstGeom>
        </p:spPr>
      </p:pic>
      <p:sp>
        <p:nvSpPr>
          <p:cNvPr id="29" name="TextBox 28"/>
          <p:cNvSpPr txBox="1"/>
          <p:nvPr/>
        </p:nvSpPr>
        <p:spPr>
          <a:xfrm>
            <a:off x="2494026" y="4621244"/>
            <a:ext cx="2079177" cy="876586"/>
          </a:xfrm>
          <a:prstGeom prst="rect">
            <a:avLst/>
          </a:prstGeom>
          <a:noFill/>
        </p:spPr>
        <p:txBody>
          <a:bodyPr wrap="square" anchor="ctr" lIns="0" tIns="0" rIns="0" bIns="0">
            <a:noAutofit/>
          </a:bodyPr>
          <a:lstStyle/>
          <a:p>
            <a:pPr algn="l">
              <a:lnSpc>
                <a:spcPts val="2283"/>
              </a:lnSpc>
              <a:spcBef>
                <a:spcPts val="0"/>
              </a:spcBef>
              <a:spcAft>
                <a:spcPts val="0"/>
              </a:spcAft>
            </a:pPr>
            <a:r>
              <a:rPr sz="1985" b="1" i="0" u="none">
                <a:solidFill>
                  <a:srgbClr val="1F1E1E"/>
                </a:solidFill>
                <a:latin typeface="Arial"/>
              </a:rPr>
              <a:t>Keep bodies short</a:t>
            </a:r>
          </a:p>
        </p:txBody>
      </p:sp>
      <p:sp>
        <p:nvSpPr>
          <p:cNvPr id="30" name="TextBox 29"/>
          <p:cNvSpPr txBox="1"/>
          <p:nvPr/>
        </p:nvSpPr>
        <p:spPr>
          <a:xfrm>
            <a:off x="2494026" y="5277040"/>
            <a:ext cx="2079177" cy="818864"/>
          </a:xfrm>
          <a:prstGeom prst="rect">
            <a:avLst/>
          </a:prstGeom>
          <a:noFill/>
        </p:spPr>
        <p:txBody>
          <a:bodyPr wrap="square" anchor="ctr" lIns="0" tIns="0" rIns="0" bIns="0">
            <a:noAutofit/>
          </a:bodyPr>
          <a:lstStyle/>
          <a:p>
            <a:pPr algn="l">
              <a:lnSpc>
                <a:spcPts val="2193"/>
              </a:lnSpc>
              <a:spcBef>
                <a:spcPts val="0"/>
              </a:spcBef>
              <a:spcAft>
                <a:spcPts val="0"/>
              </a:spcAft>
            </a:pPr>
            <a:r>
              <a:rPr sz="1623" b="0" i="0" u="none">
                <a:solidFill>
                  <a:srgbClr val="3B3535"/>
                </a:solidFill>
                <a:latin typeface="Arial"/>
              </a:rPr>
              <a:t>Roughly seventy characters at this width.</a:t>
            </a:r>
          </a:p>
        </p:txBody>
      </p:sp>
      <p:sp>
        <p:nvSpPr>
          <p:cNvPr id="31" name="Rectangle 30"/>
          <p:cNvSpPr/>
          <p:nvPr/>
        </p:nvSpPr>
        <p:spPr>
          <a:xfrm>
            <a:off x="4867942" y="4474559"/>
            <a:ext cx="2454116" cy="16212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Rectangle 31"/>
          <p:cNvSpPr/>
          <p:nvPr/>
        </p:nvSpPr>
        <p:spPr>
          <a:xfrm>
            <a:off x="4867942" y="4474559"/>
            <a:ext cx="2454116"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3" name="Picture 32" descr="image.png"/>
          <p:cNvPicPr>
            <a:picLocks noChangeAspect="1"/>
          </p:cNvPicPr>
          <p:nvPr/>
        </p:nvPicPr>
        <p:blipFill>
          <a:blip r:embed="rId7"/>
          <a:stretch>
            <a:fillRect/>
          </a:stretch>
        </p:blipFill>
        <p:spPr>
          <a:xfrm>
            <a:off x="4867942" y="4621244"/>
            <a:ext cx="298228" cy="298228"/>
          </a:xfrm>
          <a:prstGeom prst="rect">
            <a:avLst/>
          </a:prstGeom>
        </p:spPr>
      </p:pic>
      <p:sp>
        <p:nvSpPr>
          <p:cNvPr id="34" name="TextBox 33"/>
          <p:cNvSpPr txBox="1"/>
          <p:nvPr/>
        </p:nvSpPr>
        <p:spPr>
          <a:xfrm>
            <a:off x="5292376" y="4621244"/>
            <a:ext cx="2067782" cy="277940"/>
          </a:xfrm>
          <a:prstGeom prst="rect">
            <a:avLst/>
          </a:prstGeom>
          <a:noFill/>
        </p:spPr>
        <p:txBody>
          <a:bodyPr wrap="none" anchor="ctr" lIns="0" tIns="0" rIns="0" bIns="0">
            <a:noAutofit/>
          </a:bodyPr>
          <a:lstStyle/>
          <a:p>
            <a:pPr algn="l">
              <a:lnSpc>
                <a:spcPts val="2283"/>
              </a:lnSpc>
              <a:spcBef>
                <a:spcPts val="0"/>
              </a:spcBef>
              <a:spcAft>
                <a:spcPts val="0"/>
              </a:spcAft>
            </a:pPr>
            <a:r>
              <a:rPr sz="1985" b="1" i="0" u="none">
                <a:solidFill>
                  <a:srgbClr val="1F1E1E"/>
                </a:solidFill>
                <a:latin typeface="Arial"/>
              </a:rPr>
              <a:t>Still legible</a:t>
            </a:r>
          </a:p>
        </p:txBody>
      </p:sp>
      <p:sp>
        <p:nvSpPr>
          <p:cNvPr id="35" name="TextBox 34"/>
          <p:cNvSpPr txBox="1"/>
          <p:nvPr/>
        </p:nvSpPr>
        <p:spPr>
          <a:xfrm>
            <a:off x="5292376" y="4994720"/>
            <a:ext cx="2079177" cy="1087184"/>
          </a:xfrm>
          <a:prstGeom prst="rect">
            <a:avLst/>
          </a:prstGeom>
          <a:noFill/>
        </p:spPr>
        <p:txBody>
          <a:bodyPr wrap="square" anchor="ctr" lIns="0" tIns="0" rIns="0" bIns="0">
            <a:noAutofit/>
          </a:bodyPr>
          <a:lstStyle/>
          <a:p>
            <a:pPr algn="l">
              <a:lnSpc>
                <a:spcPts val="2193"/>
              </a:lnSpc>
              <a:spcBef>
                <a:spcPts val="0"/>
              </a:spcBef>
              <a:spcAft>
                <a:spcPts val="0"/>
              </a:spcAft>
            </a:pPr>
            <a:r>
              <a:rPr sz="1623" b="0" i="0" u="none">
                <a:solidFill>
                  <a:srgbClr val="3B3535"/>
                </a:solidFill>
                <a:latin typeface="Arial"/>
              </a:rPr>
              <a:t>The step-down is bounded, not open-ended.</a:t>
            </a:r>
          </a:p>
        </p:txBody>
      </p:sp>
      <p:sp>
        <p:nvSpPr>
          <p:cNvPr id="36" name="Rectangle 35"/>
          <p:cNvSpPr/>
          <p:nvPr/>
        </p:nvSpPr>
        <p:spPr>
          <a:xfrm>
            <a:off x="7666196" y="4474559"/>
            <a:ext cx="2454116" cy="16212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Rectangle 36"/>
          <p:cNvSpPr/>
          <p:nvPr/>
        </p:nvSpPr>
        <p:spPr>
          <a:xfrm>
            <a:off x="7666196" y="4474559"/>
            <a:ext cx="2454116"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8" name="Picture 37" descr="image.png"/>
          <p:cNvPicPr>
            <a:picLocks noChangeAspect="1"/>
          </p:cNvPicPr>
          <p:nvPr/>
        </p:nvPicPr>
        <p:blipFill>
          <a:blip r:embed="rId8"/>
          <a:stretch>
            <a:fillRect/>
          </a:stretch>
        </p:blipFill>
        <p:spPr>
          <a:xfrm>
            <a:off x="7666196" y="4621244"/>
            <a:ext cx="298228" cy="298228"/>
          </a:xfrm>
          <a:prstGeom prst="rect">
            <a:avLst/>
          </a:prstGeom>
        </p:spPr>
      </p:pic>
      <p:sp>
        <p:nvSpPr>
          <p:cNvPr id="39" name="TextBox 38"/>
          <p:cNvSpPr txBox="1"/>
          <p:nvPr/>
        </p:nvSpPr>
        <p:spPr>
          <a:xfrm>
            <a:off x="8090726" y="4621244"/>
            <a:ext cx="2067782" cy="277940"/>
          </a:xfrm>
          <a:prstGeom prst="rect">
            <a:avLst/>
          </a:prstGeom>
          <a:noFill/>
        </p:spPr>
        <p:txBody>
          <a:bodyPr wrap="none" anchor="ctr" lIns="0" tIns="0" rIns="0" bIns="0">
            <a:noAutofit/>
          </a:bodyPr>
          <a:lstStyle/>
          <a:p>
            <a:pPr algn="l">
              <a:lnSpc>
                <a:spcPts val="2283"/>
              </a:lnSpc>
              <a:spcBef>
                <a:spcPts val="0"/>
              </a:spcBef>
              <a:spcAft>
                <a:spcPts val="0"/>
              </a:spcAft>
            </a:pPr>
            <a:r>
              <a:rPr sz="1985" b="1" i="0" u="none">
                <a:solidFill>
                  <a:srgbClr val="1F1E1E"/>
                </a:solidFill>
                <a:latin typeface="Arial"/>
              </a:rPr>
              <a:t>Past that, split</a:t>
            </a:r>
          </a:p>
        </p:txBody>
      </p:sp>
      <p:sp>
        <p:nvSpPr>
          <p:cNvPr id="40" name="TextBox 39"/>
          <p:cNvSpPr txBox="1"/>
          <p:nvPr/>
        </p:nvSpPr>
        <p:spPr>
          <a:xfrm>
            <a:off x="8090726" y="4994720"/>
            <a:ext cx="2079177" cy="808292"/>
          </a:xfrm>
          <a:prstGeom prst="rect">
            <a:avLst/>
          </a:prstGeom>
          <a:noFill/>
        </p:spPr>
        <p:txBody>
          <a:bodyPr wrap="square" anchor="ctr" lIns="0" tIns="0" rIns="0" bIns="0">
            <a:noAutofit/>
          </a:bodyPr>
          <a:lstStyle/>
          <a:p>
            <a:pPr algn="l">
              <a:lnSpc>
                <a:spcPts val="2193"/>
              </a:lnSpc>
              <a:spcBef>
                <a:spcPts val="0"/>
              </a:spcBef>
              <a:spcAft>
                <a:spcPts val="0"/>
              </a:spcAft>
            </a:pPr>
            <a:r>
              <a:rPr sz="1623" b="0" i="0" u="none">
                <a:solidFill>
                  <a:srgbClr val="3B3535"/>
                </a:solidFill>
                <a:latin typeface="Arial"/>
              </a:rPr>
              <a:t>Two slides beat one unreadable one.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editorial: 8 concepts, a 4×2 grid</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Eight is the ceiling — a regular four-by-two grid, with the takeaway kept out of it:</a:t>
            </a:r>
          </a:p>
        </p:txBody>
      </p:sp>
      <p:sp>
        <p:nvSpPr>
          <p:cNvPr id="6" name="Rectangle 5"/>
          <p:cNvSpPr/>
          <p:nvPr/>
        </p:nvSpPr>
        <p:spPr>
          <a:xfrm>
            <a:off x="670465" y="2745391"/>
            <a:ext cx="2456498"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2745391"/>
            <a:ext cx="2456498"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670465" y="2890742"/>
            <a:ext cx="295466" cy="295466"/>
          </a:xfrm>
          <a:prstGeom prst="rect">
            <a:avLst/>
          </a:prstGeom>
        </p:spPr>
      </p:pic>
      <p:sp>
        <p:nvSpPr>
          <p:cNvPr id="9" name="TextBox 8"/>
          <p:cNvSpPr txBox="1"/>
          <p:nvPr/>
        </p:nvSpPr>
        <p:spPr>
          <a:xfrm>
            <a:off x="1090898" y="2890742"/>
            <a:ext cx="207406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Four by two</a:t>
            </a:r>
          </a:p>
        </p:txBody>
      </p:sp>
      <p:sp>
        <p:nvSpPr>
          <p:cNvPr id="10" name="TextBox 9"/>
          <p:cNvSpPr txBox="1"/>
          <p:nvPr/>
        </p:nvSpPr>
        <p:spPr>
          <a:xfrm>
            <a:off x="1090898" y="3260693"/>
            <a:ext cx="2085558"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A regular grid, no partial row.</a:t>
            </a:r>
          </a:p>
        </p:txBody>
      </p:sp>
      <p:sp>
        <p:nvSpPr>
          <p:cNvPr id="11" name="Rectangle 10"/>
          <p:cNvSpPr/>
          <p:nvPr/>
        </p:nvSpPr>
        <p:spPr>
          <a:xfrm>
            <a:off x="3467862" y="2745391"/>
            <a:ext cx="2456593"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3467862" y="2745391"/>
            <a:ext cx="2456593"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3467862" y="2890742"/>
            <a:ext cx="295466" cy="295466"/>
          </a:xfrm>
          <a:prstGeom prst="rect">
            <a:avLst/>
          </a:prstGeom>
        </p:spPr>
      </p:pic>
      <p:sp>
        <p:nvSpPr>
          <p:cNvPr id="14" name="TextBox 13"/>
          <p:cNvSpPr txBox="1"/>
          <p:nvPr/>
        </p:nvSpPr>
        <p:spPr>
          <a:xfrm>
            <a:off x="3888391" y="2890742"/>
            <a:ext cx="207425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Equal widths</a:t>
            </a:r>
          </a:p>
        </p:txBody>
      </p:sp>
      <p:sp>
        <p:nvSpPr>
          <p:cNvPr id="15" name="TextBox 14"/>
          <p:cNvSpPr txBox="1"/>
          <p:nvPr/>
        </p:nvSpPr>
        <p:spPr>
          <a:xfrm>
            <a:off x="3888391" y="3260693"/>
            <a:ext cx="2085752"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Every concept gets the same measure.</a:t>
            </a:r>
          </a:p>
        </p:txBody>
      </p:sp>
      <p:sp>
        <p:nvSpPr>
          <p:cNvPr id="16" name="Rectangle 15"/>
          <p:cNvSpPr/>
          <p:nvPr/>
        </p:nvSpPr>
        <p:spPr>
          <a:xfrm>
            <a:off x="6265450" y="2745391"/>
            <a:ext cx="2456498"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6265450" y="2745391"/>
            <a:ext cx="2456498"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4"/>
          <a:stretch>
            <a:fillRect/>
          </a:stretch>
        </p:blipFill>
        <p:spPr>
          <a:xfrm>
            <a:off x="6265450" y="2890742"/>
            <a:ext cx="295466" cy="295466"/>
          </a:xfrm>
          <a:prstGeom prst="rect">
            <a:avLst/>
          </a:prstGeom>
        </p:spPr>
      </p:pic>
      <p:sp>
        <p:nvSpPr>
          <p:cNvPr id="19" name="TextBox 18"/>
          <p:cNvSpPr txBox="1"/>
          <p:nvPr/>
        </p:nvSpPr>
        <p:spPr>
          <a:xfrm>
            <a:off x="6685883" y="2890742"/>
            <a:ext cx="207406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Row rules</a:t>
            </a:r>
          </a:p>
        </p:txBody>
      </p:sp>
      <p:sp>
        <p:nvSpPr>
          <p:cNvPr id="20" name="TextBox 19"/>
          <p:cNvSpPr txBox="1"/>
          <p:nvPr/>
        </p:nvSpPr>
        <p:spPr>
          <a:xfrm>
            <a:off x="6685883" y="3260693"/>
            <a:ext cx="2085558"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Hairlines mark the two rows.</a:t>
            </a:r>
          </a:p>
        </p:txBody>
      </p:sp>
      <p:sp>
        <p:nvSpPr>
          <p:cNvPr id="21" name="Rectangle 20"/>
          <p:cNvSpPr/>
          <p:nvPr/>
        </p:nvSpPr>
        <p:spPr>
          <a:xfrm>
            <a:off x="9062847" y="2745391"/>
            <a:ext cx="2456593"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9062847" y="2745391"/>
            <a:ext cx="2456593"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3" name="Picture 22" descr="image.png"/>
          <p:cNvPicPr>
            <a:picLocks noChangeAspect="1"/>
          </p:cNvPicPr>
          <p:nvPr/>
        </p:nvPicPr>
        <p:blipFill>
          <a:blip r:embed="rId5"/>
          <a:stretch>
            <a:fillRect/>
          </a:stretch>
        </p:blipFill>
        <p:spPr>
          <a:xfrm>
            <a:off x="9062847" y="2890742"/>
            <a:ext cx="295466" cy="295466"/>
          </a:xfrm>
          <a:prstGeom prst="rect">
            <a:avLst/>
          </a:prstGeom>
        </p:spPr>
      </p:pic>
      <p:sp>
        <p:nvSpPr>
          <p:cNvPr id="24" name="TextBox 23"/>
          <p:cNvSpPr txBox="1"/>
          <p:nvPr/>
        </p:nvSpPr>
        <p:spPr>
          <a:xfrm>
            <a:off x="9483280" y="2890742"/>
            <a:ext cx="207425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Small glyphs</a:t>
            </a:r>
          </a:p>
        </p:txBody>
      </p:sp>
      <p:sp>
        <p:nvSpPr>
          <p:cNvPr id="25" name="TextBox 24"/>
          <p:cNvSpPr txBox="1"/>
          <p:nvPr/>
        </p:nvSpPr>
        <p:spPr>
          <a:xfrm>
            <a:off x="9483280" y="3260693"/>
            <a:ext cx="2085752"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Icons support, they do not lead.</a:t>
            </a:r>
          </a:p>
        </p:txBody>
      </p:sp>
      <p:sp>
        <p:nvSpPr>
          <p:cNvPr id="26" name="Rectangle 25"/>
          <p:cNvSpPr/>
          <p:nvPr/>
        </p:nvSpPr>
        <p:spPr>
          <a:xfrm>
            <a:off x="670465" y="4181951"/>
            <a:ext cx="2456498"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Rectangle 26"/>
          <p:cNvSpPr/>
          <p:nvPr/>
        </p:nvSpPr>
        <p:spPr>
          <a:xfrm>
            <a:off x="670465" y="4181951"/>
            <a:ext cx="2456498"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8" name="Picture 27" descr="image.png"/>
          <p:cNvPicPr>
            <a:picLocks noChangeAspect="1"/>
          </p:cNvPicPr>
          <p:nvPr/>
        </p:nvPicPr>
        <p:blipFill>
          <a:blip r:embed="rId6"/>
          <a:stretch>
            <a:fillRect/>
          </a:stretch>
        </p:blipFill>
        <p:spPr>
          <a:xfrm>
            <a:off x="670465" y="4327208"/>
            <a:ext cx="295466" cy="295466"/>
          </a:xfrm>
          <a:prstGeom prst="rect">
            <a:avLst/>
          </a:prstGeom>
        </p:spPr>
      </p:pic>
      <p:sp>
        <p:nvSpPr>
          <p:cNvPr id="29" name="TextBox 28"/>
          <p:cNvSpPr txBox="1"/>
          <p:nvPr/>
        </p:nvSpPr>
        <p:spPr>
          <a:xfrm>
            <a:off x="1090898" y="4327208"/>
            <a:ext cx="207406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Aligned</a:t>
            </a:r>
          </a:p>
        </p:txBody>
      </p:sp>
      <p:sp>
        <p:nvSpPr>
          <p:cNvPr id="30" name="TextBox 29"/>
          <p:cNvSpPr txBox="1"/>
          <p:nvPr/>
        </p:nvSpPr>
        <p:spPr>
          <a:xfrm>
            <a:off x="1090898" y="4697158"/>
            <a:ext cx="2085558"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Labels in a row share a baseline.</a:t>
            </a:r>
          </a:p>
        </p:txBody>
      </p:sp>
      <p:sp>
        <p:nvSpPr>
          <p:cNvPr id="31" name="Rectangle 30"/>
          <p:cNvSpPr/>
          <p:nvPr/>
        </p:nvSpPr>
        <p:spPr>
          <a:xfrm>
            <a:off x="3467862" y="4181951"/>
            <a:ext cx="2456593"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Rectangle 31"/>
          <p:cNvSpPr/>
          <p:nvPr/>
        </p:nvSpPr>
        <p:spPr>
          <a:xfrm>
            <a:off x="3467862" y="4181951"/>
            <a:ext cx="2456593"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3" name="Picture 32" descr="image.png"/>
          <p:cNvPicPr>
            <a:picLocks noChangeAspect="1"/>
          </p:cNvPicPr>
          <p:nvPr/>
        </p:nvPicPr>
        <p:blipFill>
          <a:blip r:embed="rId7"/>
          <a:stretch>
            <a:fillRect/>
          </a:stretch>
        </p:blipFill>
        <p:spPr>
          <a:xfrm>
            <a:off x="3467862" y="4327208"/>
            <a:ext cx="295466" cy="295466"/>
          </a:xfrm>
          <a:prstGeom prst="rect">
            <a:avLst/>
          </a:prstGeom>
        </p:spPr>
      </p:pic>
      <p:sp>
        <p:nvSpPr>
          <p:cNvPr id="34" name="TextBox 33"/>
          <p:cNvSpPr txBox="1"/>
          <p:nvPr/>
        </p:nvSpPr>
        <p:spPr>
          <a:xfrm>
            <a:off x="3888391" y="4327208"/>
            <a:ext cx="207425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White space</a:t>
            </a:r>
          </a:p>
        </p:txBody>
      </p:sp>
      <p:sp>
        <p:nvSpPr>
          <p:cNvPr id="35" name="TextBox 34"/>
          <p:cNvSpPr txBox="1"/>
          <p:nvPr/>
        </p:nvSpPr>
        <p:spPr>
          <a:xfrm>
            <a:off x="3888391" y="4697158"/>
            <a:ext cx="2085752"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The row gap carries the separation.</a:t>
            </a:r>
          </a:p>
        </p:txBody>
      </p:sp>
      <p:sp>
        <p:nvSpPr>
          <p:cNvPr id="36" name="Rectangle 35"/>
          <p:cNvSpPr/>
          <p:nvPr/>
        </p:nvSpPr>
        <p:spPr>
          <a:xfrm>
            <a:off x="6265450" y="4181951"/>
            <a:ext cx="2456498"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Rectangle 36"/>
          <p:cNvSpPr/>
          <p:nvPr/>
        </p:nvSpPr>
        <p:spPr>
          <a:xfrm>
            <a:off x="6265450" y="4181951"/>
            <a:ext cx="2456498"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8" name="Picture 37" descr="image.png"/>
          <p:cNvPicPr>
            <a:picLocks noChangeAspect="1"/>
          </p:cNvPicPr>
          <p:nvPr/>
        </p:nvPicPr>
        <p:blipFill>
          <a:blip r:embed="rId8"/>
          <a:stretch>
            <a:fillRect/>
          </a:stretch>
        </p:blipFill>
        <p:spPr>
          <a:xfrm>
            <a:off x="6265450" y="4327208"/>
            <a:ext cx="295466" cy="295466"/>
          </a:xfrm>
          <a:prstGeom prst="rect">
            <a:avLst/>
          </a:prstGeom>
        </p:spPr>
      </p:pic>
      <p:sp>
        <p:nvSpPr>
          <p:cNvPr id="39" name="TextBox 38"/>
          <p:cNvSpPr txBox="1"/>
          <p:nvPr/>
        </p:nvSpPr>
        <p:spPr>
          <a:xfrm>
            <a:off x="6685883" y="4327208"/>
            <a:ext cx="207406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Scans fast</a:t>
            </a:r>
          </a:p>
        </p:txBody>
      </p:sp>
      <p:sp>
        <p:nvSpPr>
          <p:cNvPr id="40" name="TextBox 39"/>
          <p:cNvSpPr txBox="1"/>
          <p:nvPr/>
        </p:nvSpPr>
        <p:spPr>
          <a:xfrm>
            <a:off x="6685883" y="4697158"/>
            <a:ext cx="2085558"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Eight flat blocks stay readable.</a:t>
            </a:r>
          </a:p>
        </p:txBody>
      </p:sp>
      <p:sp>
        <p:nvSpPr>
          <p:cNvPr id="41" name="Rectangle 40"/>
          <p:cNvSpPr/>
          <p:nvPr/>
        </p:nvSpPr>
        <p:spPr>
          <a:xfrm>
            <a:off x="9062847" y="4181951"/>
            <a:ext cx="2456593" cy="10500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Rectangle 41"/>
          <p:cNvSpPr/>
          <p:nvPr/>
        </p:nvSpPr>
        <p:spPr>
          <a:xfrm>
            <a:off x="9062847" y="4181951"/>
            <a:ext cx="2456593" cy="9525"/>
          </a:xfrm>
          <a:prstGeom prst="rect">
            <a:avLst/>
          </a:prstGeom>
          <a:solidFill>
            <a:srgbClr val="D8D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43" name="Picture 42" descr="image.png"/>
          <p:cNvPicPr>
            <a:picLocks noChangeAspect="1"/>
          </p:cNvPicPr>
          <p:nvPr/>
        </p:nvPicPr>
        <p:blipFill>
          <a:blip r:embed="rId9"/>
          <a:stretch>
            <a:fillRect/>
          </a:stretch>
        </p:blipFill>
        <p:spPr>
          <a:xfrm>
            <a:off x="9062847" y="4327208"/>
            <a:ext cx="295466" cy="295466"/>
          </a:xfrm>
          <a:prstGeom prst="rect">
            <a:avLst/>
          </a:prstGeom>
        </p:spPr>
      </p:pic>
      <p:sp>
        <p:nvSpPr>
          <p:cNvPr id="44" name="TextBox 43"/>
          <p:cNvSpPr txBox="1"/>
          <p:nvPr/>
        </p:nvSpPr>
        <p:spPr>
          <a:xfrm>
            <a:off x="9483280" y="4327208"/>
            <a:ext cx="2074259" cy="275272"/>
          </a:xfrm>
          <a:prstGeom prst="rect">
            <a:avLst/>
          </a:prstGeom>
          <a:noFill/>
        </p:spPr>
        <p:txBody>
          <a:bodyPr wrap="none" anchor="ctr" lIns="0" tIns="0" rIns="0" bIns="0">
            <a:noAutofit/>
          </a:bodyPr>
          <a:lstStyle/>
          <a:p>
            <a:pPr algn="l">
              <a:lnSpc>
                <a:spcPts val="2259"/>
              </a:lnSpc>
              <a:spcBef>
                <a:spcPts val="0"/>
              </a:spcBef>
              <a:spcAft>
                <a:spcPts val="0"/>
              </a:spcAft>
            </a:pPr>
            <a:r>
              <a:rPr sz="1964" b="1" i="0" u="none">
                <a:solidFill>
                  <a:srgbClr val="1F1E1E"/>
                </a:solidFill>
                <a:latin typeface="Arial"/>
              </a:rPr>
              <a:t>The ceiling</a:t>
            </a:r>
          </a:p>
        </p:txBody>
      </p:sp>
      <p:sp>
        <p:nvSpPr>
          <p:cNvPr id="45" name="TextBox 44"/>
          <p:cNvSpPr txBox="1"/>
          <p:nvPr/>
        </p:nvSpPr>
        <p:spPr>
          <a:xfrm>
            <a:off x="9483280" y="4697158"/>
            <a:ext cx="2085752" cy="534829"/>
          </a:xfrm>
          <a:prstGeom prst="rect">
            <a:avLst/>
          </a:prstGeom>
          <a:noFill/>
        </p:spPr>
        <p:txBody>
          <a:bodyPr wrap="square" anchor="ctr" lIns="0" tIns="0" rIns="0" bIns="0">
            <a:noAutofit/>
          </a:bodyPr>
          <a:lstStyle/>
          <a:p>
            <a:pPr algn="l">
              <a:lnSpc>
                <a:spcPts val="2169"/>
              </a:lnSpc>
              <a:spcBef>
                <a:spcPts val="0"/>
              </a:spcBef>
              <a:spcAft>
                <a:spcPts val="0"/>
              </a:spcAft>
            </a:pPr>
            <a:r>
              <a:rPr sz="1607" b="0" i="0" u="none">
                <a:solidFill>
                  <a:srgbClr val="3B3535"/>
                </a:solidFill>
                <a:latin typeface="Arial"/>
              </a:rPr>
              <a:t>A ninth concept means a second slide.</a:t>
            </a:r>
          </a:p>
        </p:txBody>
      </p:sp>
      <p:sp>
        <p:nvSpPr>
          <p:cNvPr id="46" name="Rounded Rectangle 45"/>
          <p:cNvSpPr/>
          <p:nvPr/>
        </p:nvSpPr>
        <p:spPr>
          <a:xfrm>
            <a:off x="670465" y="5736622"/>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7" name="Rectangle 46"/>
          <p:cNvSpPr/>
          <p:nvPr/>
        </p:nvSpPr>
        <p:spPr>
          <a:xfrm>
            <a:off x="670465" y="5736622"/>
            <a:ext cx="57150" cy="51177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48" name="Picture 47" descr="image.png"/>
          <p:cNvPicPr>
            <a:picLocks noChangeAspect="1"/>
          </p:cNvPicPr>
          <p:nvPr/>
        </p:nvPicPr>
        <p:blipFill>
          <a:blip r:embed="rId10"/>
          <a:stretch>
            <a:fillRect/>
          </a:stretch>
        </p:blipFill>
        <p:spPr>
          <a:xfrm>
            <a:off x="886016" y="5882735"/>
            <a:ext cx="243745" cy="243745"/>
          </a:xfrm>
          <a:prstGeom prst="rect">
            <a:avLst/>
          </a:prstGeom>
        </p:spPr>
      </p:pic>
      <p:sp>
        <p:nvSpPr>
          <p:cNvPr id="49" name="TextBox 48"/>
          <p:cNvSpPr txBox="1"/>
          <p:nvPr/>
        </p:nvSpPr>
        <p:spPr>
          <a:xfrm>
            <a:off x="1251680" y="5877496"/>
            <a:ext cx="8118253"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1F1E1E"/>
                </a:solidFill>
                <a:latin typeface="Arial"/>
              </a:rPr>
              <a:t>A conclusion stays a full-width band under the grid — it is a comment on the set, never a ninth cell in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6701679"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aside: a full-bleed image column on the right</a:t>
            </a:r>
          </a:p>
        </p:txBody>
      </p:sp>
      <p:sp>
        <p:nvSpPr>
          <p:cNvPr id="5" name="TextBox 4"/>
          <p:cNvSpPr txBox="1"/>
          <p:nvPr/>
        </p:nvSpPr>
        <p:spPr>
          <a:xfrm>
            <a:off x="670465" y="2187607"/>
            <a:ext cx="66219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The image reinforces the point; the text carries it.</a:t>
            </a:r>
          </a:p>
        </p:txBody>
      </p:sp>
      <p:sp>
        <p:nvSpPr>
          <p:cNvPr id="6" name="Rounded Rectangle 5"/>
          <p:cNvSpPr/>
          <p:nvPr/>
        </p:nvSpPr>
        <p:spPr>
          <a:xfrm>
            <a:off x="670465" y="2745391"/>
            <a:ext cx="3193352" cy="1881759"/>
          </a:xfrm>
          <a:prstGeom prst="roundRect">
            <a:avLst>
              <a:gd name="adj" fmla="val 129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882968" y="2993326"/>
            <a:ext cx="513588" cy="513588"/>
          </a:xfrm>
          <a:prstGeom prst="rect">
            <a:avLst/>
          </a:prstGeom>
        </p:spPr>
      </p:pic>
      <p:sp>
        <p:nvSpPr>
          <p:cNvPr id="8" name="TextBox 7"/>
          <p:cNvSpPr txBox="1"/>
          <p:nvPr/>
        </p:nvSpPr>
        <p:spPr>
          <a:xfrm>
            <a:off x="1547146" y="2986373"/>
            <a:ext cx="2154780" cy="962025"/>
          </a:xfrm>
          <a:prstGeom prst="rect">
            <a:avLst/>
          </a:prstGeom>
          <a:noFill/>
        </p:spPr>
        <p:txBody>
          <a:bodyPr wrap="square" anchor="ctr" lIns="0" tIns="0" rIns="0" bIns="0">
            <a:noAutofit/>
          </a:bodyPr>
          <a:lstStyle/>
          <a:p>
            <a:pPr algn="l">
              <a:lnSpc>
                <a:spcPts val="2235"/>
              </a:lnSpc>
              <a:spcBef>
                <a:spcPts val="0"/>
              </a:spcBef>
              <a:spcAft>
                <a:spcPts val="0"/>
              </a:spcAft>
            </a:pPr>
            <a:r>
              <a:rPr sz="2032" b="1" i="0" u="none">
                <a:solidFill>
                  <a:srgbClr val="1F1E1E"/>
                </a:solidFill>
                <a:latin typeface="Arial"/>
              </a:rPr>
              <a:t>Atmosphere, not information</a:t>
            </a:r>
          </a:p>
        </p:txBody>
      </p:sp>
      <p:sp>
        <p:nvSpPr>
          <p:cNvPr id="9" name="TextBox 8"/>
          <p:cNvSpPr txBox="1"/>
          <p:nvPr/>
        </p:nvSpPr>
        <p:spPr>
          <a:xfrm>
            <a:off x="1547146" y="3616357"/>
            <a:ext cx="2154877" cy="739235"/>
          </a:xfrm>
          <a:prstGeom prst="rect">
            <a:avLst/>
          </a:prstGeom>
          <a:noFill/>
        </p:spPr>
        <p:txBody>
          <a:bodyPr wrap="square" anchor="ctr" lIns="0" tIns="0" rIns="0" bIns="0">
            <a:noAutofit/>
          </a:bodyPr>
          <a:lstStyle/>
          <a:p>
            <a:pPr algn="l">
              <a:lnSpc>
                <a:spcPts val="2050"/>
              </a:lnSpc>
              <a:spcBef>
                <a:spcPts val="0"/>
              </a:spcBef>
              <a:spcAft>
                <a:spcPts val="0"/>
              </a:spcAft>
            </a:pPr>
            <a:r>
              <a:rPr sz="1577" b="0" i="0" u="none">
                <a:solidFill>
                  <a:srgbClr val="3B3535"/>
                </a:solidFill>
                <a:latin typeface="Arial"/>
              </a:rPr>
              <a:t>The column crops to fill, so nothing in it needs to be read closely.</a:t>
            </a:r>
          </a:p>
        </p:txBody>
      </p:sp>
      <p:sp>
        <p:nvSpPr>
          <p:cNvPr id="10" name="Rounded Rectangle 9"/>
          <p:cNvSpPr/>
          <p:nvPr/>
        </p:nvSpPr>
        <p:spPr>
          <a:xfrm>
            <a:off x="4058602" y="2745391"/>
            <a:ext cx="3193447" cy="1881759"/>
          </a:xfrm>
          <a:prstGeom prst="roundRect">
            <a:avLst>
              <a:gd name="adj" fmla="val 129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4271105" y="2993326"/>
            <a:ext cx="513588" cy="513588"/>
          </a:xfrm>
          <a:prstGeom prst="rect">
            <a:avLst/>
          </a:prstGeom>
        </p:spPr>
      </p:pic>
      <p:sp>
        <p:nvSpPr>
          <p:cNvPr id="12" name="TextBox 11"/>
          <p:cNvSpPr txBox="1"/>
          <p:nvPr/>
        </p:nvSpPr>
        <p:spPr>
          <a:xfrm>
            <a:off x="4935284" y="2986373"/>
            <a:ext cx="2142363" cy="290608"/>
          </a:xfrm>
          <a:prstGeom prst="rect">
            <a:avLst/>
          </a:prstGeom>
          <a:noFill/>
        </p:spPr>
        <p:txBody>
          <a:bodyPr wrap="none" anchor="ctr" lIns="0" tIns="0" rIns="0" bIns="0">
            <a:noAutofit/>
          </a:bodyPr>
          <a:lstStyle/>
          <a:p>
            <a:pPr algn="l">
              <a:lnSpc>
                <a:spcPts val="2235"/>
              </a:lnSpc>
              <a:spcBef>
                <a:spcPts val="0"/>
              </a:spcBef>
              <a:spcAft>
                <a:spcPts val="0"/>
              </a:spcAft>
            </a:pPr>
            <a:r>
              <a:rPr sz="2032" b="1" i="0" u="none">
                <a:solidFill>
                  <a:srgbClr val="1F1E1E"/>
                </a:solidFill>
                <a:latin typeface="Arial"/>
              </a:rPr>
              <a:t>Default side</a:t>
            </a:r>
          </a:p>
        </p:txBody>
      </p:sp>
      <p:sp>
        <p:nvSpPr>
          <p:cNvPr id="13" name="TextBox 12"/>
          <p:cNvSpPr txBox="1"/>
          <p:nvPr/>
        </p:nvSpPr>
        <p:spPr>
          <a:xfrm>
            <a:off x="4935284" y="3333845"/>
            <a:ext cx="2154877" cy="951928"/>
          </a:xfrm>
          <a:prstGeom prst="rect">
            <a:avLst/>
          </a:prstGeom>
          <a:noFill/>
        </p:spPr>
        <p:txBody>
          <a:bodyPr wrap="square" anchor="ctr" lIns="0" tIns="0" rIns="0" bIns="0">
            <a:noAutofit/>
          </a:bodyPr>
          <a:lstStyle/>
          <a:p>
            <a:pPr algn="l">
              <a:lnSpc>
                <a:spcPts val="2050"/>
              </a:lnSpc>
              <a:spcBef>
                <a:spcPts val="0"/>
              </a:spcBef>
              <a:spcAft>
                <a:spcPts val="0"/>
              </a:spcAft>
            </a:pPr>
            <a:r>
              <a:rPr sz="1577" b="0" i="0" u="none">
                <a:solidFill>
                  <a:srgbClr val="3B3535"/>
                </a:solidFill>
                <a:latin typeface="Arial"/>
              </a:rPr>
              <a:t>An aside sits on the right unless the hint says left.</a:t>
            </a:r>
          </a:p>
        </p:txBody>
      </p:sp>
      <p:sp>
        <p:nvSpPr>
          <p:cNvPr id="14" name="Rounded Rectangle 13"/>
          <p:cNvSpPr/>
          <p:nvPr/>
        </p:nvSpPr>
        <p:spPr>
          <a:xfrm>
            <a:off x="670465" y="4822031"/>
            <a:ext cx="6581584" cy="1340358"/>
          </a:xfrm>
          <a:prstGeom prst="roundRect">
            <a:avLst>
              <a:gd name="adj" fmla="val 1819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4"/>
          <a:stretch>
            <a:fillRect/>
          </a:stretch>
        </p:blipFill>
        <p:spPr>
          <a:xfrm>
            <a:off x="882968" y="5069872"/>
            <a:ext cx="513588" cy="513588"/>
          </a:xfrm>
          <a:prstGeom prst="rect">
            <a:avLst/>
          </a:prstGeom>
        </p:spPr>
      </p:pic>
      <p:sp>
        <p:nvSpPr>
          <p:cNvPr id="16" name="TextBox 15"/>
          <p:cNvSpPr txBox="1"/>
          <p:nvPr/>
        </p:nvSpPr>
        <p:spPr>
          <a:xfrm>
            <a:off x="1547146" y="5062918"/>
            <a:ext cx="5530501" cy="290608"/>
          </a:xfrm>
          <a:prstGeom prst="rect">
            <a:avLst/>
          </a:prstGeom>
          <a:noFill/>
        </p:spPr>
        <p:txBody>
          <a:bodyPr wrap="none" anchor="ctr" lIns="0" tIns="0" rIns="0" bIns="0">
            <a:noAutofit/>
          </a:bodyPr>
          <a:lstStyle/>
          <a:p>
            <a:pPr algn="l">
              <a:lnSpc>
                <a:spcPts val="2235"/>
              </a:lnSpc>
              <a:spcBef>
                <a:spcPts val="0"/>
              </a:spcBef>
              <a:spcAft>
                <a:spcPts val="0"/>
              </a:spcAft>
            </a:pPr>
            <a:r>
              <a:rPr sz="2032" b="1" i="0" u="none">
                <a:solidFill>
                  <a:srgbClr val="1F1E1E"/>
                </a:solidFill>
                <a:latin typeface="Arial"/>
              </a:rPr>
              <a:t>Any stage-based type</a:t>
            </a:r>
          </a:p>
        </p:txBody>
      </p:sp>
      <p:sp>
        <p:nvSpPr>
          <p:cNvPr id="17" name="TextBox 16"/>
          <p:cNvSpPr txBox="1"/>
          <p:nvPr/>
        </p:nvSpPr>
        <p:spPr>
          <a:xfrm>
            <a:off x="1547146" y="5410390"/>
            <a:ext cx="5593837" cy="480346"/>
          </a:xfrm>
          <a:prstGeom prst="rect">
            <a:avLst/>
          </a:prstGeom>
          <a:noFill/>
        </p:spPr>
        <p:txBody>
          <a:bodyPr wrap="square" anchor="ctr" lIns="0" tIns="0" rIns="0" bIns="0">
            <a:noAutofit/>
          </a:bodyPr>
          <a:lstStyle/>
          <a:p>
            <a:pPr algn="l">
              <a:lnSpc>
                <a:spcPts val="2050"/>
              </a:lnSpc>
              <a:spcBef>
                <a:spcPts val="0"/>
              </a:spcBef>
              <a:spcAft>
                <a:spcPts val="0"/>
              </a:spcAft>
            </a:pPr>
            <a:r>
              <a:rPr sz="1577" b="0" i="0" u="none">
                <a:solidFill>
                  <a:srgbClr val="3B3535"/>
                </a:solidFill>
                <a:latin typeface="Arial"/>
              </a:rPr>
              <a:t>The stage macro adds it, so every content template supports it.</a:t>
            </a:r>
          </a:p>
        </p:txBody>
      </p:sp>
      <p:pic>
        <p:nvPicPr>
          <p:cNvPr id="18" name="Picture 17" descr="image.jpg"/>
          <p:cNvPicPr>
            <a:picLocks noChangeAspect="1"/>
          </p:cNvPicPr>
          <p:nvPr/>
        </p:nvPicPr>
        <p:blipFill>
          <a:blip r:embed="rId5"/>
          <a:stretch>
            <a:fillRect/>
          </a:stretch>
        </p:blipFill>
        <p:spPr>
          <a:xfrm>
            <a:off x="7681055" y="0"/>
            <a:ext cx="451094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9376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51082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4937665" y="896112"/>
            <a:ext cx="6701679"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aside: the same column, on the left</a:t>
            </a:r>
          </a:p>
        </p:txBody>
      </p:sp>
      <p:sp>
        <p:nvSpPr>
          <p:cNvPr id="5" name="Rounded Rectangle 4"/>
          <p:cNvSpPr/>
          <p:nvPr/>
        </p:nvSpPr>
        <p:spPr>
          <a:xfrm>
            <a:off x="4937665" y="2328577"/>
            <a:ext cx="3156776" cy="3303365"/>
          </a:xfrm>
          <a:prstGeom prst="roundRect">
            <a:avLst>
              <a:gd name="adj" fmla="val 772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5230273" y="2669858"/>
            <a:ext cx="707041" cy="707041"/>
          </a:xfrm>
          <a:prstGeom prst="rect">
            <a:avLst/>
          </a:prstGeom>
        </p:spPr>
      </p:pic>
      <p:sp>
        <p:nvSpPr>
          <p:cNvPr id="7" name="TextBox 6"/>
          <p:cNvSpPr txBox="1"/>
          <p:nvPr/>
        </p:nvSpPr>
        <p:spPr>
          <a:xfrm>
            <a:off x="6144482" y="2660332"/>
            <a:ext cx="16954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side: left</a:t>
            </a:r>
          </a:p>
        </p:txBody>
      </p:sp>
      <p:sp>
        <p:nvSpPr>
          <p:cNvPr id="8" name="TextBox 7"/>
          <p:cNvSpPr txBox="1"/>
          <p:nvPr/>
        </p:nvSpPr>
        <p:spPr>
          <a:xfrm>
            <a:off x="6144482" y="3138678"/>
            <a:ext cx="1701260" cy="2087213"/>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hint's optional side moves the column to the other edge.</a:t>
            </a:r>
          </a:p>
        </p:txBody>
      </p:sp>
      <p:sp>
        <p:nvSpPr>
          <p:cNvPr id="9" name="Rounded Rectangle 8"/>
          <p:cNvSpPr/>
          <p:nvPr/>
        </p:nvSpPr>
        <p:spPr>
          <a:xfrm>
            <a:off x="8362664" y="2328577"/>
            <a:ext cx="3156776" cy="3303365"/>
          </a:xfrm>
          <a:prstGeom prst="roundRect">
            <a:avLst>
              <a:gd name="adj" fmla="val 772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8655272" y="2669858"/>
            <a:ext cx="707041" cy="707041"/>
          </a:xfrm>
          <a:prstGeom prst="rect">
            <a:avLst/>
          </a:prstGeom>
        </p:spPr>
      </p:pic>
      <p:sp>
        <p:nvSpPr>
          <p:cNvPr id="11" name="TextBox 10"/>
          <p:cNvSpPr txBox="1"/>
          <p:nvPr/>
        </p:nvSpPr>
        <p:spPr>
          <a:xfrm>
            <a:off x="9569482" y="2660332"/>
            <a:ext cx="1701260" cy="1177862"/>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Content reflows</a:t>
            </a:r>
          </a:p>
        </p:txBody>
      </p:sp>
      <p:sp>
        <p:nvSpPr>
          <p:cNvPr id="12" name="TextBox 11"/>
          <p:cNvSpPr txBox="1"/>
          <p:nvPr/>
        </p:nvSpPr>
        <p:spPr>
          <a:xfrm>
            <a:off x="9569482" y="3527488"/>
            <a:ext cx="1701260" cy="1763078"/>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stage pads whichever side the image takes.</a:t>
            </a:r>
          </a:p>
        </p:txBody>
      </p:sp>
      <p:pic>
        <p:nvPicPr>
          <p:cNvPr id="13" name="Picture 12" descr="image.jpg"/>
          <p:cNvPicPr>
            <a:picLocks noChangeAspect="1"/>
          </p:cNvPicPr>
          <p:nvPr/>
        </p:nvPicPr>
        <p:blipFill>
          <a:blip r:embed="rId4"/>
          <a:stretch>
            <a:fillRect/>
          </a:stretch>
        </p:blipFill>
        <p:spPr>
          <a:xfrm>
            <a:off x="0" y="0"/>
            <a:ext cx="451094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format row · 3 short cards</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 lead line sits above a single horizontal row of three to five short cards:</a:t>
            </a:r>
          </a:p>
        </p:txBody>
      </p:sp>
      <p:sp>
        <p:nvSpPr>
          <p:cNvPr id="6" name="Rounded Rectangle 5"/>
          <p:cNvSpPr/>
          <p:nvPr/>
        </p:nvSpPr>
        <p:spPr>
          <a:xfrm>
            <a:off x="670465" y="2745391"/>
            <a:ext cx="3437477" cy="3044857"/>
          </a:xfrm>
          <a:prstGeom prst="roundRect">
            <a:avLst>
              <a:gd name="adj" fmla="val 800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Oval 6"/>
          <p:cNvSpPr/>
          <p:nvPr/>
        </p:nvSpPr>
        <p:spPr>
          <a:xfrm>
            <a:off x="938689" y="3062288"/>
            <a:ext cx="731520" cy="7315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1077658" y="3201257"/>
            <a:ext cx="453485" cy="453485"/>
          </a:xfrm>
          <a:prstGeom prst="rect">
            <a:avLst/>
          </a:prstGeom>
        </p:spPr>
      </p:pic>
      <p:sp>
        <p:nvSpPr>
          <p:cNvPr id="9" name="TextBox 8"/>
          <p:cNvSpPr txBox="1"/>
          <p:nvPr/>
        </p:nvSpPr>
        <p:spPr>
          <a:xfrm>
            <a:off x="938689" y="3911537"/>
            <a:ext cx="2939224" cy="381000"/>
          </a:xfrm>
          <a:prstGeom prst="rect">
            <a:avLst/>
          </a:prstGeom>
          <a:noFill/>
        </p:spPr>
        <p:txBody>
          <a:bodyPr wrap="none" anchor="ctr" lIns="0" tIns="0" rIns="0" bIns="0">
            <a:noAutofit/>
          </a:bodyPr>
          <a:lstStyle/>
          <a:p>
            <a:pPr algn="l">
              <a:lnSpc>
                <a:spcPts val="2688"/>
              </a:lnSpc>
              <a:spcBef>
                <a:spcPts val="0"/>
              </a:spcBef>
              <a:spcAft>
                <a:spcPts val="0"/>
              </a:spcAft>
            </a:pPr>
            <a:r>
              <a:rPr sz="2688" b="1" i="0" u="none">
                <a:solidFill>
                  <a:srgbClr val="1F1E1E"/>
                </a:solidFill>
                <a:latin typeface="Arial"/>
              </a:rPr>
              <a:t>Lead</a:t>
            </a:r>
          </a:p>
        </p:txBody>
      </p:sp>
      <p:sp>
        <p:nvSpPr>
          <p:cNvPr id="10" name="TextBox 9"/>
          <p:cNvSpPr txBox="1"/>
          <p:nvPr/>
        </p:nvSpPr>
        <p:spPr>
          <a:xfrm>
            <a:off x="938689" y="4446842"/>
            <a:ext cx="2963691" cy="992505"/>
          </a:xfrm>
          <a:prstGeom prst="rect">
            <a:avLst/>
          </a:prstGeom>
          <a:noFill/>
        </p:spPr>
        <p:txBody>
          <a:bodyPr wrap="square" anchor="ctr" lIns="0" tIns="0" rIns="0" bIns="0">
            <a:noAutofit/>
          </a:bodyPr>
          <a:lstStyle/>
          <a:p>
            <a:pPr algn="l">
              <a:lnSpc>
                <a:spcPts val="2746"/>
              </a:lnSpc>
              <a:spcBef>
                <a:spcPts val="0"/>
              </a:spcBef>
              <a:spcAft>
                <a:spcPts val="0"/>
              </a:spcAft>
            </a:pPr>
            <a:r>
              <a:rPr sz="2112" b="0" i="0" u="none">
                <a:solidFill>
                  <a:srgbClr val="3B3535"/>
                </a:solidFill>
                <a:latin typeface="Arial"/>
              </a:rPr>
              <a:t>One framing sentence introduces the row.</a:t>
            </a:r>
          </a:p>
        </p:txBody>
      </p:sp>
      <p:sp>
        <p:nvSpPr>
          <p:cNvPr id="11" name="Rounded Rectangle 10"/>
          <p:cNvSpPr/>
          <p:nvPr/>
        </p:nvSpPr>
        <p:spPr>
          <a:xfrm>
            <a:off x="4376166" y="2745391"/>
            <a:ext cx="3437477" cy="3044857"/>
          </a:xfrm>
          <a:prstGeom prst="roundRect">
            <a:avLst>
              <a:gd name="adj" fmla="val 800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Oval 11"/>
          <p:cNvSpPr/>
          <p:nvPr/>
        </p:nvSpPr>
        <p:spPr>
          <a:xfrm>
            <a:off x="4644295" y="3062288"/>
            <a:ext cx="731520" cy="7315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3"/>
          <a:stretch>
            <a:fillRect/>
          </a:stretch>
        </p:blipFill>
        <p:spPr>
          <a:xfrm>
            <a:off x="4783360" y="3201257"/>
            <a:ext cx="453485" cy="453485"/>
          </a:xfrm>
          <a:prstGeom prst="rect">
            <a:avLst/>
          </a:prstGeom>
        </p:spPr>
      </p:pic>
      <p:sp>
        <p:nvSpPr>
          <p:cNvPr id="14" name="TextBox 13"/>
          <p:cNvSpPr txBox="1"/>
          <p:nvPr/>
        </p:nvSpPr>
        <p:spPr>
          <a:xfrm>
            <a:off x="4644295" y="3911537"/>
            <a:ext cx="2939224" cy="381000"/>
          </a:xfrm>
          <a:prstGeom prst="rect">
            <a:avLst/>
          </a:prstGeom>
          <a:noFill/>
        </p:spPr>
        <p:txBody>
          <a:bodyPr wrap="none" anchor="ctr" lIns="0" tIns="0" rIns="0" bIns="0">
            <a:noAutofit/>
          </a:bodyPr>
          <a:lstStyle/>
          <a:p>
            <a:pPr algn="l">
              <a:lnSpc>
                <a:spcPts val="2688"/>
              </a:lnSpc>
              <a:spcBef>
                <a:spcPts val="0"/>
              </a:spcBef>
              <a:spcAft>
                <a:spcPts val="0"/>
              </a:spcAft>
            </a:pPr>
            <a:r>
              <a:rPr sz="2688" b="1" i="0" u="none">
                <a:solidFill>
                  <a:srgbClr val="1F1E1E"/>
                </a:solidFill>
                <a:latin typeface="Arial"/>
              </a:rPr>
              <a:t>Short</a:t>
            </a:r>
          </a:p>
        </p:txBody>
      </p:sp>
      <p:sp>
        <p:nvSpPr>
          <p:cNvPr id="15" name="TextBox 14"/>
          <p:cNvSpPr txBox="1"/>
          <p:nvPr/>
        </p:nvSpPr>
        <p:spPr>
          <a:xfrm>
            <a:off x="4644295" y="4446842"/>
            <a:ext cx="2963691" cy="992505"/>
          </a:xfrm>
          <a:prstGeom prst="rect">
            <a:avLst/>
          </a:prstGeom>
          <a:noFill/>
        </p:spPr>
        <p:txBody>
          <a:bodyPr wrap="square" anchor="ctr" lIns="0" tIns="0" rIns="0" bIns="0">
            <a:noAutofit/>
          </a:bodyPr>
          <a:lstStyle/>
          <a:p>
            <a:pPr algn="l">
              <a:lnSpc>
                <a:spcPts val="2746"/>
              </a:lnSpc>
              <a:spcBef>
                <a:spcPts val="0"/>
              </a:spcBef>
              <a:spcAft>
                <a:spcPts val="0"/>
              </a:spcAft>
            </a:pPr>
            <a:r>
              <a:rPr sz="2112" b="0" i="0" u="none">
                <a:solidFill>
                  <a:srgbClr val="3B3535"/>
                </a:solidFill>
                <a:latin typeface="Arial"/>
              </a:rPr>
              <a:t>Each body stays under about eighty characters.</a:t>
            </a:r>
          </a:p>
        </p:txBody>
      </p:sp>
      <p:sp>
        <p:nvSpPr>
          <p:cNvPr id="16" name="Rounded Rectangle 15"/>
          <p:cNvSpPr/>
          <p:nvPr/>
        </p:nvSpPr>
        <p:spPr>
          <a:xfrm>
            <a:off x="8081772" y="2745391"/>
            <a:ext cx="3437668" cy="3044857"/>
          </a:xfrm>
          <a:prstGeom prst="roundRect">
            <a:avLst>
              <a:gd name="adj" fmla="val 800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Oval 16"/>
          <p:cNvSpPr/>
          <p:nvPr/>
        </p:nvSpPr>
        <p:spPr>
          <a:xfrm>
            <a:off x="8349996" y="3062288"/>
            <a:ext cx="731520" cy="7315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4"/>
          <a:stretch>
            <a:fillRect/>
          </a:stretch>
        </p:blipFill>
        <p:spPr>
          <a:xfrm>
            <a:off x="8488966" y="3201257"/>
            <a:ext cx="453485" cy="453485"/>
          </a:xfrm>
          <a:prstGeom prst="rect">
            <a:avLst/>
          </a:prstGeom>
        </p:spPr>
      </p:pic>
      <p:sp>
        <p:nvSpPr>
          <p:cNvPr id="19" name="TextBox 18"/>
          <p:cNvSpPr txBox="1"/>
          <p:nvPr/>
        </p:nvSpPr>
        <p:spPr>
          <a:xfrm>
            <a:off x="8349996" y="3911537"/>
            <a:ext cx="2939320" cy="381000"/>
          </a:xfrm>
          <a:prstGeom prst="rect">
            <a:avLst/>
          </a:prstGeom>
          <a:noFill/>
        </p:spPr>
        <p:txBody>
          <a:bodyPr wrap="none" anchor="ctr" lIns="0" tIns="0" rIns="0" bIns="0">
            <a:noAutofit/>
          </a:bodyPr>
          <a:lstStyle/>
          <a:p>
            <a:pPr algn="l">
              <a:lnSpc>
                <a:spcPts val="2688"/>
              </a:lnSpc>
              <a:spcBef>
                <a:spcPts val="0"/>
              </a:spcBef>
              <a:spcAft>
                <a:spcPts val="0"/>
              </a:spcAft>
            </a:pPr>
            <a:r>
              <a:rPr sz="2688" b="1" i="0" u="none">
                <a:solidFill>
                  <a:srgbClr val="1F1E1E"/>
                </a:solidFill>
                <a:latin typeface="Arial"/>
              </a:rPr>
              <a:t>One row</a:t>
            </a:r>
          </a:p>
        </p:txBody>
      </p:sp>
      <p:sp>
        <p:nvSpPr>
          <p:cNvPr id="20" name="TextBox 19"/>
          <p:cNvSpPr txBox="1"/>
          <p:nvPr/>
        </p:nvSpPr>
        <p:spPr>
          <a:xfrm>
            <a:off x="8349996" y="4446842"/>
            <a:ext cx="2963788" cy="1026509"/>
          </a:xfrm>
          <a:prstGeom prst="rect">
            <a:avLst/>
          </a:prstGeom>
          <a:noFill/>
        </p:spPr>
        <p:txBody>
          <a:bodyPr wrap="square" anchor="ctr" lIns="0" tIns="0" rIns="0" bIns="0">
            <a:noAutofit/>
          </a:bodyPr>
          <a:lstStyle/>
          <a:p>
            <a:pPr algn="l">
              <a:lnSpc>
                <a:spcPts val="2746"/>
              </a:lnSpc>
              <a:spcBef>
                <a:spcPts val="0"/>
              </a:spcBef>
              <a:spcAft>
                <a:spcPts val="0"/>
              </a:spcAft>
            </a:pPr>
            <a:r>
              <a:rPr sz="2112" b="0" i="0" u="none">
                <a:solidFill>
                  <a:srgbClr val="3B3535"/>
                </a:solidFill>
                <a:latin typeface="Arial"/>
              </a:rPr>
              <a:t>Three to five cards share one horizontal band.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concept-breakdown · the default card grid</a:t>
            </a:r>
          </a:p>
        </p:txBody>
      </p:sp>
      <p:sp>
        <p:nvSpPr>
          <p:cNvPr id="5" name="TextBox 4"/>
          <p:cNvSpPr txBox="1"/>
          <p:nvPr/>
        </p:nvSpPr>
        <p:spPr>
          <a:xfrm>
            <a:off x="670465" y="1634585"/>
            <a:ext cx="910876"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With no</a:t>
            </a:r>
          </a:p>
        </p:txBody>
      </p:sp>
      <p:sp>
        <p:nvSpPr>
          <p:cNvPr id="6" name="Rounded Rectangle 5"/>
          <p:cNvSpPr/>
          <p:nvPr/>
        </p:nvSpPr>
        <p:spPr>
          <a:xfrm>
            <a:off x="1543240" y="1653635"/>
            <a:ext cx="876490" cy="247650"/>
          </a:xfrm>
          <a:prstGeom prst="roundRect">
            <a:avLst>
              <a:gd name="adj" fmla="val 19692"/>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1613916" y="1663160"/>
            <a:ext cx="782574" cy="228600"/>
          </a:xfrm>
          <a:prstGeom prst="rect">
            <a:avLst/>
          </a:prstGeom>
          <a:noFill/>
        </p:spPr>
        <p:txBody>
          <a:bodyPr wrap="none" anchor="ctr" lIns="0" tIns="0" rIns="0" bIns="0">
            <a:noAutofit/>
          </a:bodyPr>
          <a:lstStyle/>
          <a:p>
            <a:pPr algn="l">
              <a:lnSpc>
                <a:spcPts val="1607"/>
              </a:lnSpc>
              <a:spcBef>
                <a:spcPts val="0"/>
              </a:spcBef>
              <a:spcAft>
                <a:spcPts val="0"/>
              </a:spcAft>
            </a:pPr>
            <a:r>
              <a:rPr sz="1607" b="1" i="0" u="none">
                <a:solidFill>
                  <a:srgbClr val="3B3535"/>
                </a:solidFill>
                <a:latin typeface="Courier New"/>
              </a:rPr>
              <a:t>format</a:t>
            </a:r>
          </a:p>
        </p:txBody>
      </p:sp>
      <p:sp>
        <p:nvSpPr>
          <p:cNvPr id="8" name="TextBox 7"/>
          <p:cNvSpPr txBox="1"/>
          <p:nvPr/>
        </p:nvSpPr>
        <p:spPr>
          <a:xfrm>
            <a:off x="2419636" y="1634585"/>
            <a:ext cx="2738628"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 a labeled set renders as</a:t>
            </a:r>
          </a:p>
        </p:txBody>
      </p:sp>
      <p:sp>
        <p:nvSpPr>
          <p:cNvPr id="9" name="TextBox 8"/>
          <p:cNvSpPr txBox="1"/>
          <p:nvPr/>
        </p:nvSpPr>
        <p:spPr>
          <a:xfrm>
            <a:off x="5120164" y="1634585"/>
            <a:ext cx="630174"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cards</a:t>
            </a:r>
          </a:p>
        </p:txBody>
      </p:sp>
      <p:sp>
        <p:nvSpPr>
          <p:cNvPr id="10" name="TextBox 9"/>
          <p:cNvSpPr txBox="1"/>
          <p:nvPr/>
        </p:nvSpPr>
        <p:spPr>
          <a:xfrm>
            <a:off x="5712142" y="1634585"/>
            <a:ext cx="112109"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t>
            </a:r>
          </a:p>
        </p:txBody>
      </p:sp>
      <p:sp>
        <p:nvSpPr>
          <p:cNvPr id="11" name="Rounded Rectangle 10"/>
          <p:cNvSpPr/>
          <p:nvPr/>
        </p:nvSpPr>
        <p:spPr>
          <a:xfrm>
            <a:off x="670465" y="2203228"/>
            <a:ext cx="5308092" cy="2222849"/>
          </a:xfrm>
          <a:prstGeom prst="roundRect">
            <a:avLst>
              <a:gd name="adj" fmla="val 1096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2" name="Picture 11" descr="image.png"/>
          <p:cNvPicPr>
            <a:picLocks noChangeAspect="1"/>
          </p:cNvPicPr>
          <p:nvPr/>
        </p:nvPicPr>
        <p:blipFill>
          <a:blip r:embed="rId2"/>
          <a:stretch>
            <a:fillRect/>
          </a:stretch>
        </p:blipFill>
        <p:spPr>
          <a:xfrm>
            <a:off x="923734" y="2498693"/>
            <a:ext cx="612076" cy="612172"/>
          </a:xfrm>
          <a:prstGeom prst="rect">
            <a:avLst/>
          </a:prstGeom>
        </p:spPr>
      </p:pic>
      <p:sp>
        <p:nvSpPr>
          <p:cNvPr id="13" name="TextBox 12"/>
          <p:cNvSpPr txBox="1"/>
          <p:nvPr/>
        </p:nvSpPr>
        <p:spPr>
          <a:xfrm>
            <a:off x="1715262" y="2490406"/>
            <a:ext cx="4048125" cy="346329"/>
          </a:xfrm>
          <a:prstGeom prst="rect">
            <a:avLst/>
          </a:prstGeom>
          <a:noFill/>
        </p:spPr>
        <p:txBody>
          <a:bodyPr wrap="none" anchor="ctr" lIns="0" tIns="0" rIns="0" bIns="0">
            <a:noAutofit/>
          </a:bodyPr>
          <a:lstStyle/>
          <a:p>
            <a:pPr algn="l">
              <a:lnSpc>
                <a:spcPts val="2664"/>
              </a:lnSpc>
              <a:spcBef>
                <a:spcPts val="0"/>
              </a:spcBef>
              <a:spcAft>
                <a:spcPts val="0"/>
              </a:spcAft>
            </a:pPr>
            <a:r>
              <a:rPr sz="2422" b="1" i="0" u="none">
                <a:solidFill>
                  <a:srgbClr val="1F1E1E"/>
                </a:solidFill>
                <a:latin typeface="Arial"/>
              </a:rPr>
              <a:t>Parallel reads side by side</a:t>
            </a:r>
          </a:p>
        </p:txBody>
      </p:sp>
      <p:sp>
        <p:nvSpPr>
          <p:cNvPr id="14" name="TextBox 13"/>
          <p:cNvSpPr txBox="1"/>
          <p:nvPr/>
        </p:nvSpPr>
        <p:spPr>
          <a:xfrm>
            <a:off x="1715262" y="2904554"/>
            <a:ext cx="4089225" cy="1189577"/>
          </a:xfrm>
          <a:prstGeom prst="rect">
            <a:avLst/>
          </a:prstGeom>
          <a:noFill/>
        </p:spPr>
        <p:txBody>
          <a:bodyPr wrap="square" anchor="ctr" lIns="0" tIns="0" rIns="0" bIns="0">
            <a:noAutofit/>
          </a:bodyPr>
          <a:lstStyle/>
          <a:p>
            <a:pPr algn="l">
              <a:lnSpc>
                <a:spcPts val="2443"/>
              </a:lnSpc>
              <a:spcBef>
                <a:spcPts val="0"/>
              </a:spcBef>
              <a:spcAft>
                <a:spcPts val="0"/>
              </a:spcAft>
            </a:pPr>
            <a:r>
              <a:rPr sz="1879" b="0" i="0" u="none">
                <a:solidFill>
                  <a:srgbClr val="3B3535"/>
                </a:solidFill>
                <a:latin typeface="Arial"/>
              </a:rPr>
              <a:t>A labeled set is N </a:t>
            </a:r>
            <a:r>
              <a:rPr sz="1879" b="0" i="1" u="none">
                <a:solidFill>
                  <a:srgbClr val="3B3535"/>
                </a:solidFill>
                <a:latin typeface="Arial"/>
              </a:rPr>
              <a:t>peers</a:t>
            </a:r>
            <a:r>
              <a:rPr sz="1879" b="0" i="0" u="none">
                <a:solidFill>
                  <a:srgbClr val="3B3535"/>
                </a:solidFill>
                <a:latin typeface="Arial"/>
              </a:rPr>
              <a:t>. Stacking them spent the whole slide width on one item and made the set read as a sequence.</a:t>
            </a:r>
          </a:p>
        </p:txBody>
      </p:sp>
      <p:sp>
        <p:nvSpPr>
          <p:cNvPr id="15" name="Rounded Rectangle 14"/>
          <p:cNvSpPr/>
          <p:nvPr/>
        </p:nvSpPr>
        <p:spPr>
          <a:xfrm>
            <a:off x="6210776" y="2203228"/>
            <a:ext cx="5308092" cy="2222849"/>
          </a:xfrm>
          <a:prstGeom prst="roundRect">
            <a:avLst>
              <a:gd name="adj" fmla="val 1096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6" name="Picture 15" descr="image.png"/>
          <p:cNvPicPr>
            <a:picLocks noChangeAspect="1"/>
          </p:cNvPicPr>
          <p:nvPr/>
        </p:nvPicPr>
        <p:blipFill>
          <a:blip r:embed="rId3"/>
          <a:stretch>
            <a:fillRect/>
          </a:stretch>
        </p:blipFill>
        <p:spPr>
          <a:xfrm>
            <a:off x="6464046" y="2498693"/>
            <a:ext cx="612076" cy="612172"/>
          </a:xfrm>
          <a:prstGeom prst="rect">
            <a:avLst/>
          </a:prstGeom>
        </p:spPr>
      </p:pic>
      <p:sp>
        <p:nvSpPr>
          <p:cNvPr id="17" name="TextBox 16"/>
          <p:cNvSpPr txBox="1"/>
          <p:nvPr/>
        </p:nvSpPr>
        <p:spPr>
          <a:xfrm>
            <a:off x="7255478" y="2490406"/>
            <a:ext cx="4048125" cy="346329"/>
          </a:xfrm>
          <a:prstGeom prst="rect">
            <a:avLst/>
          </a:prstGeom>
          <a:noFill/>
        </p:spPr>
        <p:txBody>
          <a:bodyPr wrap="none" anchor="ctr" lIns="0" tIns="0" rIns="0" bIns="0">
            <a:noAutofit/>
          </a:bodyPr>
          <a:lstStyle/>
          <a:p>
            <a:pPr algn="l">
              <a:lnSpc>
                <a:spcPts val="2664"/>
              </a:lnSpc>
              <a:spcBef>
                <a:spcPts val="0"/>
              </a:spcBef>
              <a:spcAft>
                <a:spcPts val="0"/>
              </a:spcAft>
            </a:pPr>
            <a:r>
              <a:rPr sz="2422" b="1" i="0" u="none">
                <a:solidFill>
                  <a:srgbClr val="1F1E1E"/>
                </a:solidFill>
                <a:latin typeface="Arial"/>
              </a:rPr>
              <a:t>The lead survives</a:t>
            </a:r>
          </a:p>
        </p:txBody>
      </p:sp>
      <p:sp>
        <p:nvSpPr>
          <p:cNvPr id="18" name="Rounded Rectangle 17"/>
          <p:cNvSpPr/>
          <p:nvPr/>
        </p:nvSpPr>
        <p:spPr>
          <a:xfrm>
            <a:off x="7255478" y="2929318"/>
            <a:ext cx="671798" cy="263842"/>
          </a:xfrm>
          <a:prstGeom prst="roundRect">
            <a:avLst>
              <a:gd name="adj" fmla="val 18483"/>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7329202" y="2937510"/>
            <a:ext cx="562451" cy="247364"/>
          </a:xfrm>
          <a:prstGeom prst="rect">
            <a:avLst/>
          </a:prstGeom>
          <a:noFill/>
        </p:spPr>
        <p:txBody>
          <a:bodyPr wrap="none" anchor="ctr" lIns="0" tIns="0" rIns="0" bIns="0">
            <a:noAutofit/>
          </a:bodyPr>
          <a:lstStyle/>
          <a:p>
            <a:pPr algn="l">
              <a:lnSpc>
                <a:spcPts val="2247"/>
              </a:lnSpc>
              <a:spcBef>
                <a:spcPts val="0"/>
              </a:spcBef>
              <a:spcAft>
                <a:spcPts val="0"/>
              </a:spcAft>
            </a:pPr>
            <a:r>
              <a:rPr sz="1729" b="0" i="0" u="none">
                <a:solidFill>
                  <a:srgbClr val="3B3535"/>
                </a:solidFill>
                <a:latin typeface="Courier New"/>
              </a:rPr>
              <a:t>grid</a:t>
            </a:r>
          </a:p>
        </p:txBody>
      </p:sp>
      <p:sp>
        <p:nvSpPr>
          <p:cNvPr id="20" name="TextBox 19"/>
          <p:cNvSpPr txBox="1"/>
          <p:nvPr/>
        </p:nvSpPr>
        <p:spPr>
          <a:xfrm>
            <a:off x="7255478" y="2904554"/>
            <a:ext cx="3721132" cy="1197959"/>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carries the lead the retired format carried, so nothing an old model wrote is dropped on the way over.</a:t>
            </a:r>
          </a:p>
        </p:txBody>
      </p:sp>
      <p:sp>
        <p:nvSpPr>
          <p:cNvPr id="21" name="Rounded Rectangle 20"/>
          <p:cNvSpPr/>
          <p:nvPr/>
        </p:nvSpPr>
        <p:spPr>
          <a:xfrm>
            <a:off x="670465" y="4658296"/>
            <a:ext cx="10848404" cy="1590104"/>
          </a:xfrm>
          <a:prstGeom prst="roundRect">
            <a:avLst>
              <a:gd name="adj" fmla="val 1533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2" name="Picture 21" descr="image.png"/>
          <p:cNvPicPr>
            <a:picLocks noChangeAspect="1"/>
          </p:cNvPicPr>
          <p:nvPr/>
        </p:nvPicPr>
        <p:blipFill>
          <a:blip r:embed="rId4"/>
          <a:stretch>
            <a:fillRect/>
          </a:stretch>
        </p:blipFill>
        <p:spPr>
          <a:xfrm>
            <a:off x="923734" y="4953762"/>
            <a:ext cx="612076" cy="612076"/>
          </a:xfrm>
          <a:prstGeom prst="rect">
            <a:avLst/>
          </a:prstGeom>
        </p:spPr>
      </p:pic>
      <p:sp>
        <p:nvSpPr>
          <p:cNvPr id="23" name="TextBox 22"/>
          <p:cNvSpPr txBox="1"/>
          <p:nvPr/>
        </p:nvSpPr>
        <p:spPr>
          <a:xfrm>
            <a:off x="1715262" y="4945475"/>
            <a:ext cx="9588436" cy="346329"/>
          </a:xfrm>
          <a:prstGeom prst="rect">
            <a:avLst/>
          </a:prstGeom>
          <a:noFill/>
        </p:spPr>
        <p:txBody>
          <a:bodyPr wrap="none" anchor="ctr" lIns="0" tIns="0" rIns="0" bIns="0">
            <a:noAutofit/>
          </a:bodyPr>
          <a:lstStyle/>
          <a:p>
            <a:pPr algn="l">
              <a:lnSpc>
                <a:spcPts val="2664"/>
              </a:lnSpc>
              <a:spcBef>
                <a:spcPts val="0"/>
              </a:spcBef>
              <a:spcAft>
                <a:spcPts val="0"/>
              </a:spcAft>
            </a:pPr>
            <a:r>
              <a:rPr sz="2422" b="1" i="0" u="none">
                <a:solidFill>
                  <a:srgbClr val="1F1E1E"/>
                </a:solidFill>
                <a:latin typeface="Arial"/>
              </a:rPr>
              <a:t>Prose still fits</a:t>
            </a:r>
          </a:p>
        </p:txBody>
      </p:sp>
      <p:sp>
        <p:nvSpPr>
          <p:cNvPr id="24" name="TextBox 23"/>
          <p:cNvSpPr txBox="1"/>
          <p:nvPr/>
        </p:nvSpPr>
        <p:spPr>
          <a:xfrm>
            <a:off x="1715262" y="5359622"/>
            <a:ext cx="8975217" cy="26384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A card holds up to about two sentences. Past that the slide is not a labeled set — it is</a:t>
            </a:r>
          </a:p>
        </p:txBody>
      </p:sp>
      <p:sp>
        <p:nvSpPr>
          <p:cNvPr id="25" name="Rounded Rectangle 24"/>
          <p:cNvSpPr/>
          <p:nvPr/>
        </p:nvSpPr>
        <p:spPr>
          <a:xfrm>
            <a:off x="1715262" y="5692902"/>
            <a:ext cx="1720406" cy="263842"/>
          </a:xfrm>
          <a:prstGeom prst="roundRect">
            <a:avLst>
              <a:gd name="adj" fmla="val 18483"/>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1788890" y="5701094"/>
            <a:ext cx="1611154" cy="247364"/>
          </a:xfrm>
          <a:prstGeom prst="rect">
            <a:avLst/>
          </a:prstGeom>
          <a:noFill/>
        </p:spPr>
        <p:txBody>
          <a:bodyPr wrap="none" anchor="ctr" lIns="0" tIns="0" rIns="0" bIns="0">
            <a:noAutofit/>
          </a:bodyPr>
          <a:lstStyle/>
          <a:p>
            <a:pPr algn="l">
              <a:lnSpc>
                <a:spcPts val="2247"/>
              </a:lnSpc>
              <a:spcBef>
                <a:spcPts val="0"/>
              </a:spcBef>
              <a:spcAft>
                <a:spcPts val="0"/>
              </a:spcAft>
            </a:pPr>
            <a:r>
              <a:rPr sz="1729" b="0" i="0" u="none">
                <a:solidFill>
                  <a:srgbClr val="3B3535"/>
                </a:solidFill>
                <a:latin typeface="Courier New"/>
              </a:rPr>
              <a:t>content-text</a:t>
            </a:r>
          </a:p>
        </p:txBody>
      </p:sp>
      <p:sp>
        <p:nvSpPr>
          <p:cNvPr id="27" name="TextBox 26"/>
          <p:cNvSpPr txBox="1"/>
          <p:nvPr/>
        </p:nvSpPr>
        <p:spPr>
          <a:xfrm>
            <a:off x="3435668" y="5668137"/>
            <a:ext cx="1556004" cy="26384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 or two slides.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A bare anaphora → label-only cards</a:t>
            </a:r>
          </a:p>
        </p:txBody>
      </p:sp>
      <p:sp>
        <p:nvSpPr>
          <p:cNvPr id="5" name="Rounded Rectangle 4"/>
          <p:cNvSpPr/>
          <p:nvPr/>
        </p:nvSpPr>
        <p:spPr>
          <a:xfrm>
            <a:off x="670465" y="1775555"/>
            <a:ext cx="5290376" cy="1460278"/>
          </a:xfrm>
          <a:prstGeom prst="roundRect">
            <a:avLst>
              <a:gd name="adj" fmla="val 1669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63073" y="2152078"/>
            <a:ext cx="707041" cy="707041"/>
          </a:xfrm>
          <a:prstGeom prst="rect">
            <a:avLst/>
          </a:prstGeom>
        </p:spPr>
      </p:pic>
      <p:sp>
        <p:nvSpPr>
          <p:cNvPr id="7" name="TextBox 6"/>
          <p:cNvSpPr txBox="1"/>
          <p:nvPr/>
        </p:nvSpPr>
        <p:spPr>
          <a:xfrm>
            <a:off x="1877282" y="2107216"/>
            <a:ext cx="3866864" cy="788956"/>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No labels are required here.</a:t>
            </a:r>
          </a:p>
        </p:txBody>
      </p:sp>
      <p:sp>
        <p:nvSpPr>
          <p:cNvPr id="8" name="Rounded Rectangle 7"/>
          <p:cNvSpPr/>
          <p:nvPr/>
        </p:nvSpPr>
        <p:spPr>
          <a:xfrm>
            <a:off x="6229064" y="1775555"/>
            <a:ext cx="5290376" cy="1460278"/>
          </a:xfrm>
          <a:prstGeom prst="roundRect">
            <a:avLst>
              <a:gd name="adj" fmla="val 1669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9" name="Picture 8" descr="image.png"/>
          <p:cNvPicPr>
            <a:picLocks noChangeAspect="1"/>
          </p:cNvPicPr>
          <p:nvPr/>
        </p:nvPicPr>
        <p:blipFill>
          <a:blip r:embed="rId3"/>
          <a:stretch>
            <a:fillRect/>
          </a:stretch>
        </p:blipFill>
        <p:spPr>
          <a:xfrm>
            <a:off x="6521672" y="2152078"/>
            <a:ext cx="707041" cy="707041"/>
          </a:xfrm>
          <a:prstGeom prst="rect">
            <a:avLst/>
          </a:prstGeom>
        </p:spPr>
      </p:pic>
      <p:sp>
        <p:nvSpPr>
          <p:cNvPr id="10" name="TextBox 9"/>
          <p:cNvSpPr txBox="1"/>
          <p:nvPr/>
        </p:nvSpPr>
        <p:spPr>
          <a:xfrm>
            <a:off x="7435882" y="2107216"/>
            <a:ext cx="3866864" cy="788956"/>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Each parallel line becomes one card.</a:t>
            </a:r>
          </a:p>
        </p:txBody>
      </p:sp>
      <p:sp>
        <p:nvSpPr>
          <p:cNvPr id="11" name="Rounded Rectangle 10"/>
          <p:cNvSpPr/>
          <p:nvPr/>
        </p:nvSpPr>
        <p:spPr>
          <a:xfrm>
            <a:off x="670465" y="3504057"/>
            <a:ext cx="10848975" cy="1389602"/>
          </a:xfrm>
          <a:prstGeom prst="roundRect">
            <a:avLst>
              <a:gd name="adj" fmla="val 1754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2" name="Picture 11" descr="image.png"/>
          <p:cNvPicPr>
            <a:picLocks noChangeAspect="1"/>
          </p:cNvPicPr>
          <p:nvPr/>
        </p:nvPicPr>
        <p:blipFill>
          <a:blip r:embed="rId4"/>
          <a:stretch>
            <a:fillRect/>
          </a:stretch>
        </p:blipFill>
        <p:spPr>
          <a:xfrm>
            <a:off x="963073" y="3845242"/>
            <a:ext cx="707041" cy="707041"/>
          </a:xfrm>
          <a:prstGeom prst="rect">
            <a:avLst/>
          </a:prstGeom>
        </p:spPr>
      </p:pic>
      <p:sp>
        <p:nvSpPr>
          <p:cNvPr id="13" name="TextBox 12"/>
          <p:cNvSpPr txBox="1"/>
          <p:nvPr/>
        </p:nvSpPr>
        <p:spPr>
          <a:xfrm>
            <a:off x="1877282" y="3994880"/>
            <a:ext cx="93876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This keeps such slides off the fallback path.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72269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419701"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ENUMERATIONS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Inline styling works in </a:t>
            </a:r>
            <a:r>
              <a:rPr sz="4032" b="1" i="1" u="none" spc="-40">
                <a:solidFill>
                  <a:srgbClr val="1F1E1E"/>
                </a:solidFill>
                <a:latin typeface="Arial"/>
              </a:rPr>
              <a:t>every</a:t>
            </a:r>
            <a:r>
              <a:rPr sz="4032" b="1" i="0" u="none" spc="-40">
                <a:solidFill>
                  <a:srgbClr val="1F1E1E"/>
                </a:solidFill>
                <a:latin typeface="Arial"/>
              </a:rPr>
              <a:t> field</a:t>
            </a:r>
          </a:p>
        </p:txBody>
      </p:sp>
      <p:sp>
        <p:nvSpPr>
          <p:cNvPr id="5" name="Rounded Rectangle 4"/>
          <p:cNvSpPr/>
          <p:nvPr/>
        </p:nvSpPr>
        <p:spPr>
          <a:xfrm>
            <a:off x="670465" y="1653635"/>
            <a:ext cx="1121378" cy="247650"/>
          </a:xfrm>
          <a:prstGeom prst="roundRect">
            <a:avLst>
              <a:gd name="adj" fmla="val 19692"/>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741140" y="1663160"/>
            <a:ext cx="1027557" cy="228600"/>
          </a:xfrm>
          <a:prstGeom prst="rect">
            <a:avLst/>
          </a:prstGeom>
          <a:noFill/>
        </p:spPr>
        <p:txBody>
          <a:bodyPr wrap="none" anchor="ctr" lIns="0" tIns="0" rIns="0" bIns="0">
            <a:noAutofit/>
          </a:bodyPr>
          <a:lstStyle/>
          <a:p>
            <a:pPr algn="l">
              <a:lnSpc>
                <a:spcPts val="1607"/>
              </a:lnSpc>
              <a:spcBef>
                <a:spcPts val="0"/>
              </a:spcBef>
              <a:spcAft>
                <a:spcPts val="0"/>
              </a:spcAft>
            </a:pPr>
            <a:r>
              <a:rPr sz="1607" b="1" i="0" u="none">
                <a:solidFill>
                  <a:srgbClr val="3B3535"/>
                </a:solidFill>
                <a:latin typeface="Courier New"/>
              </a:rPr>
              <a:t>**bold**</a:t>
            </a:r>
          </a:p>
        </p:txBody>
      </p:sp>
      <p:sp>
        <p:nvSpPr>
          <p:cNvPr id="7" name="TextBox 6"/>
          <p:cNvSpPr txBox="1"/>
          <p:nvPr/>
        </p:nvSpPr>
        <p:spPr>
          <a:xfrm>
            <a:off x="1791938" y="1634585"/>
            <a:ext cx="161449"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t>
            </a:r>
          </a:p>
        </p:txBody>
      </p:sp>
      <p:sp>
        <p:nvSpPr>
          <p:cNvPr id="8" name="Rounded Rectangle 7"/>
          <p:cNvSpPr/>
          <p:nvPr/>
        </p:nvSpPr>
        <p:spPr>
          <a:xfrm>
            <a:off x="1915287" y="1653635"/>
            <a:ext cx="1121378" cy="247650"/>
          </a:xfrm>
          <a:prstGeom prst="roundRect">
            <a:avLst>
              <a:gd name="adj" fmla="val 19692"/>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1985962" y="1663160"/>
            <a:ext cx="1027557" cy="228600"/>
          </a:xfrm>
          <a:prstGeom prst="rect">
            <a:avLst/>
          </a:prstGeom>
          <a:noFill/>
        </p:spPr>
        <p:txBody>
          <a:bodyPr wrap="none" anchor="ctr" lIns="0" tIns="0" rIns="0" bIns="0">
            <a:noAutofit/>
          </a:bodyPr>
          <a:lstStyle/>
          <a:p>
            <a:pPr algn="l">
              <a:lnSpc>
                <a:spcPts val="1607"/>
              </a:lnSpc>
              <a:spcBef>
                <a:spcPts val="0"/>
              </a:spcBef>
              <a:spcAft>
                <a:spcPts val="0"/>
              </a:spcAft>
            </a:pPr>
            <a:r>
              <a:rPr sz="1607" b="1" i="0" u="none">
                <a:solidFill>
                  <a:srgbClr val="3B3535"/>
                </a:solidFill>
                <a:latin typeface="Courier New"/>
              </a:rPr>
              <a:t>*italic*</a:t>
            </a:r>
          </a:p>
        </p:txBody>
      </p:sp>
      <p:sp>
        <p:nvSpPr>
          <p:cNvPr id="10" name="TextBox 9"/>
          <p:cNvSpPr txBox="1"/>
          <p:nvPr/>
        </p:nvSpPr>
        <p:spPr>
          <a:xfrm>
            <a:off x="3036665" y="1634585"/>
            <a:ext cx="161449"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t>
            </a:r>
          </a:p>
        </p:txBody>
      </p:sp>
      <p:sp>
        <p:nvSpPr>
          <p:cNvPr id="11" name="Rounded Rectangle 10"/>
          <p:cNvSpPr/>
          <p:nvPr/>
        </p:nvSpPr>
        <p:spPr>
          <a:xfrm>
            <a:off x="3160109" y="1653635"/>
            <a:ext cx="1366361" cy="247650"/>
          </a:xfrm>
          <a:prstGeom prst="roundRect">
            <a:avLst>
              <a:gd name="adj" fmla="val 19692"/>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3230785" y="1663160"/>
            <a:ext cx="1272540" cy="228600"/>
          </a:xfrm>
          <a:prstGeom prst="rect">
            <a:avLst/>
          </a:prstGeom>
          <a:noFill/>
        </p:spPr>
        <p:txBody>
          <a:bodyPr wrap="none" anchor="ctr" lIns="0" tIns="0" rIns="0" bIns="0">
            <a:noAutofit/>
          </a:bodyPr>
          <a:lstStyle/>
          <a:p>
            <a:pPr algn="l">
              <a:lnSpc>
                <a:spcPts val="1607"/>
              </a:lnSpc>
              <a:spcBef>
                <a:spcPts val="0"/>
              </a:spcBef>
              <a:spcAft>
                <a:spcPts val="0"/>
              </a:spcAft>
            </a:pPr>
            <a:r>
              <a:rPr sz="1607" b="1" i="0" u="none">
                <a:solidFill>
                  <a:srgbClr val="3B3535"/>
                </a:solidFill>
                <a:latin typeface="Courier New"/>
              </a:rPr>
              <a:t>~~strike~~</a:t>
            </a:r>
          </a:p>
        </p:txBody>
      </p:sp>
      <p:sp>
        <p:nvSpPr>
          <p:cNvPr id="13" name="TextBox 12"/>
          <p:cNvSpPr txBox="1"/>
          <p:nvPr/>
        </p:nvSpPr>
        <p:spPr>
          <a:xfrm>
            <a:off x="4526470" y="1634585"/>
            <a:ext cx="161449"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t>
            </a:r>
          </a:p>
        </p:txBody>
      </p:sp>
      <p:sp>
        <p:nvSpPr>
          <p:cNvPr id="14" name="Rounded Rectangle 13"/>
          <p:cNvSpPr/>
          <p:nvPr/>
        </p:nvSpPr>
        <p:spPr>
          <a:xfrm>
            <a:off x="4649819" y="1653635"/>
            <a:ext cx="876490" cy="247650"/>
          </a:xfrm>
          <a:prstGeom prst="roundRect">
            <a:avLst>
              <a:gd name="adj" fmla="val 19692"/>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4720495" y="1663160"/>
            <a:ext cx="782574" cy="228600"/>
          </a:xfrm>
          <a:prstGeom prst="rect">
            <a:avLst/>
          </a:prstGeom>
          <a:noFill/>
        </p:spPr>
        <p:txBody>
          <a:bodyPr wrap="none" anchor="ctr" lIns="0" tIns="0" rIns="0" bIns="0">
            <a:noAutofit/>
          </a:bodyPr>
          <a:lstStyle/>
          <a:p>
            <a:pPr algn="l">
              <a:lnSpc>
                <a:spcPts val="1607"/>
              </a:lnSpc>
              <a:spcBef>
                <a:spcPts val="0"/>
              </a:spcBef>
              <a:spcAft>
                <a:spcPts val="0"/>
              </a:spcAft>
            </a:pPr>
            <a:r>
              <a:rPr sz="1607" b="1" i="0" u="none">
                <a:solidFill>
                  <a:srgbClr val="3B3535"/>
                </a:solidFill>
                <a:latin typeface="Courier New"/>
              </a:rPr>
              <a:t>`code`</a:t>
            </a:r>
          </a:p>
        </p:txBody>
      </p:sp>
      <p:sp>
        <p:nvSpPr>
          <p:cNvPr id="16" name="TextBox 15"/>
          <p:cNvSpPr txBox="1"/>
          <p:nvPr/>
        </p:nvSpPr>
        <p:spPr>
          <a:xfrm>
            <a:off x="5526310" y="1634585"/>
            <a:ext cx="161449"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t>
            </a:r>
          </a:p>
        </p:txBody>
      </p:sp>
      <p:sp>
        <p:nvSpPr>
          <p:cNvPr id="17" name="Rounded Rectangle 16"/>
          <p:cNvSpPr/>
          <p:nvPr/>
        </p:nvSpPr>
        <p:spPr>
          <a:xfrm>
            <a:off x="5649658" y="1653635"/>
            <a:ext cx="1488853" cy="247650"/>
          </a:xfrm>
          <a:prstGeom prst="roundRect">
            <a:avLst>
              <a:gd name="adj" fmla="val 19692"/>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5720334" y="1663160"/>
            <a:ext cx="1395032" cy="228600"/>
          </a:xfrm>
          <a:prstGeom prst="rect">
            <a:avLst/>
          </a:prstGeom>
          <a:noFill/>
        </p:spPr>
        <p:txBody>
          <a:bodyPr wrap="none" anchor="ctr" lIns="0" tIns="0" rIns="0" bIns="0">
            <a:noAutofit/>
          </a:bodyPr>
          <a:lstStyle/>
          <a:p>
            <a:pPr algn="l">
              <a:lnSpc>
                <a:spcPts val="1607"/>
              </a:lnSpc>
              <a:spcBef>
                <a:spcPts val="0"/>
              </a:spcBef>
              <a:spcAft>
                <a:spcPts val="0"/>
              </a:spcAft>
            </a:pPr>
            <a:r>
              <a:rPr sz="1607" b="1" i="0" u="none">
                <a:solidFill>
                  <a:srgbClr val="3B3535"/>
                </a:solidFill>
                <a:latin typeface="Courier New"/>
              </a:rPr>
              <a:t>[text](url)</a:t>
            </a:r>
          </a:p>
        </p:txBody>
      </p:sp>
      <p:sp>
        <p:nvSpPr>
          <p:cNvPr id="19" name="TextBox 18"/>
          <p:cNvSpPr txBox="1"/>
          <p:nvPr/>
        </p:nvSpPr>
        <p:spPr>
          <a:xfrm>
            <a:off x="7138511" y="1634585"/>
            <a:ext cx="3584829"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and a naked URL are resolved in</a:t>
            </a:r>
          </a:p>
        </p:txBody>
      </p:sp>
      <p:sp>
        <p:nvSpPr>
          <p:cNvPr id="20" name="TextBox 19"/>
          <p:cNvSpPr txBox="1"/>
          <p:nvPr/>
        </p:nvSpPr>
        <p:spPr>
          <a:xfrm>
            <a:off x="10685240" y="1634585"/>
            <a:ext cx="617982"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every</a:t>
            </a:r>
          </a:p>
        </p:txBody>
      </p:sp>
      <p:sp>
        <p:nvSpPr>
          <p:cNvPr id="21" name="TextBox 20"/>
          <p:cNvSpPr txBox="1"/>
          <p:nvPr/>
        </p:nvSpPr>
        <p:spPr>
          <a:xfrm>
            <a:off x="670465" y="1867376"/>
            <a:ext cx="1283018"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text field of</a:t>
            </a:r>
          </a:p>
        </p:txBody>
      </p:sp>
      <p:sp>
        <p:nvSpPr>
          <p:cNvPr id="22" name="TextBox 21"/>
          <p:cNvSpPr txBox="1"/>
          <p:nvPr/>
        </p:nvSpPr>
        <p:spPr>
          <a:xfrm>
            <a:off x="1915382" y="1867376"/>
            <a:ext cx="617982"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every</a:t>
            </a:r>
          </a:p>
        </p:txBody>
      </p:sp>
      <p:sp>
        <p:nvSpPr>
          <p:cNvPr id="23" name="TextBox 22"/>
          <p:cNvSpPr txBox="1"/>
          <p:nvPr/>
        </p:nvSpPr>
        <p:spPr>
          <a:xfrm>
            <a:off x="2495264" y="1867376"/>
            <a:ext cx="108604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template:</a:t>
            </a:r>
          </a:p>
        </p:txBody>
      </p:sp>
      <p:sp>
        <p:nvSpPr>
          <p:cNvPr id="24" name="Rounded Rectangle 23"/>
          <p:cNvSpPr/>
          <p:nvPr/>
        </p:nvSpPr>
        <p:spPr>
          <a:xfrm>
            <a:off x="670465" y="2425160"/>
            <a:ext cx="3520535" cy="1393888"/>
          </a:xfrm>
          <a:prstGeom prst="roundRect">
            <a:avLst>
              <a:gd name="adj" fmla="val 1749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5" name="Picture 24" descr="image.png"/>
          <p:cNvPicPr>
            <a:picLocks noChangeAspect="1"/>
          </p:cNvPicPr>
          <p:nvPr/>
        </p:nvPicPr>
        <p:blipFill>
          <a:blip r:embed="rId2"/>
          <a:stretch>
            <a:fillRect/>
          </a:stretch>
        </p:blipFill>
        <p:spPr>
          <a:xfrm>
            <a:off x="826580" y="2607183"/>
            <a:ext cx="377190" cy="377190"/>
          </a:xfrm>
          <a:prstGeom prst="rect">
            <a:avLst/>
          </a:prstGeom>
        </p:spPr>
      </p:pic>
      <p:sp>
        <p:nvSpPr>
          <p:cNvPr id="26" name="TextBox 25"/>
          <p:cNvSpPr txBox="1"/>
          <p:nvPr/>
        </p:nvSpPr>
        <p:spPr>
          <a:xfrm>
            <a:off x="1314164" y="2602135"/>
            <a:ext cx="2758821" cy="213360"/>
          </a:xfrm>
          <a:prstGeom prst="rect">
            <a:avLst/>
          </a:prstGeom>
          <a:noFill/>
        </p:spPr>
        <p:txBody>
          <a:bodyPr wrap="none" anchor="ctr" lIns="0" tIns="0" rIns="0" bIns="0">
            <a:noAutofit/>
          </a:bodyPr>
          <a:lstStyle/>
          <a:p>
            <a:pPr algn="l">
              <a:lnSpc>
                <a:spcPts val="1623"/>
              </a:lnSpc>
              <a:spcBef>
                <a:spcPts val="0"/>
              </a:spcBef>
              <a:spcAft>
                <a:spcPts val="0"/>
              </a:spcAft>
            </a:pPr>
            <a:r>
              <a:rPr sz="1476" b="1" i="0" u="none">
                <a:solidFill>
                  <a:srgbClr val="1F1E1E"/>
                </a:solidFill>
                <a:latin typeface="Arial"/>
              </a:rPr>
              <a:t>Bold</a:t>
            </a:r>
            <a:r>
              <a:rPr sz="1476" b="1" i="0" u="none">
                <a:solidFill>
                  <a:srgbClr val="1F1E1E"/>
                </a:solidFill>
                <a:latin typeface="Arial"/>
              </a:rPr>
              <a:t> a figure</a:t>
            </a:r>
          </a:p>
        </p:txBody>
      </p:sp>
      <p:sp>
        <p:nvSpPr>
          <p:cNvPr id="27" name="TextBox 26"/>
          <p:cNvSpPr txBox="1"/>
          <p:nvPr/>
        </p:nvSpPr>
        <p:spPr>
          <a:xfrm>
            <a:off x="1314164" y="2857214"/>
            <a:ext cx="2780582" cy="620363"/>
          </a:xfrm>
          <a:prstGeom prst="rect">
            <a:avLst/>
          </a:prstGeom>
          <a:noFill/>
        </p:spPr>
        <p:txBody>
          <a:bodyPr wrap="square" anchor="ctr" lIns="0" tIns="0" rIns="0" bIns="0">
            <a:noAutofit/>
          </a:bodyPr>
          <a:lstStyle/>
          <a:p>
            <a:pPr algn="l">
              <a:lnSpc>
                <a:spcPts val="1488"/>
              </a:lnSpc>
              <a:spcBef>
                <a:spcPts val="0"/>
              </a:spcBef>
              <a:spcAft>
                <a:spcPts val="0"/>
              </a:spcAft>
            </a:pPr>
            <a:r>
              <a:rPr sz="1145" b="0" i="0" u="none">
                <a:solidFill>
                  <a:srgbClr val="3B3535"/>
                </a:solidFill>
                <a:latin typeface="Arial"/>
              </a:rPr>
              <a:t>Entrenar un LMM puede consumir </a:t>
            </a:r>
            <a:r>
              <a:rPr sz="1145" b="1" i="0" u="none">
                <a:solidFill>
                  <a:srgbClr val="3B3535"/>
                </a:solidFill>
                <a:latin typeface="Arial"/>
              </a:rPr>
              <a:t>700.000 litros</a:t>
            </a:r>
            <a:r>
              <a:rPr sz="1145" b="0" i="0" u="none">
                <a:solidFill>
                  <a:srgbClr val="3B3535"/>
                </a:solidFill>
                <a:latin typeface="Arial"/>
              </a:rPr>
              <a:t> de agua — the number carries the line, so it reads as the number.</a:t>
            </a:r>
          </a:p>
        </p:txBody>
      </p:sp>
      <p:sp>
        <p:nvSpPr>
          <p:cNvPr id="28" name="Rounded Rectangle 27"/>
          <p:cNvSpPr/>
          <p:nvPr/>
        </p:nvSpPr>
        <p:spPr>
          <a:xfrm>
            <a:off x="4334066" y="2425160"/>
            <a:ext cx="3520630" cy="1393888"/>
          </a:xfrm>
          <a:prstGeom prst="roundRect">
            <a:avLst>
              <a:gd name="adj" fmla="val 1749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9" name="Picture 28" descr="image.png"/>
          <p:cNvPicPr>
            <a:picLocks noChangeAspect="1"/>
          </p:cNvPicPr>
          <p:nvPr/>
        </p:nvPicPr>
        <p:blipFill>
          <a:blip r:embed="rId3"/>
          <a:stretch>
            <a:fillRect/>
          </a:stretch>
        </p:blipFill>
        <p:spPr>
          <a:xfrm>
            <a:off x="4490180" y="2607183"/>
            <a:ext cx="377190" cy="377190"/>
          </a:xfrm>
          <a:prstGeom prst="rect">
            <a:avLst/>
          </a:prstGeom>
        </p:spPr>
      </p:pic>
      <p:sp>
        <p:nvSpPr>
          <p:cNvPr id="30" name="TextBox 29"/>
          <p:cNvSpPr txBox="1"/>
          <p:nvPr/>
        </p:nvSpPr>
        <p:spPr>
          <a:xfrm>
            <a:off x="4977860" y="2602135"/>
            <a:ext cx="2758916" cy="213360"/>
          </a:xfrm>
          <a:prstGeom prst="rect">
            <a:avLst/>
          </a:prstGeom>
          <a:noFill/>
        </p:spPr>
        <p:txBody>
          <a:bodyPr wrap="none" anchor="ctr" lIns="0" tIns="0" rIns="0" bIns="0">
            <a:noAutofit/>
          </a:bodyPr>
          <a:lstStyle/>
          <a:p>
            <a:pPr algn="l">
              <a:lnSpc>
                <a:spcPts val="1623"/>
              </a:lnSpc>
              <a:spcBef>
                <a:spcPts val="0"/>
              </a:spcBef>
              <a:spcAft>
                <a:spcPts val="0"/>
              </a:spcAft>
            </a:pPr>
            <a:r>
              <a:rPr sz="1476" b="1" i="1" u="none">
                <a:solidFill>
                  <a:srgbClr val="1F1E1E"/>
                </a:solidFill>
                <a:latin typeface="Arial"/>
              </a:rPr>
              <a:t>Italic</a:t>
            </a:r>
            <a:r>
              <a:rPr sz="1476" b="1" i="0" u="none">
                <a:solidFill>
                  <a:srgbClr val="1F1E1E"/>
                </a:solidFill>
                <a:latin typeface="Arial"/>
              </a:rPr>
              <a:t> a term</a:t>
            </a:r>
          </a:p>
        </p:txBody>
      </p:sp>
      <p:sp>
        <p:nvSpPr>
          <p:cNvPr id="31" name="TextBox 30"/>
          <p:cNvSpPr txBox="1"/>
          <p:nvPr/>
        </p:nvSpPr>
        <p:spPr>
          <a:xfrm>
            <a:off x="4977860" y="2857214"/>
            <a:ext cx="2780678" cy="620363"/>
          </a:xfrm>
          <a:prstGeom prst="rect">
            <a:avLst/>
          </a:prstGeom>
          <a:noFill/>
        </p:spPr>
        <p:txBody>
          <a:bodyPr wrap="square" anchor="ctr" lIns="0" tIns="0" rIns="0" bIns="0">
            <a:noAutofit/>
          </a:bodyPr>
          <a:lstStyle/>
          <a:p>
            <a:pPr algn="l">
              <a:lnSpc>
                <a:spcPts val="1488"/>
              </a:lnSpc>
              <a:spcBef>
                <a:spcPts val="0"/>
              </a:spcBef>
              <a:spcAft>
                <a:spcPts val="0"/>
              </a:spcAft>
            </a:pPr>
            <a:r>
              <a:rPr sz="1145" b="0" i="0" u="none">
                <a:solidFill>
                  <a:srgbClr val="3B3535"/>
                </a:solidFill>
                <a:latin typeface="Arial"/>
              </a:rPr>
              <a:t>The </a:t>
            </a:r>
            <a:r>
              <a:rPr sz="1145" b="0" i="1" u="none">
                <a:solidFill>
                  <a:srgbClr val="3B3535"/>
                </a:solidFill>
                <a:latin typeface="Arial"/>
              </a:rPr>
              <a:t>lead</a:t>
            </a:r>
            <a:r>
              <a:rPr sz="1145" b="0" i="0" u="none">
                <a:solidFill>
                  <a:srgbClr val="3B3535"/>
                </a:solidFill>
                <a:latin typeface="Arial"/>
              </a:rPr>
              <a:t> is the title's sub-line; the </a:t>
            </a:r>
            <a:r>
              <a:rPr sz="1145" b="0" i="1" u="none">
                <a:solidFill>
                  <a:srgbClr val="3B3535"/>
                </a:solidFill>
                <a:latin typeface="Arial"/>
              </a:rPr>
              <a:t>body</a:t>
            </a:r>
            <a:r>
              <a:rPr sz="1145" b="0" i="0" u="none">
                <a:solidFill>
                  <a:srgbClr val="3B3535"/>
                </a:solidFill>
                <a:latin typeface="Arial"/>
              </a:rPr>
              <a:t> is what follows it.</a:t>
            </a:r>
          </a:p>
        </p:txBody>
      </p:sp>
      <p:sp>
        <p:nvSpPr>
          <p:cNvPr id="32" name="Rounded Rectangle 31"/>
          <p:cNvSpPr/>
          <p:nvPr/>
        </p:nvSpPr>
        <p:spPr>
          <a:xfrm>
            <a:off x="7997762" y="2425160"/>
            <a:ext cx="3520630" cy="1393888"/>
          </a:xfrm>
          <a:prstGeom prst="roundRect">
            <a:avLst>
              <a:gd name="adj" fmla="val 1749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3" name="Picture 32" descr="image.png"/>
          <p:cNvPicPr>
            <a:picLocks noChangeAspect="1"/>
          </p:cNvPicPr>
          <p:nvPr/>
        </p:nvPicPr>
        <p:blipFill>
          <a:blip r:embed="rId4"/>
          <a:stretch>
            <a:fillRect/>
          </a:stretch>
        </p:blipFill>
        <p:spPr>
          <a:xfrm>
            <a:off x="8153876" y="2607183"/>
            <a:ext cx="377190" cy="377190"/>
          </a:xfrm>
          <a:prstGeom prst="rect">
            <a:avLst/>
          </a:prstGeom>
        </p:spPr>
      </p:pic>
      <p:sp>
        <p:nvSpPr>
          <p:cNvPr id="34" name="Rounded Rectangle 33"/>
          <p:cNvSpPr/>
          <p:nvPr/>
        </p:nvSpPr>
        <p:spPr>
          <a:xfrm>
            <a:off x="8641556" y="2627471"/>
            <a:ext cx="530733" cy="203264"/>
          </a:xfrm>
          <a:prstGeom prst="roundRect">
            <a:avLst>
              <a:gd name="adj" fmla="val 23992"/>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5" name="TextBox 34"/>
          <p:cNvSpPr txBox="1"/>
          <p:nvPr/>
        </p:nvSpPr>
        <p:spPr>
          <a:xfrm>
            <a:off x="8698611" y="2632615"/>
            <a:ext cx="454628" cy="193072"/>
          </a:xfrm>
          <a:prstGeom prst="rect">
            <a:avLst/>
          </a:prstGeom>
          <a:noFill/>
        </p:spPr>
        <p:txBody>
          <a:bodyPr wrap="none" anchor="ctr" lIns="0" tIns="0" rIns="0" bIns="0">
            <a:noAutofit/>
          </a:bodyPr>
          <a:lstStyle/>
          <a:p>
            <a:pPr algn="l">
              <a:lnSpc>
                <a:spcPts val="1493"/>
              </a:lnSpc>
              <a:spcBef>
                <a:spcPts val="0"/>
              </a:spcBef>
              <a:spcAft>
                <a:spcPts val="0"/>
              </a:spcAft>
            </a:pPr>
            <a:r>
              <a:rPr sz="1357" b="1" i="0" u="none">
                <a:solidFill>
                  <a:srgbClr val="1F1E1E"/>
                </a:solidFill>
                <a:latin typeface="Courier New"/>
              </a:rPr>
              <a:t>code</a:t>
            </a:r>
          </a:p>
        </p:txBody>
      </p:sp>
      <p:sp>
        <p:nvSpPr>
          <p:cNvPr id="36" name="TextBox 35"/>
          <p:cNvSpPr txBox="1"/>
          <p:nvPr/>
        </p:nvSpPr>
        <p:spPr>
          <a:xfrm>
            <a:off x="9172194" y="2602135"/>
            <a:ext cx="583025" cy="21336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inline</a:t>
            </a:r>
          </a:p>
        </p:txBody>
      </p:sp>
      <p:sp>
        <p:nvSpPr>
          <p:cNvPr id="37" name="TextBox 36"/>
          <p:cNvSpPr txBox="1"/>
          <p:nvPr/>
        </p:nvSpPr>
        <p:spPr>
          <a:xfrm>
            <a:off x="8641556" y="2871121"/>
            <a:ext cx="1144238" cy="16259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A field name like</a:t>
            </a:r>
          </a:p>
        </p:txBody>
      </p:sp>
      <p:sp>
        <p:nvSpPr>
          <p:cNvPr id="38" name="Rounded Rectangle 37"/>
          <p:cNvSpPr/>
          <p:nvPr/>
        </p:nvSpPr>
        <p:spPr>
          <a:xfrm>
            <a:off x="9747694" y="2886361"/>
            <a:ext cx="1383125"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9793034" y="2891504"/>
            <a:ext cx="1330452" cy="152400"/>
          </a:xfrm>
          <a:prstGeom prst="rect">
            <a:avLst/>
          </a:prstGeom>
          <a:noFill/>
        </p:spPr>
        <p:txBody>
          <a:bodyPr wrap="none" anchor="ctr" lIns="0" tIns="0" rIns="0" bIns="0">
            <a:noAutofit/>
          </a:bodyPr>
          <a:lstStyle/>
          <a:p>
            <a:pPr algn="l">
              <a:lnSpc>
                <a:spcPts val="1369"/>
              </a:lnSpc>
              <a:spcBef>
                <a:spcPts val="0"/>
              </a:spcBef>
              <a:spcAft>
                <a:spcPts val="0"/>
              </a:spcAft>
            </a:pPr>
            <a:r>
              <a:rPr sz="1053" b="0" i="0" u="none">
                <a:solidFill>
                  <a:srgbClr val="3B3535"/>
                </a:solidFill>
                <a:latin typeface="Courier New"/>
              </a:rPr>
              <a:t>slide-model.json</a:t>
            </a:r>
          </a:p>
        </p:txBody>
      </p:sp>
      <p:sp>
        <p:nvSpPr>
          <p:cNvPr id="40" name="TextBox 39"/>
          <p:cNvSpPr txBox="1"/>
          <p:nvPr/>
        </p:nvSpPr>
        <p:spPr>
          <a:xfrm>
            <a:off x="8641556" y="2871121"/>
            <a:ext cx="2698147" cy="357854"/>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or a flag like</a:t>
            </a:r>
          </a:p>
        </p:txBody>
      </p:sp>
      <p:sp>
        <p:nvSpPr>
          <p:cNvPr id="41" name="Rounded Rectangle 40"/>
          <p:cNvSpPr/>
          <p:nvPr/>
        </p:nvSpPr>
        <p:spPr>
          <a:xfrm>
            <a:off x="9300305" y="3081718"/>
            <a:ext cx="979265"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TextBox 41"/>
          <p:cNvSpPr txBox="1"/>
          <p:nvPr/>
        </p:nvSpPr>
        <p:spPr>
          <a:xfrm>
            <a:off x="9345740" y="3086767"/>
            <a:ext cx="926592" cy="152400"/>
          </a:xfrm>
          <a:prstGeom prst="rect">
            <a:avLst/>
          </a:prstGeom>
          <a:noFill/>
        </p:spPr>
        <p:txBody>
          <a:bodyPr wrap="none" anchor="ctr" lIns="0" tIns="0" rIns="0" bIns="0">
            <a:noAutofit/>
          </a:bodyPr>
          <a:lstStyle/>
          <a:p>
            <a:pPr algn="l">
              <a:lnSpc>
                <a:spcPts val="1369"/>
              </a:lnSpc>
              <a:spcBef>
                <a:spcPts val="0"/>
              </a:spcBef>
              <a:spcAft>
                <a:spcPts val="0"/>
              </a:spcAft>
            </a:pPr>
            <a:r>
              <a:rPr sz="1053" b="0" i="0" u="none">
                <a:solidFill>
                  <a:srgbClr val="3B3535"/>
                </a:solidFill>
                <a:latin typeface="Courier New"/>
              </a:rPr>
              <a:t>--print-pdf</a:t>
            </a:r>
          </a:p>
        </p:txBody>
      </p:sp>
      <p:sp>
        <p:nvSpPr>
          <p:cNvPr id="43" name="TextBox 42"/>
          <p:cNvSpPr txBox="1"/>
          <p:nvPr/>
        </p:nvSpPr>
        <p:spPr>
          <a:xfrm>
            <a:off x="8641556" y="3066383"/>
            <a:ext cx="2758059" cy="357854"/>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keeps the mono face, and</a:t>
            </a:r>
          </a:p>
        </p:txBody>
      </p:sp>
      <p:sp>
        <p:nvSpPr>
          <p:cNvPr id="44" name="TextBox 43"/>
          <p:cNvSpPr txBox="1"/>
          <p:nvPr/>
        </p:nvSpPr>
        <p:spPr>
          <a:xfrm>
            <a:off x="9284208" y="3261741"/>
            <a:ext cx="160210" cy="162592"/>
          </a:xfrm>
          <a:prstGeom prst="rect">
            <a:avLst/>
          </a:prstGeom>
          <a:noFill/>
        </p:spPr>
        <p:txBody>
          <a:bodyPr wrap="none" anchor="ctr" lIns="0" tIns="0" rIns="0" bIns="0">
            <a:noAutofit/>
          </a:bodyPr>
          <a:lstStyle/>
          <a:p>
            <a:pPr algn="l">
              <a:lnSpc>
                <a:spcPts val="2808"/>
              </a:lnSpc>
              <a:spcBef>
                <a:spcPts val="0"/>
              </a:spcBef>
              <a:spcAft>
                <a:spcPts val="0"/>
              </a:spcAft>
            </a:pPr>
            <a:r>
              <a:rPr sz="2160" b="1" i="0" u="none">
                <a:solidFill>
                  <a:srgbClr val="3B3535"/>
                </a:solidFill>
                <a:latin typeface="Arial"/>
              </a:rPr>
              <a:t>a</a:t>
            </a:r>
          </a:p>
        </p:txBody>
      </p:sp>
      <p:sp>
        <p:nvSpPr>
          <p:cNvPr id="45" name="Rounded Rectangle 44"/>
          <p:cNvSpPr/>
          <p:nvPr/>
        </p:nvSpPr>
        <p:spPr>
          <a:xfrm>
            <a:off x="9406318" y="3276981"/>
            <a:ext cx="333184"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6" name="TextBox 45"/>
          <p:cNvSpPr txBox="1"/>
          <p:nvPr/>
        </p:nvSpPr>
        <p:spPr>
          <a:xfrm>
            <a:off x="9451753" y="3282029"/>
            <a:ext cx="280416" cy="152400"/>
          </a:xfrm>
          <a:prstGeom prst="rect">
            <a:avLst/>
          </a:prstGeom>
          <a:noFill/>
        </p:spPr>
        <p:txBody>
          <a:bodyPr wrap="none" anchor="ctr" lIns="0" tIns="0" rIns="0" bIns="0">
            <a:noAutofit/>
          </a:bodyPr>
          <a:lstStyle/>
          <a:p>
            <a:pPr algn="l">
              <a:lnSpc>
                <a:spcPts val="1369"/>
              </a:lnSpc>
              <a:spcBef>
                <a:spcPts val="0"/>
              </a:spcBef>
              <a:spcAft>
                <a:spcPts val="0"/>
              </a:spcAft>
            </a:pPr>
            <a:r>
              <a:rPr sz="1053" b="1" i="0" u="none">
                <a:solidFill>
                  <a:srgbClr val="3B3535"/>
                </a:solidFill>
                <a:latin typeface="Courier New"/>
              </a:rPr>
              <a:t>.md</a:t>
            </a:r>
          </a:p>
        </p:txBody>
      </p:sp>
      <p:sp>
        <p:nvSpPr>
          <p:cNvPr id="47" name="TextBox 46"/>
          <p:cNvSpPr txBox="1"/>
          <p:nvPr/>
        </p:nvSpPr>
        <p:spPr>
          <a:xfrm>
            <a:off x="8641556" y="3261741"/>
            <a:ext cx="2485930" cy="357854"/>
          </a:xfrm>
          <a:prstGeom prst="rect">
            <a:avLst/>
          </a:prstGeom>
          <a:noFill/>
        </p:spPr>
        <p:txBody>
          <a:bodyPr wrap="none" anchor="ctr" lIns="0" tIns="0" rIns="0" bIns="0">
            <a:noAutofit/>
          </a:bodyPr>
          <a:lstStyle/>
          <a:p>
            <a:pPr algn="l">
              <a:lnSpc>
                <a:spcPts val="2808"/>
              </a:lnSpc>
              <a:spcBef>
                <a:spcPts val="0"/>
              </a:spcBef>
              <a:spcAft>
                <a:spcPts val="0"/>
              </a:spcAft>
            </a:pPr>
            <a:r>
              <a:rPr sz="2160" b="1" i="0" u="none">
                <a:solidFill>
                  <a:srgbClr val="3B3535"/>
                </a:solidFill>
                <a:latin typeface="Arial"/>
              </a:rPr>
              <a:t>file named inside a bolded phrase</a:t>
            </a:r>
          </a:p>
        </p:txBody>
      </p:sp>
      <p:sp>
        <p:nvSpPr>
          <p:cNvPr id="48" name="TextBox 47"/>
          <p:cNvSpPr txBox="1"/>
          <p:nvPr/>
        </p:nvSpPr>
        <p:spPr>
          <a:xfrm>
            <a:off x="9641586" y="3457004"/>
            <a:ext cx="1363694" cy="16259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stays bold across it.</a:t>
            </a:r>
          </a:p>
        </p:txBody>
      </p:sp>
      <p:sp>
        <p:nvSpPr>
          <p:cNvPr id="49" name="Rounded Rectangle 48"/>
          <p:cNvSpPr/>
          <p:nvPr/>
        </p:nvSpPr>
        <p:spPr>
          <a:xfrm>
            <a:off x="670465" y="3962019"/>
            <a:ext cx="3520535" cy="1744694"/>
          </a:xfrm>
          <a:prstGeom prst="roundRect">
            <a:avLst>
              <a:gd name="adj" fmla="val 13976"/>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50" name="Picture 49" descr="image.png"/>
          <p:cNvPicPr>
            <a:picLocks noChangeAspect="1"/>
          </p:cNvPicPr>
          <p:nvPr/>
        </p:nvPicPr>
        <p:blipFill>
          <a:blip r:embed="rId5"/>
          <a:stretch>
            <a:fillRect/>
          </a:stretch>
        </p:blipFill>
        <p:spPr>
          <a:xfrm>
            <a:off x="826580" y="4144042"/>
            <a:ext cx="377190" cy="377190"/>
          </a:xfrm>
          <a:prstGeom prst="rect">
            <a:avLst/>
          </a:prstGeom>
        </p:spPr>
      </p:pic>
      <p:sp>
        <p:nvSpPr>
          <p:cNvPr id="51" name="TextBox 50"/>
          <p:cNvSpPr txBox="1"/>
          <p:nvPr/>
        </p:nvSpPr>
        <p:spPr>
          <a:xfrm>
            <a:off x="1314164" y="4138994"/>
            <a:ext cx="2758821" cy="213360"/>
          </a:xfrm>
          <a:prstGeom prst="rect">
            <a:avLst/>
          </a:prstGeom>
          <a:noFill/>
        </p:spPr>
        <p:txBody>
          <a:bodyPr wrap="none" anchor="ctr" lIns="0" tIns="0" rIns="0" bIns="0">
            <a:noAutofit/>
          </a:bodyPr>
          <a:lstStyle/>
          <a:p>
            <a:pPr algn="l">
              <a:lnSpc>
                <a:spcPts val="1623"/>
              </a:lnSpc>
              <a:spcBef>
                <a:spcPts val="0"/>
              </a:spcBef>
              <a:spcAft>
                <a:spcPts val="0"/>
              </a:spcAft>
            </a:pPr>
            <a:r>
              <a:rPr sz="1476" b="1" i="0" u="none" strike="sngStrike">
                <a:solidFill>
                  <a:srgbClr val="1F1E1E"/>
                </a:solidFill>
                <a:latin typeface="Arial"/>
              </a:rPr>
              <a:t>Strike</a:t>
            </a:r>
            <a:r>
              <a:rPr sz="1476" b="1" i="0" u="none">
                <a:solidFill>
                  <a:srgbClr val="1F1E1E"/>
                </a:solidFill>
                <a:latin typeface="Arial"/>
              </a:rPr>
              <a:t> a superseded value</a:t>
            </a:r>
          </a:p>
        </p:txBody>
      </p:sp>
      <p:sp>
        <p:nvSpPr>
          <p:cNvPr id="52" name="TextBox 51"/>
          <p:cNvSpPr txBox="1"/>
          <p:nvPr/>
        </p:nvSpPr>
        <p:spPr>
          <a:xfrm>
            <a:off x="1314164" y="4394168"/>
            <a:ext cx="2780582" cy="899446"/>
          </a:xfrm>
          <a:prstGeom prst="rect">
            <a:avLst/>
          </a:prstGeom>
          <a:noFill/>
        </p:spPr>
        <p:txBody>
          <a:bodyPr wrap="square" anchor="ctr" lIns="0" tIns="0" rIns="0" bIns="0">
            <a:noAutofit/>
          </a:bodyPr>
          <a:lstStyle/>
          <a:p>
            <a:pPr algn="l">
              <a:lnSpc>
                <a:spcPts val="1488"/>
              </a:lnSpc>
              <a:spcBef>
                <a:spcPts val="0"/>
              </a:spcBef>
              <a:spcAft>
                <a:spcPts val="0"/>
              </a:spcAft>
            </a:pPr>
            <a:r>
              <a:rPr sz="1145" b="0" i="0" u="none">
                <a:solidFill>
                  <a:srgbClr val="3B3535"/>
                </a:solidFill>
                <a:latin typeface="Arial"/>
              </a:rPr>
              <a:t>A figure the slide corrects reads </a:t>
            </a:r>
            <a:r>
              <a:rPr sz="1145" b="0" i="0" u="none" strike="sngStrike">
                <a:solidFill>
                  <a:srgbClr val="3B3535"/>
                </a:solidFill>
                <a:latin typeface="Arial"/>
              </a:rPr>
              <a:t>1.2M</a:t>
            </a:r>
            <a:r>
              <a:rPr sz="1145" b="0" i="0" u="none">
                <a:solidFill>
                  <a:srgbClr val="3B3535"/>
                </a:solidFill>
                <a:latin typeface="Arial"/>
              </a:rPr>
              <a:t> </a:t>
            </a:r>
            <a:r>
              <a:rPr sz="1145" b="1" i="0" u="none">
                <a:solidFill>
                  <a:srgbClr val="3B3535"/>
                </a:solidFill>
                <a:latin typeface="Arial"/>
              </a:rPr>
              <a:t>4.4M</a:t>
            </a:r>
            <a:r>
              <a:rPr sz="1145" b="0" i="0" u="none">
                <a:solidFill>
                  <a:srgbClr val="3B3535"/>
                </a:solidFill>
                <a:latin typeface="Arial"/>
              </a:rPr>
              <a:t> — struck, not deleted, so the correction is visible.</a:t>
            </a:r>
          </a:p>
        </p:txBody>
      </p:sp>
      <p:sp>
        <p:nvSpPr>
          <p:cNvPr id="53" name="Rounded Rectangle 52"/>
          <p:cNvSpPr/>
          <p:nvPr/>
        </p:nvSpPr>
        <p:spPr>
          <a:xfrm>
            <a:off x="4334066" y="3962019"/>
            <a:ext cx="3520630" cy="1744694"/>
          </a:xfrm>
          <a:prstGeom prst="roundRect">
            <a:avLst>
              <a:gd name="adj" fmla="val 13976"/>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54" name="Picture 53" descr="image.png"/>
          <p:cNvPicPr>
            <a:picLocks noChangeAspect="1"/>
          </p:cNvPicPr>
          <p:nvPr/>
        </p:nvPicPr>
        <p:blipFill>
          <a:blip r:embed="rId6"/>
          <a:stretch>
            <a:fillRect/>
          </a:stretch>
        </p:blipFill>
        <p:spPr>
          <a:xfrm>
            <a:off x="4490180" y="4144042"/>
            <a:ext cx="377190" cy="377190"/>
          </a:xfrm>
          <a:prstGeom prst="rect">
            <a:avLst/>
          </a:prstGeom>
        </p:spPr>
      </p:pic>
      <p:sp>
        <p:nvSpPr>
          <p:cNvPr id="55" name="TextBox 54"/>
          <p:cNvSpPr txBox="1"/>
          <p:nvPr/>
        </p:nvSpPr>
        <p:spPr>
          <a:xfrm>
            <a:off x="4977860" y="4138994"/>
            <a:ext cx="2758916" cy="213360"/>
          </a:xfrm>
          <a:prstGeom prst="rect">
            <a:avLst/>
          </a:prstGeom>
          <a:noFill/>
        </p:spPr>
        <p:txBody>
          <a:bodyPr wrap="none" anchor="ctr" lIns="0" tIns="0" rIns="0" bIns="0">
            <a:noAutofit/>
          </a:bodyPr>
          <a:lstStyle/>
          <a:p>
            <a:pPr algn="l">
              <a:lnSpc>
                <a:spcPts val="1623"/>
              </a:lnSpc>
              <a:spcBef>
                <a:spcPts val="0"/>
              </a:spcBef>
              <a:spcAft>
                <a:spcPts val="0"/>
              </a:spcAft>
            </a:pPr>
            <a:r>
              <a:rPr sz="1476" b="1" i="0" u="none">
                <a:solidFill>
                  <a:srgbClr val="1F1E1E"/>
                </a:solidFill>
                <a:latin typeface="Arial"/>
              </a:rPr>
              <a:t>A titled </a:t>
            </a:r>
            <a:r>
              <a:rPr sz="1476" b="1" i="0" u="sng">
                <a:solidFill>
                  <a:srgbClr val="DA1B2E"/>
                </a:solidFill>
                <a:latin typeface="Arial"/>
                <a:hlinkClick r:id="rId7"/>
              </a:rPr>
              <a:t>link</a:t>
            </a:r>
          </a:p>
        </p:txBody>
      </p:sp>
      <p:sp>
        <p:nvSpPr>
          <p:cNvPr id="56" name="Rounded Rectangle 55"/>
          <p:cNvSpPr/>
          <p:nvPr/>
        </p:nvSpPr>
        <p:spPr>
          <a:xfrm>
            <a:off x="4977860" y="4409408"/>
            <a:ext cx="979265"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7" name="TextBox 56"/>
          <p:cNvSpPr txBox="1"/>
          <p:nvPr/>
        </p:nvSpPr>
        <p:spPr>
          <a:xfrm>
            <a:off x="5023199" y="4414456"/>
            <a:ext cx="926592" cy="152400"/>
          </a:xfrm>
          <a:prstGeom prst="rect">
            <a:avLst/>
          </a:prstGeom>
          <a:noFill/>
        </p:spPr>
        <p:txBody>
          <a:bodyPr wrap="none" anchor="ctr" lIns="0" tIns="0" rIns="0" bIns="0">
            <a:noAutofit/>
          </a:bodyPr>
          <a:lstStyle/>
          <a:p>
            <a:pPr algn="l">
              <a:lnSpc>
                <a:spcPts val="1369"/>
              </a:lnSpc>
              <a:spcBef>
                <a:spcPts val="0"/>
              </a:spcBef>
              <a:spcAft>
                <a:spcPts val="0"/>
              </a:spcAft>
            </a:pPr>
            <a:r>
              <a:rPr sz="1053" b="0" i="0" u="none">
                <a:solidFill>
                  <a:srgbClr val="3B3535"/>
                </a:solidFill>
                <a:latin typeface="Courier New"/>
              </a:rPr>
              <a:t>[text](url)</a:t>
            </a:r>
          </a:p>
        </p:txBody>
      </p:sp>
      <p:sp>
        <p:nvSpPr>
          <p:cNvPr id="58" name="TextBox 57"/>
          <p:cNvSpPr txBox="1"/>
          <p:nvPr/>
        </p:nvSpPr>
        <p:spPr>
          <a:xfrm>
            <a:off x="4977860" y="4394168"/>
            <a:ext cx="2660523" cy="357854"/>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shows the title and hides the address. Only</a:t>
            </a:r>
          </a:p>
        </p:txBody>
      </p:sp>
      <p:sp>
        <p:nvSpPr>
          <p:cNvPr id="59" name="Rounded Rectangle 58"/>
          <p:cNvSpPr/>
          <p:nvPr/>
        </p:nvSpPr>
        <p:spPr>
          <a:xfrm>
            <a:off x="6165247" y="4604671"/>
            <a:ext cx="494633"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0" name="TextBox 59"/>
          <p:cNvSpPr txBox="1"/>
          <p:nvPr/>
        </p:nvSpPr>
        <p:spPr>
          <a:xfrm>
            <a:off x="6210681" y="4609719"/>
            <a:ext cx="441960" cy="152400"/>
          </a:xfrm>
          <a:prstGeom prst="rect">
            <a:avLst/>
          </a:prstGeom>
          <a:noFill/>
        </p:spPr>
        <p:txBody>
          <a:bodyPr wrap="none" anchor="ctr" lIns="0" tIns="0" rIns="0" bIns="0">
            <a:noAutofit/>
          </a:bodyPr>
          <a:lstStyle/>
          <a:p>
            <a:pPr algn="l">
              <a:lnSpc>
                <a:spcPts val="1369"/>
              </a:lnSpc>
              <a:spcBef>
                <a:spcPts val="0"/>
              </a:spcBef>
              <a:spcAft>
                <a:spcPts val="0"/>
              </a:spcAft>
            </a:pPr>
            <a:r>
              <a:rPr sz="1053" b="0" i="0" u="none">
                <a:solidFill>
                  <a:srgbClr val="3B3535"/>
                </a:solidFill>
                <a:latin typeface="Courier New"/>
              </a:rPr>
              <a:t>http:</a:t>
            </a:r>
          </a:p>
        </p:txBody>
      </p:sp>
      <p:sp>
        <p:nvSpPr>
          <p:cNvPr id="61" name="TextBox 60"/>
          <p:cNvSpPr txBox="1"/>
          <p:nvPr/>
        </p:nvSpPr>
        <p:spPr>
          <a:xfrm>
            <a:off x="6659880" y="4589431"/>
            <a:ext cx="119443" cy="16259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a:t>
            </a:r>
          </a:p>
        </p:txBody>
      </p:sp>
      <p:sp>
        <p:nvSpPr>
          <p:cNvPr id="62" name="Rounded Rectangle 61"/>
          <p:cNvSpPr/>
          <p:nvPr/>
        </p:nvSpPr>
        <p:spPr>
          <a:xfrm>
            <a:off x="6741319" y="4604671"/>
            <a:ext cx="575500"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3" name="TextBox 62"/>
          <p:cNvSpPr txBox="1"/>
          <p:nvPr/>
        </p:nvSpPr>
        <p:spPr>
          <a:xfrm>
            <a:off x="6786658" y="4609719"/>
            <a:ext cx="522732" cy="152400"/>
          </a:xfrm>
          <a:prstGeom prst="rect">
            <a:avLst/>
          </a:prstGeom>
          <a:noFill/>
        </p:spPr>
        <p:txBody>
          <a:bodyPr wrap="none" anchor="ctr" lIns="0" tIns="0" rIns="0" bIns="0">
            <a:noAutofit/>
          </a:bodyPr>
          <a:lstStyle/>
          <a:p>
            <a:pPr algn="l">
              <a:lnSpc>
                <a:spcPts val="1369"/>
              </a:lnSpc>
              <a:spcBef>
                <a:spcPts val="0"/>
              </a:spcBef>
              <a:spcAft>
                <a:spcPts val="0"/>
              </a:spcAft>
            </a:pPr>
            <a:r>
              <a:rPr sz="1053" b="0" i="0" u="none">
                <a:solidFill>
                  <a:srgbClr val="3B3535"/>
                </a:solidFill>
                <a:latin typeface="Courier New"/>
              </a:rPr>
              <a:t>https:</a:t>
            </a:r>
          </a:p>
        </p:txBody>
      </p:sp>
      <p:sp>
        <p:nvSpPr>
          <p:cNvPr id="64" name="TextBox 63"/>
          <p:cNvSpPr txBox="1"/>
          <p:nvPr/>
        </p:nvSpPr>
        <p:spPr>
          <a:xfrm>
            <a:off x="7316724" y="4589431"/>
            <a:ext cx="322898" cy="16259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and</a:t>
            </a:r>
          </a:p>
        </p:txBody>
      </p:sp>
      <p:sp>
        <p:nvSpPr>
          <p:cNvPr id="65" name="Rounded Rectangle 64"/>
          <p:cNvSpPr/>
          <p:nvPr/>
        </p:nvSpPr>
        <p:spPr>
          <a:xfrm>
            <a:off x="4977860" y="4799933"/>
            <a:ext cx="656177"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6" name="TextBox 65"/>
          <p:cNvSpPr txBox="1"/>
          <p:nvPr/>
        </p:nvSpPr>
        <p:spPr>
          <a:xfrm>
            <a:off x="5023199" y="4804982"/>
            <a:ext cx="603504" cy="152400"/>
          </a:xfrm>
          <a:prstGeom prst="rect">
            <a:avLst/>
          </a:prstGeom>
          <a:noFill/>
        </p:spPr>
        <p:txBody>
          <a:bodyPr wrap="none" anchor="ctr" lIns="0" tIns="0" rIns="0" bIns="0">
            <a:noAutofit/>
          </a:bodyPr>
          <a:lstStyle/>
          <a:p>
            <a:pPr algn="l">
              <a:lnSpc>
                <a:spcPts val="1369"/>
              </a:lnSpc>
              <a:spcBef>
                <a:spcPts val="0"/>
              </a:spcBef>
              <a:spcAft>
                <a:spcPts val="0"/>
              </a:spcAft>
            </a:pPr>
            <a:r>
              <a:rPr sz="1053" b="0" i="0" u="none">
                <a:solidFill>
                  <a:srgbClr val="3B3535"/>
                </a:solidFill>
                <a:latin typeface="Courier New"/>
              </a:rPr>
              <a:t>mailto:</a:t>
            </a:r>
          </a:p>
        </p:txBody>
      </p:sp>
      <p:sp>
        <p:nvSpPr>
          <p:cNvPr id="67" name="TextBox 66"/>
          <p:cNvSpPr txBox="1"/>
          <p:nvPr/>
        </p:nvSpPr>
        <p:spPr>
          <a:xfrm>
            <a:off x="5634038" y="4784693"/>
            <a:ext cx="525970" cy="16259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link —</a:t>
            </a:r>
          </a:p>
        </p:txBody>
      </p:sp>
      <p:sp>
        <p:nvSpPr>
          <p:cNvPr id="68" name="Rounded Rectangle 67"/>
          <p:cNvSpPr/>
          <p:nvPr/>
        </p:nvSpPr>
        <p:spPr>
          <a:xfrm>
            <a:off x="6121908" y="4799933"/>
            <a:ext cx="1463897" cy="162592"/>
          </a:xfrm>
          <a:prstGeom prst="roundRect">
            <a:avLst>
              <a:gd name="adj" fmla="val 29994"/>
            </a:avLst>
          </a:prstGeom>
          <a:solidFill>
            <a:srgbClr val="F2F2F2"/>
          </a:solidFill>
          <a:ln w="9525">
            <a:solidFill>
              <a:srgbClr val="81818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9" name="TextBox 68"/>
          <p:cNvSpPr txBox="1"/>
          <p:nvPr/>
        </p:nvSpPr>
        <p:spPr>
          <a:xfrm>
            <a:off x="6167342" y="4804982"/>
            <a:ext cx="1411129" cy="152400"/>
          </a:xfrm>
          <a:prstGeom prst="rect">
            <a:avLst/>
          </a:prstGeom>
          <a:noFill/>
        </p:spPr>
        <p:txBody>
          <a:bodyPr wrap="none" anchor="ctr" lIns="0" tIns="0" rIns="0" bIns="0">
            <a:noAutofit/>
          </a:bodyPr>
          <a:lstStyle/>
          <a:p>
            <a:pPr algn="l">
              <a:lnSpc>
                <a:spcPts val="1369"/>
              </a:lnSpc>
              <a:spcBef>
                <a:spcPts val="0"/>
              </a:spcBef>
              <a:spcAft>
                <a:spcPts val="0"/>
              </a:spcAft>
            </a:pPr>
            <a:r>
              <a:rPr sz="1053" b="0" i="0" u="none">
                <a:solidFill>
                  <a:srgbClr val="3B3535"/>
                </a:solidFill>
                <a:latin typeface="Courier New"/>
              </a:rPr>
              <a:t>[x](javascript:…)</a:t>
            </a:r>
          </a:p>
        </p:txBody>
      </p:sp>
      <p:sp>
        <p:nvSpPr>
          <p:cNvPr id="70" name="TextBox 69"/>
          <p:cNvSpPr txBox="1"/>
          <p:nvPr/>
        </p:nvSpPr>
        <p:spPr>
          <a:xfrm>
            <a:off x="4977860" y="4979956"/>
            <a:ext cx="1087088" cy="162592"/>
          </a:xfrm>
          <a:prstGeom prst="rect">
            <a:avLst/>
          </a:prstGeom>
          <a:noFill/>
        </p:spPr>
        <p:txBody>
          <a:bodyPr wrap="none" anchor="ctr" lIns="0" tIns="0" rIns="0" bIns="0">
            <a:noAutofit/>
          </a:bodyPr>
          <a:lstStyle/>
          <a:p>
            <a:pPr algn="l">
              <a:lnSpc>
                <a:spcPts val="2808"/>
              </a:lnSpc>
              <a:spcBef>
                <a:spcPts val="0"/>
              </a:spcBef>
              <a:spcAft>
                <a:spcPts val="0"/>
              </a:spcAft>
            </a:pPr>
            <a:r>
              <a:rPr sz="2160" b="0" i="0" u="none">
                <a:solidFill>
                  <a:srgbClr val="3B3535"/>
                </a:solidFill>
                <a:latin typeface="Arial"/>
              </a:rPr>
              <a:t>stays literal text.</a:t>
            </a:r>
          </a:p>
        </p:txBody>
      </p:sp>
      <p:sp>
        <p:nvSpPr>
          <p:cNvPr id="71" name="Rounded Rectangle 70"/>
          <p:cNvSpPr/>
          <p:nvPr/>
        </p:nvSpPr>
        <p:spPr>
          <a:xfrm>
            <a:off x="7997762" y="3962019"/>
            <a:ext cx="3520630" cy="1744694"/>
          </a:xfrm>
          <a:prstGeom prst="roundRect">
            <a:avLst>
              <a:gd name="adj" fmla="val 13976"/>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2" name="Picture 71" descr="image.png"/>
          <p:cNvPicPr>
            <a:picLocks noChangeAspect="1"/>
          </p:cNvPicPr>
          <p:nvPr/>
        </p:nvPicPr>
        <p:blipFill>
          <a:blip r:embed="rId8"/>
          <a:stretch>
            <a:fillRect/>
          </a:stretch>
        </p:blipFill>
        <p:spPr>
          <a:xfrm>
            <a:off x="8153876" y="4144042"/>
            <a:ext cx="377190" cy="377190"/>
          </a:xfrm>
          <a:prstGeom prst="rect">
            <a:avLst/>
          </a:prstGeom>
        </p:spPr>
      </p:pic>
      <p:sp>
        <p:nvSpPr>
          <p:cNvPr id="73" name="TextBox 72"/>
          <p:cNvSpPr txBox="1"/>
          <p:nvPr/>
        </p:nvSpPr>
        <p:spPr>
          <a:xfrm>
            <a:off x="8641556" y="4138994"/>
            <a:ext cx="2758916" cy="213360"/>
          </a:xfrm>
          <a:prstGeom prst="rect">
            <a:avLst/>
          </a:prstGeom>
          <a:noFill/>
        </p:spPr>
        <p:txBody>
          <a:bodyPr wrap="none" anchor="ctr" lIns="0" tIns="0" rIns="0" bIns="0">
            <a:noAutofit/>
          </a:bodyPr>
          <a:lstStyle/>
          <a:p>
            <a:pPr algn="l">
              <a:lnSpc>
                <a:spcPts val="1623"/>
              </a:lnSpc>
              <a:spcBef>
                <a:spcPts val="0"/>
              </a:spcBef>
              <a:spcAft>
                <a:spcPts val="0"/>
              </a:spcAft>
            </a:pPr>
            <a:r>
              <a:rPr sz="1476" b="1" i="0" u="none">
                <a:solidFill>
                  <a:srgbClr val="1F1E1E"/>
                </a:solidFill>
                <a:latin typeface="Arial"/>
              </a:rPr>
              <a:t>URLs link themselves</a:t>
            </a:r>
          </a:p>
        </p:txBody>
      </p:sp>
      <p:sp>
        <p:nvSpPr>
          <p:cNvPr id="74" name="TextBox 73"/>
          <p:cNvSpPr txBox="1"/>
          <p:nvPr/>
        </p:nvSpPr>
        <p:spPr>
          <a:xfrm>
            <a:off x="8641556" y="4394168"/>
            <a:ext cx="2780678" cy="1113187"/>
          </a:xfrm>
          <a:prstGeom prst="rect">
            <a:avLst/>
          </a:prstGeom>
          <a:noFill/>
        </p:spPr>
        <p:txBody>
          <a:bodyPr wrap="square" anchor="ctr" lIns="0" tIns="0" rIns="0" bIns="0">
            <a:noAutofit/>
          </a:bodyPr>
          <a:lstStyle/>
          <a:p>
            <a:pPr algn="l">
              <a:lnSpc>
                <a:spcPts val="1488"/>
              </a:lnSpc>
              <a:spcBef>
                <a:spcPts val="0"/>
              </a:spcBef>
              <a:spcAft>
                <a:spcPts val="0"/>
              </a:spcAft>
            </a:pPr>
            <a:r>
              <a:rPr sz="1145" b="0" i="0" u="none">
                <a:solidFill>
                  <a:srgbClr val="3B3535"/>
                </a:solidFill>
                <a:latin typeface="Arial"/>
              </a:rPr>
              <a:t>Raw as </a:t>
            </a:r>
            <a:r>
              <a:rPr sz="1145" b="1" i="0" u="sng">
                <a:solidFill>
                  <a:srgbClr val="DA1B2E"/>
                </a:solidFill>
                <a:latin typeface="Arial"/>
                <a:hlinkClick r:id="rId9"/>
              </a:rPr>
              <a:t>https://www.who.int/data</a:t>
            </a:r>
            <a:r>
              <a:rPr sz="1145" b="0" i="0" u="none">
                <a:solidFill>
                  <a:srgbClr val="3B3535"/>
                </a:solidFill>
                <a:latin typeface="Arial"/>
              </a:rPr>
              <a:t>, the angle form </a:t>
            </a:r>
            <a:r>
              <a:rPr sz="1145" b="1" i="0" u="sng">
                <a:solidFill>
                  <a:srgbClr val="DA1B2E"/>
                </a:solidFill>
                <a:latin typeface="Arial"/>
                <a:hlinkClick r:id="rId10"/>
              </a:rPr>
              <a:t>https://who.int</a:t>
            </a:r>
            <a:r>
              <a:rPr sz="1145" b="0" i="0" u="none">
                <a:solidFill>
                  <a:srgbClr val="3B3535"/>
                </a:solidFill>
                <a:latin typeface="Arial"/>
              </a:rPr>
              <a:t>, </a:t>
            </a:r>
            <a:r>
              <a:rPr sz="1145" b="1" i="0" u="sng">
                <a:solidFill>
                  <a:srgbClr val="DA1B2E"/>
                </a:solidFill>
                <a:latin typeface="Arial"/>
                <a:hlinkClick r:id="rId11"/>
              </a:rPr>
              <a:t>www.who.int/es</a:t>
            </a:r>
            <a:r>
              <a:rPr sz="1145" b="0" i="0" u="none">
                <a:solidFill>
                  <a:srgbClr val="3B3535"/>
                </a:solidFill>
                <a:latin typeface="Arial"/>
              </a:rPr>
              <a:t>, and even schemeless — </a:t>
            </a:r>
            <a:r>
              <a:rPr sz="1145" b="1" i="0" u="sng">
                <a:solidFill>
                  <a:srgbClr val="DA1B2E"/>
                </a:solidFill>
                <a:latin typeface="Arial"/>
                <a:hlinkClick r:id="rId12"/>
              </a:rPr>
              <a:t>app.sli.do/event/x</a:t>
            </a:r>
            <a:r>
              <a:rPr sz="1145" b="0" i="0" u="none">
                <a:solidFill>
                  <a:srgbClr val="3B3535"/>
                </a:solidFill>
                <a:latin typeface="Arial"/>
              </a:rPr>
              <a:t> — all become clickable. The trailing period stays outside.</a:t>
            </a:r>
          </a:p>
        </p:txBody>
      </p:sp>
      <p:sp>
        <p:nvSpPr>
          <p:cNvPr id="75" name="TextBox 74"/>
          <p:cNvSpPr txBox="1"/>
          <p:nvPr/>
        </p:nvSpPr>
        <p:spPr>
          <a:xfrm>
            <a:off x="670465" y="6027230"/>
            <a:ext cx="7180993"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6E6663"/>
                </a:solidFill>
                <a:latin typeface="Arial"/>
              </a:rPr>
              <a:t>Fuente: </a:t>
            </a:r>
            <a:r>
              <a:rPr sz="1402" b="1" i="0" u="sng">
                <a:solidFill>
                  <a:srgbClr val="DA1B2E"/>
                </a:solidFill>
                <a:latin typeface="Arial"/>
                <a:hlinkClick r:id="rId7"/>
              </a:rPr>
              <a:t>WHO — Ethics and governance of AI for health</a:t>
            </a:r>
            <a:r>
              <a:rPr sz="1402" b="0" i="0" u="none">
                <a:solidFill>
                  <a:srgbClr val="6E6663"/>
                </a:solidFill>
                <a:latin typeface="Arial"/>
              </a:rPr>
              <a:t> (2024) — dudas a </a:t>
            </a:r>
            <a:r>
              <a:rPr sz="1402" b="1" i="0" u="sng">
                <a:solidFill>
                  <a:srgbClr val="DA1B2E"/>
                </a:solidFill>
                <a:latin typeface="Arial"/>
                <a:hlinkClick r:id="rId13"/>
              </a:rPr>
              <a:t>este correo</a:t>
            </a:r>
            <a:r>
              <a:rPr sz="1402" b="0" i="0" u="none">
                <a:solidFill>
                  <a:srgbClr val="6E6663"/>
                </a:solidFill>
                <a:latin typeface="Arial"/>
              </a:rP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770317"/>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01</a:t>
            </a:r>
          </a:p>
        </p:txBody>
      </p:sp>
      <p:sp>
        <p:nvSpPr>
          <p:cNvPr id="3" name="TextBox 2"/>
          <p:cNvSpPr txBox="1"/>
          <p:nvPr/>
        </p:nvSpPr>
        <p:spPr>
          <a:xfrm>
            <a:off x="1328738" y="1675067"/>
            <a:ext cx="2910459"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Frames &amp; openers</a:t>
            </a:r>
          </a:p>
        </p:txBody>
      </p:sp>
      <p:sp>
        <p:nvSpPr>
          <p:cNvPr id="4" name="TextBox 3"/>
          <p:cNvSpPr txBox="1"/>
          <p:nvPr/>
        </p:nvSpPr>
        <p:spPr>
          <a:xfrm>
            <a:off x="670465" y="2292096"/>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02</a:t>
            </a:r>
          </a:p>
        </p:txBody>
      </p:sp>
      <p:sp>
        <p:nvSpPr>
          <p:cNvPr id="5" name="TextBox 4"/>
          <p:cNvSpPr txBox="1"/>
          <p:nvPr/>
        </p:nvSpPr>
        <p:spPr>
          <a:xfrm>
            <a:off x="1328738" y="2196846"/>
            <a:ext cx="3568922"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Statement &amp; emphasis</a:t>
            </a:r>
          </a:p>
        </p:txBody>
      </p:sp>
      <p:sp>
        <p:nvSpPr>
          <p:cNvPr id="6" name="TextBox 5"/>
          <p:cNvSpPr txBox="1"/>
          <p:nvPr/>
        </p:nvSpPr>
        <p:spPr>
          <a:xfrm>
            <a:off x="670465" y="2813876"/>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03</a:t>
            </a:r>
          </a:p>
        </p:txBody>
      </p:sp>
      <p:sp>
        <p:nvSpPr>
          <p:cNvPr id="7" name="TextBox 6"/>
          <p:cNvSpPr txBox="1"/>
          <p:nvPr/>
        </p:nvSpPr>
        <p:spPr>
          <a:xfrm>
            <a:off x="1328738" y="2718626"/>
            <a:ext cx="2233136"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Enumerations</a:t>
            </a:r>
          </a:p>
        </p:txBody>
      </p:sp>
      <p:sp>
        <p:nvSpPr>
          <p:cNvPr id="8" name="TextBox 7"/>
          <p:cNvSpPr txBox="1"/>
          <p:nvPr/>
        </p:nvSpPr>
        <p:spPr>
          <a:xfrm>
            <a:off x="670465" y="3335655"/>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A1B2E"/>
                </a:solidFill>
                <a:latin typeface="Courier New"/>
              </a:rPr>
              <a:t>04</a:t>
            </a:r>
          </a:p>
        </p:txBody>
      </p:sp>
      <p:sp>
        <p:nvSpPr>
          <p:cNvPr id="9" name="TextBox 8"/>
          <p:cNvSpPr txBox="1"/>
          <p:nvPr/>
        </p:nvSpPr>
        <p:spPr>
          <a:xfrm>
            <a:off x="1328738" y="3240405"/>
            <a:ext cx="3605212"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Ordered &amp; comparison</a:t>
            </a:r>
          </a:p>
        </p:txBody>
      </p:sp>
      <p:sp>
        <p:nvSpPr>
          <p:cNvPr id="10" name="TextBox 9"/>
          <p:cNvSpPr txBox="1"/>
          <p:nvPr/>
        </p:nvSpPr>
        <p:spPr>
          <a:xfrm>
            <a:off x="670465" y="3857434"/>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05</a:t>
            </a:r>
          </a:p>
        </p:txBody>
      </p:sp>
      <p:sp>
        <p:nvSpPr>
          <p:cNvPr id="11" name="TextBox 10"/>
          <p:cNvSpPr txBox="1"/>
          <p:nvPr/>
        </p:nvSpPr>
        <p:spPr>
          <a:xfrm>
            <a:off x="1328738" y="3762184"/>
            <a:ext cx="2099405"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Visual &amp; data</a:t>
            </a:r>
          </a:p>
        </p:txBody>
      </p:sp>
      <p:sp>
        <p:nvSpPr>
          <p:cNvPr id="12" name="TextBox 11"/>
          <p:cNvSpPr txBox="1"/>
          <p:nvPr/>
        </p:nvSpPr>
        <p:spPr>
          <a:xfrm>
            <a:off x="670465" y="4379309"/>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06</a:t>
            </a:r>
          </a:p>
        </p:txBody>
      </p:sp>
      <p:sp>
        <p:nvSpPr>
          <p:cNvPr id="13" name="TextBox 12"/>
          <p:cNvSpPr txBox="1"/>
          <p:nvPr/>
        </p:nvSpPr>
        <p:spPr>
          <a:xfrm>
            <a:off x="1328738" y="4284059"/>
            <a:ext cx="2653760"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Interactive (quiz)</a:t>
            </a:r>
          </a:p>
        </p:txBody>
      </p:sp>
      <p:sp>
        <p:nvSpPr>
          <p:cNvPr id="14" name="TextBox 13"/>
          <p:cNvSpPr txBox="1"/>
          <p:nvPr/>
        </p:nvSpPr>
        <p:spPr>
          <a:xfrm>
            <a:off x="670465" y="4901089"/>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07</a:t>
            </a:r>
          </a:p>
        </p:txBody>
      </p:sp>
      <p:sp>
        <p:nvSpPr>
          <p:cNvPr id="15" name="TextBox 14"/>
          <p:cNvSpPr txBox="1"/>
          <p:nvPr/>
        </p:nvSpPr>
        <p:spPr>
          <a:xfrm>
            <a:off x="1328738" y="4805839"/>
            <a:ext cx="1245108"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Closing</a:t>
            </a:r>
          </a:p>
        </p:txBody>
      </p:sp>
      <p:sp>
        <p:nvSpPr>
          <p:cNvPr id="16" name="TextBox 15"/>
          <p:cNvSpPr txBox="1"/>
          <p:nvPr/>
        </p:nvSpPr>
        <p:spPr>
          <a:xfrm>
            <a:off x="9965341" y="1956625"/>
            <a:ext cx="1594104" cy="1514475"/>
          </a:xfrm>
          <a:prstGeom prst="rect">
            <a:avLst/>
          </a:prstGeom>
          <a:noFill/>
        </p:spPr>
        <p:txBody>
          <a:bodyPr wrap="none" anchor="ctr" lIns="0" tIns="0" rIns="0" bIns="0">
            <a:noAutofit/>
          </a:bodyPr>
          <a:lstStyle/>
          <a:p>
            <a:pPr algn="r">
              <a:lnSpc>
                <a:spcPts val="8976"/>
              </a:lnSpc>
              <a:spcBef>
                <a:spcPts val="0"/>
              </a:spcBef>
              <a:spcAft>
                <a:spcPts val="0"/>
              </a:spcAft>
            </a:pPr>
            <a:r>
              <a:rPr sz="10560" b="1" i="0" u="none" spc="-212">
                <a:solidFill>
                  <a:srgbClr val="DA1B2E"/>
                </a:solidFill>
                <a:latin typeface="Courier New"/>
              </a:rPr>
              <a:t>04</a:t>
            </a:r>
          </a:p>
        </p:txBody>
      </p:sp>
      <p:sp>
        <p:nvSpPr>
          <p:cNvPr id="17" name="TextBox 16"/>
          <p:cNvSpPr txBox="1"/>
          <p:nvPr/>
        </p:nvSpPr>
        <p:spPr>
          <a:xfrm>
            <a:off x="8262747" y="3453384"/>
            <a:ext cx="3326527" cy="1271588"/>
          </a:xfrm>
          <a:prstGeom prst="rect">
            <a:avLst/>
          </a:prstGeom>
          <a:noFill/>
        </p:spPr>
        <p:txBody>
          <a:bodyPr wrap="square" anchor="ctr" lIns="0" tIns="0" rIns="0" bIns="0">
            <a:noAutofit/>
          </a:bodyPr>
          <a:lstStyle/>
          <a:p>
            <a:pPr algn="r">
              <a:lnSpc>
                <a:spcPts val="4838"/>
              </a:lnSpc>
              <a:spcBef>
                <a:spcPts val="0"/>
              </a:spcBef>
              <a:spcAft>
                <a:spcPts val="0"/>
              </a:spcAft>
            </a:pPr>
            <a:r>
              <a:rPr sz="4608" b="1" i="0" u="none" spc="-46">
                <a:solidFill>
                  <a:srgbClr val="1F1E1E"/>
                </a:solidFill>
                <a:latin typeface="Arial"/>
              </a:rPr>
              <a:t>Ordered &amp; comparison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process: an ordered sequence of steps</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Use process when order carries meaning — steps, phases, or a numbered flow:</a:t>
            </a:r>
          </a:p>
        </p:txBody>
      </p:sp>
      <p:sp>
        <p:nvSpPr>
          <p:cNvPr id="6" name="Rounded Rectangle 5"/>
          <p:cNvSpPr/>
          <p:nvPr/>
        </p:nvSpPr>
        <p:spPr>
          <a:xfrm>
            <a:off x="670465" y="2192369"/>
            <a:ext cx="3437477" cy="2685478"/>
          </a:xfrm>
          <a:prstGeom prst="roundRect">
            <a:avLst>
              <a:gd name="adj" fmla="val 6355"/>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9990" y="2201894"/>
            <a:ext cx="731520" cy="2666428"/>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937165" y="3311462"/>
            <a:ext cx="512445" cy="438150"/>
          </a:xfrm>
          <a:prstGeom prst="rect">
            <a:avLst/>
          </a:prstGeom>
          <a:noFill/>
        </p:spPr>
        <p:txBody>
          <a:bodyPr wrap="none" anchor="ctr" lIns="0" tIns="0" rIns="0" bIns="0">
            <a:noAutofit/>
          </a:bodyPr>
          <a:lstStyle/>
          <a:p>
            <a:pPr algn="l">
              <a:lnSpc>
                <a:spcPts val="3072"/>
              </a:lnSpc>
              <a:spcBef>
                <a:spcPts val="0"/>
              </a:spcBef>
              <a:spcAft>
                <a:spcPts val="0"/>
              </a:spcAft>
            </a:pPr>
            <a:r>
              <a:rPr sz="3072" b="1" i="0" u="none">
                <a:solidFill>
                  <a:srgbClr val="3B3535"/>
                </a:solidFill>
                <a:latin typeface="Arial"/>
              </a:rPr>
              <a:t>1</a:t>
            </a:r>
          </a:p>
        </p:txBody>
      </p:sp>
      <p:sp>
        <p:nvSpPr>
          <p:cNvPr id="9" name="TextBox 8"/>
          <p:cNvSpPr txBox="1"/>
          <p:nvPr/>
        </p:nvSpPr>
        <p:spPr>
          <a:xfrm>
            <a:off x="1679638" y="2451068"/>
            <a:ext cx="2188654"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Classify</a:t>
            </a:r>
          </a:p>
        </p:txBody>
      </p:sp>
      <p:sp>
        <p:nvSpPr>
          <p:cNvPr id="10" name="TextBox 9"/>
          <p:cNvSpPr txBox="1"/>
          <p:nvPr/>
        </p:nvSpPr>
        <p:spPr>
          <a:xfrm>
            <a:off x="1679638" y="2915888"/>
            <a:ext cx="2201863" cy="1658112"/>
          </a:xfrm>
          <a:prstGeom prst="rect">
            <a:avLst/>
          </a:prstGeom>
          <a:noFill/>
        </p:spPr>
        <p:txBody>
          <a:bodyPr wrap="square" anchor="ctr" lIns="0" tIns="0" rIns="0" bIns="0">
            <a:noAutofit/>
          </a:bodyPr>
          <a:lstStyle/>
          <a:p>
            <a:pPr algn="l">
              <a:lnSpc>
                <a:spcPts val="2684"/>
              </a:lnSpc>
              <a:spcBef>
                <a:spcPts val="0"/>
              </a:spcBef>
              <a:spcAft>
                <a:spcPts val="0"/>
              </a:spcAft>
            </a:pPr>
            <a:r>
              <a:rPr sz="2064" b="0" i="0" u="none">
                <a:solidFill>
                  <a:srgbClr val="3B3535"/>
                </a:solidFill>
                <a:latin typeface="Arial"/>
              </a:rPr>
              <a:t>The fill step reads final.md and picks each slide's template.</a:t>
            </a:r>
          </a:p>
        </p:txBody>
      </p:sp>
      <p:sp>
        <p:nvSpPr>
          <p:cNvPr id="11" name="Rounded Rectangle 10"/>
          <p:cNvSpPr/>
          <p:nvPr/>
        </p:nvSpPr>
        <p:spPr>
          <a:xfrm>
            <a:off x="4376166" y="2192369"/>
            <a:ext cx="3437477" cy="2685478"/>
          </a:xfrm>
          <a:prstGeom prst="roundRect">
            <a:avLst>
              <a:gd name="adj" fmla="val 6355"/>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4385691" y="2201894"/>
            <a:ext cx="731520" cy="2666428"/>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4642866" y="3311462"/>
            <a:ext cx="512445" cy="438150"/>
          </a:xfrm>
          <a:prstGeom prst="rect">
            <a:avLst/>
          </a:prstGeom>
          <a:noFill/>
        </p:spPr>
        <p:txBody>
          <a:bodyPr wrap="none" anchor="ctr" lIns="0" tIns="0" rIns="0" bIns="0">
            <a:noAutofit/>
          </a:bodyPr>
          <a:lstStyle/>
          <a:p>
            <a:pPr algn="l">
              <a:lnSpc>
                <a:spcPts val="3072"/>
              </a:lnSpc>
              <a:spcBef>
                <a:spcPts val="0"/>
              </a:spcBef>
              <a:spcAft>
                <a:spcPts val="0"/>
              </a:spcAft>
            </a:pPr>
            <a:r>
              <a:rPr sz="3072" b="1" i="0" u="none">
                <a:solidFill>
                  <a:srgbClr val="3B3535"/>
                </a:solidFill>
                <a:latin typeface="Arial"/>
              </a:rPr>
              <a:t>2</a:t>
            </a:r>
          </a:p>
        </p:txBody>
      </p:sp>
      <p:sp>
        <p:nvSpPr>
          <p:cNvPr id="14" name="TextBox 13"/>
          <p:cNvSpPr txBox="1"/>
          <p:nvPr/>
        </p:nvSpPr>
        <p:spPr>
          <a:xfrm>
            <a:off x="5385340" y="2451068"/>
            <a:ext cx="2188654"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Decompose</a:t>
            </a:r>
          </a:p>
        </p:txBody>
      </p:sp>
      <p:sp>
        <p:nvSpPr>
          <p:cNvPr id="15" name="TextBox 14"/>
          <p:cNvSpPr txBox="1"/>
          <p:nvPr/>
        </p:nvSpPr>
        <p:spPr>
          <a:xfrm>
            <a:off x="5385340" y="2915888"/>
            <a:ext cx="2201863" cy="1658112"/>
          </a:xfrm>
          <a:prstGeom prst="rect">
            <a:avLst/>
          </a:prstGeom>
          <a:noFill/>
        </p:spPr>
        <p:txBody>
          <a:bodyPr wrap="square" anchor="ctr" lIns="0" tIns="0" rIns="0" bIns="0">
            <a:noAutofit/>
          </a:bodyPr>
          <a:lstStyle/>
          <a:p>
            <a:pPr algn="l">
              <a:lnSpc>
                <a:spcPts val="2684"/>
              </a:lnSpc>
              <a:spcBef>
                <a:spcPts val="0"/>
              </a:spcBef>
              <a:spcAft>
                <a:spcPts val="0"/>
              </a:spcAft>
            </a:pPr>
            <a:r>
              <a:rPr sz="2064" b="0" i="0" u="none">
                <a:solidFill>
                  <a:srgbClr val="3B3535"/>
                </a:solidFill>
                <a:latin typeface="Arial"/>
              </a:rPr>
              <a:t>It splits the body into that template's exact required fields.</a:t>
            </a:r>
          </a:p>
        </p:txBody>
      </p:sp>
      <p:sp>
        <p:nvSpPr>
          <p:cNvPr id="16" name="Rounded Rectangle 15"/>
          <p:cNvSpPr/>
          <p:nvPr/>
        </p:nvSpPr>
        <p:spPr>
          <a:xfrm>
            <a:off x="8081772" y="2192369"/>
            <a:ext cx="3437668" cy="2685478"/>
          </a:xfrm>
          <a:prstGeom prst="roundRect">
            <a:avLst>
              <a:gd name="adj" fmla="val 6355"/>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8091297" y="2201894"/>
            <a:ext cx="731520" cy="2666428"/>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8348472" y="3311462"/>
            <a:ext cx="512445" cy="438150"/>
          </a:xfrm>
          <a:prstGeom prst="rect">
            <a:avLst/>
          </a:prstGeom>
          <a:noFill/>
        </p:spPr>
        <p:txBody>
          <a:bodyPr wrap="none" anchor="ctr" lIns="0" tIns="0" rIns="0" bIns="0">
            <a:noAutofit/>
          </a:bodyPr>
          <a:lstStyle/>
          <a:p>
            <a:pPr algn="l">
              <a:lnSpc>
                <a:spcPts val="3072"/>
              </a:lnSpc>
              <a:spcBef>
                <a:spcPts val="0"/>
              </a:spcBef>
              <a:spcAft>
                <a:spcPts val="0"/>
              </a:spcAft>
            </a:pPr>
            <a:r>
              <a:rPr sz="3072" b="1" i="0" u="none">
                <a:solidFill>
                  <a:srgbClr val="3B3535"/>
                </a:solidFill>
                <a:latin typeface="Arial"/>
              </a:rPr>
              <a:t>3</a:t>
            </a:r>
          </a:p>
        </p:txBody>
      </p:sp>
      <p:sp>
        <p:nvSpPr>
          <p:cNvPr id="19" name="TextBox 18"/>
          <p:cNvSpPr txBox="1"/>
          <p:nvPr/>
        </p:nvSpPr>
        <p:spPr>
          <a:xfrm>
            <a:off x="9091041" y="2451068"/>
            <a:ext cx="2188845"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Render</a:t>
            </a:r>
          </a:p>
        </p:txBody>
      </p:sp>
      <p:sp>
        <p:nvSpPr>
          <p:cNvPr id="20" name="TextBox 19"/>
          <p:cNvSpPr txBox="1"/>
          <p:nvPr/>
        </p:nvSpPr>
        <p:spPr>
          <a:xfrm>
            <a:off x="9091041" y="2915888"/>
            <a:ext cx="2202056" cy="1684210"/>
          </a:xfrm>
          <a:prstGeom prst="rect">
            <a:avLst/>
          </a:prstGeom>
          <a:noFill/>
        </p:spPr>
        <p:txBody>
          <a:bodyPr wrap="square" anchor="ctr" lIns="0" tIns="0" rIns="0" bIns="0">
            <a:noAutofit/>
          </a:bodyPr>
          <a:lstStyle/>
          <a:p>
            <a:pPr algn="l">
              <a:lnSpc>
                <a:spcPts val="2684"/>
              </a:lnSpc>
              <a:spcBef>
                <a:spcPts val="0"/>
              </a:spcBef>
              <a:spcAft>
                <a:spcPts val="0"/>
              </a:spcAft>
            </a:pPr>
            <a:r>
              <a:rPr sz="2064" b="0" i="0" u="none">
                <a:solidFill>
                  <a:srgbClr val="3B3535"/>
                </a:solidFill>
                <a:latin typeface="Arial"/>
              </a:rPr>
              <a:t>build_html.py maps those fields onto Jinja templates, mechanically.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A plain enumeration → the numbered list</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Seven unlabeled lines: no labels to card up, so they number instead of falling to bullets.</a:t>
            </a:r>
          </a:p>
        </p:txBody>
      </p:sp>
      <p:sp>
        <p:nvSpPr>
          <p:cNvPr id="6" name="Oval 5"/>
          <p:cNvSpPr/>
          <p:nvPr/>
        </p:nvSpPr>
        <p:spPr>
          <a:xfrm>
            <a:off x="670465" y="2237804"/>
            <a:ext cx="409099" cy="409099"/>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814864" y="2316575"/>
            <a:ext cx="302800" cy="239744"/>
          </a:xfrm>
          <a:prstGeom prst="rect">
            <a:avLst/>
          </a:prstGeom>
          <a:noFill/>
        </p:spPr>
        <p:txBody>
          <a:bodyPr wrap="none" anchor="ctr" lIns="0" tIns="0" rIns="0" bIns="0">
            <a:noAutofit/>
          </a:bodyPr>
          <a:lstStyle/>
          <a:p>
            <a:pPr algn="l">
              <a:lnSpc>
                <a:spcPts val="1696"/>
              </a:lnSpc>
              <a:spcBef>
                <a:spcPts val="0"/>
              </a:spcBef>
              <a:spcAft>
                <a:spcPts val="0"/>
              </a:spcAft>
            </a:pPr>
            <a:r>
              <a:rPr sz="1696" b="1" i="0" u="none">
                <a:solidFill>
                  <a:srgbClr val="DA1B2E"/>
                </a:solidFill>
                <a:latin typeface="Arial"/>
              </a:rPr>
              <a:t>1</a:t>
            </a:r>
          </a:p>
        </p:txBody>
      </p:sp>
      <p:sp>
        <p:nvSpPr>
          <p:cNvPr id="8" name="TextBox 7"/>
          <p:cNvSpPr txBox="1"/>
          <p:nvPr/>
        </p:nvSpPr>
        <p:spPr>
          <a:xfrm>
            <a:off x="1352360" y="2219039"/>
            <a:ext cx="6053614" cy="292989"/>
          </a:xfrm>
          <a:prstGeom prst="rect">
            <a:avLst/>
          </a:prstGeom>
          <a:noFill/>
        </p:spPr>
        <p:txBody>
          <a:bodyPr wrap="none" anchor="ctr" lIns="0" tIns="0" rIns="0" bIns="0">
            <a:noAutofit/>
          </a:bodyPr>
          <a:lstStyle/>
          <a:p>
            <a:pPr algn="l">
              <a:lnSpc>
                <a:spcPts val="2772"/>
              </a:lnSpc>
              <a:spcBef>
                <a:spcPts val="0"/>
              </a:spcBef>
              <a:spcAft>
                <a:spcPts val="0"/>
              </a:spcAft>
            </a:pPr>
            <a:r>
              <a:rPr sz="2053" b="0" i="0" u="none">
                <a:solidFill>
                  <a:srgbClr val="3B3535"/>
                </a:solidFill>
                <a:latin typeface="Arial"/>
              </a:rPr>
              <a:t>Uno cada dos clases, relacionado con temas vistos.</a:t>
            </a:r>
          </a:p>
        </p:txBody>
      </p:sp>
      <p:sp>
        <p:nvSpPr>
          <p:cNvPr id="9" name="Oval 8"/>
          <p:cNvSpPr/>
          <p:nvPr/>
        </p:nvSpPr>
        <p:spPr>
          <a:xfrm>
            <a:off x="670465" y="2839879"/>
            <a:ext cx="409099" cy="409099"/>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814864" y="2918650"/>
            <a:ext cx="302800" cy="239744"/>
          </a:xfrm>
          <a:prstGeom prst="rect">
            <a:avLst/>
          </a:prstGeom>
          <a:noFill/>
        </p:spPr>
        <p:txBody>
          <a:bodyPr wrap="none" anchor="ctr" lIns="0" tIns="0" rIns="0" bIns="0">
            <a:noAutofit/>
          </a:bodyPr>
          <a:lstStyle/>
          <a:p>
            <a:pPr algn="l">
              <a:lnSpc>
                <a:spcPts val="1696"/>
              </a:lnSpc>
              <a:spcBef>
                <a:spcPts val="0"/>
              </a:spcBef>
              <a:spcAft>
                <a:spcPts val="0"/>
              </a:spcAft>
            </a:pPr>
            <a:r>
              <a:rPr sz="1696" b="1" i="0" u="none">
                <a:solidFill>
                  <a:srgbClr val="DA1B2E"/>
                </a:solidFill>
                <a:latin typeface="Arial"/>
              </a:rPr>
              <a:t>2</a:t>
            </a:r>
          </a:p>
        </p:txBody>
      </p:sp>
      <p:sp>
        <p:nvSpPr>
          <p:cNvPr id="11" name="TextBox 10"/>
          <p:cNvSpPr txBox="1"/>
          <p:nvPr/>
        </p:nvSpPr>
        <p:spPr>
          <a:xfrm>
            <a:off x="1352360" y="2821114"/>
            <a:ext cx="3031808" cy="292989"/>
          </a:xfrm>
          <a:prstGeom prst="rect">
            <a:avLst/>
          </a:prstGeom>
          <a:noFill/>
        </p:spPr>
        <p:txBody>
          <a:bodyPr wrap="none" anchor="ctr" lIns="0" tIns="0" rIns="0" bIns="0">
            <a:noAutofit/>
          </a:bodyPr>
          <a:lstStyle/>
          <a:p>
            <a:pPr algn="l">
              <a:lnSpc>
                <a:spcPts val="2772"/>
              </a:lnSpc>
              <a:spcBef>
                <a:spcPts val="0"/>
              </a:spcBef>
              <a:spcAft>
                <a:spcPts val="0"/>
              </a:spcAft>
            </a:pPr>
            <a:r>
              <a:rPr sz="2053" b="0" i="0" u="none">
                <a:solidFill>
                  <a:srgbClr val="3B3535"/>
                </a:solidFill>
                <a:latin typeface="Arial"/>
              </a:rPr>
              <a:t>En grupos de 2 personas.</a:t>
            </a:r>
          </a:p>
        </p:txBody>
      </p:sp>
      <p:sp>
        <p:nvSpPr>
          <p:cNvPr id="12" name="Oval 11"/>
          <p:cNvSpPr/>
          <p:nvPr/>
        </p:nvSpPr>
        <p:spPr>
          <a:xfrm>
            <a:off x="670465" y="3442049"/>
            <a:ext cx="409099" cy="409099"/>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814864" y="3520821"/>
            <a:ext cx="302800" cy="239744"/>
          </a:xfrm>
          <a:prstGeom prst="rect">
            <a:avLst/>
          </a:prstGeom>
          <a:noFill/>
        </p:spPr>
        <p:txBody>
          <a:bodyPr wrap="none" anchor="ctr" lIns="0" tIns="0" rIns="0" bIns="0">
            <a:noAutofit/>
          </a:bodyPr>
          <a:lstStyle/>
          <a:p>
            <a:pPr algn="l">
              <a:lnSpc>
                <a:spcPts val="1696"/>
              </a:lnSpc>
              <a:spcBef>
                <a:spcPts val="0"/>
              </a:spcBef>
              <a:spcAft>
                <a:spcPts val="0"/>
              </a:spcAft>
            </a:pPr>
            <a:r>
              <a:rPr sz="1696" b="1" i="0" u="none">
                <a:solidFill>
                  <a:srgbClr val="DA1B2E"/>
                </a:solidFill>
                <a:latin typeface="Arial"/>
              </a:rPr>
              <a:t>3</a:t>
            </a:r>
          </a:p>
        </p:txBody>
      </p:sp>
      <p:sp>
        <p:nvSpPr>
          <p:cNvPr id="14" name="TextBox 13"/>
          <p:cNvSpPr txBox="1"/>
          <p:nvPr/>
        </p:nvSpPr>
        <p:spPr>
          <a:xfrm>
            <a:off x="1352360" y="3423285"/>
            <a:ext cx="3129058" cy="292989"/>
          </a:xfrm>
          <a:prstGeom prst="rect">
            <a:avLst/>
          </a:prstGeom>
          <a:noFill/>
        </p:spPr>
        <p:txBody>
          <a:bodyPr wrap="none" anchor="ctr" lIns="0" tIns="0" rIns="0" bIns="0">
            <a:noAutofit/>
          </a:bodyPr>
          <a:lstStyle/>
          <a:p>
            <a:pPr algn="l">
              <a:lnSpc>
                <a:spcPts val="2772"/>
              </a:lnSpc>
              <a:spcBef>
                <a:spcPts val="0"/>
              </a:spcBef>
              <a:spcAft>
                <a:spcPts val="0"/>
              </a:spcAft>
            </a:pPr>
            <a:r>
              <a:rPr sz="2053" b="0" i="0" u="none">
                <a:solidFill>
                  <a:srgbClr val="3B3535"/>
                </a:solidFill>
                <a:latin typeface="Arial"/>
              </a:rPr>
              <a:t>Valen </a:t>
            </a:r>
            <a:r>
              <a:rPr sz="2053" b="1" i="0" u="none">
                <a:solidFill>
                  <a:srgbClr val="3B3535"/>
                </a:solidFill>
                <a:latin typeface="Arial"/>
              </a:rPr>
              <a:t>40%</a:t>
            </a:r>
            <a:r>
              <a:rPr sz="2053" b="0" i="0" u="none">
                <a:solidFill>
                  <a:srgbClr val="3B3535"/>
                </a:solidFill>
                <a:latin typeface="Arial"/>
              </a:rPr>
              <a:t> de la nota final.</a:t>
            </a:r>
          </a:p>
        </p:txBody>
      </p:sp>
      <p:sp>
        <p:nvSpPr>
          <p:cNvPr id="15" name="Oval 14"/>
          <p:cNvSpPr/>
          <p:nvPr/>
        </p:nvSpPr>
        <p:spPr>
          <a:xfrm>
            <a:off x="670465" y="4044124"/>
            <a:ext cx="409099" cy="409099"/>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814864" y="4122896"/>
            <a:ext cx="302800" cy="239744"/>
          </a:xfrm>
          <a:prstGeom prst="rect">
            <a:avLst/>
          </a:prstGeom>
          <a:noFill/>
        </p:spPr>
        <p:txBody>
          <a:bodyPr wrap="none" anchor="ctr" lIns="0" tIns="0" rIns="0" bIns="0">
            <a:noAutofit/>
          </a:bodyPr>
          <a:lstStyle/>
          <a:p>
            <a:pPr algn="l">
              <a:lnSpc>
                <a:spcPts val="1696"/>
              </a:lnSpc>
              <a:spcBef>
                <a:spcPts val="0"/>
              </a:spcBef>
              <a:spcAft>
                <a:spcPts val="0"/>
              </a:spcAft>
            </a:pPr>
            <a:r>
              <a:rPr sz="1696" b="1" i="0" u="none">
                <a:solidFill>
                  <a:srgbClr val="DA1B2E"/>
                </a:solidFill>
                <a:latin typeface="Arial"/>
              </a:rPr>
              <a:t>4</a:t>
            </a:r>
          </a:p>
        </p:txBody>
      </p:sp>
      <p:sp>
        <p:nvSpPr>
          <p:cNvPr id="17" name="TextBox 16"/>
          <p:cNvSpPr txBox="1"/>
          <p:nvPr/>
        </p:nvSpPr>
        <p:spPr>
          <a:xfrm>
            <a:off x="1352360" y="4025360"/>
            <a:ext cx="5181981" cy="292989"/>
          </a:xfrm>
          <a:prstGeom prst="rect">
            <a:avLst/>
          </a:prstGeom>
          <a:noFill/>
        </p:spPr>
        <p:txBody>
          <a:bodyPr wrap="none" anchor="ctr" lIns="0" tIns="0" rIns="0" bIns="0">
            <a:noAutofit/>
          </a:bodyPr>
          <a:lstStyle/>
          <a:p>
            <a:pPr algn="l">
              <a:lnSpc>
                <a:spcPts val="2772"/>
              </a:lnSpc>
              <a:spcBef>
                <a:spcPts val="0"/>
              </a:spcBef>
              <a:spcAft>
                <a:spcPts val="0"/>
              </a:spcAft>
            </a:pPr>
            <a:r>
              <a:rPr sz="2053" b="0" i="0" u="none">
                <a:solidFill>
                  <a:srgbClr val="3B3535"/>
                </a:solidFill>
                <a:latin typeface="Arial"/>
              </a:rPr>
              <a:t>Gran parte del trabajo se completa en clase.</a:t>
            </a:r>
          </a:p>
        </p:txBody>
      </p:sp>
      <p:sp>
        <p:nvSpPr>
          <p:cNvPr id="18" name="Oval 17"/>
          <p:cNvSpPr/>
          <p:nvPr/>
        </p:nvSpPr>
        <p:spPr>
          <a:xfrm>
            <a:off x="670465" y="4646200"/>
            <a:ext cx="409099" cy="409099"/>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814864" y="4725067"/>
            <a:ext cx="302800" cy="239744"/>
          </a:xfrm>
          <a:prstGeom prst="rect">
            <a:avLst/>
          </a:prstGeom>
          <a:noFill/>
        </p:spPr>
        <p:txBody>
          <a:bodyPr wrap="none" anchor="ctr" lIns="0" tIns="0" rIns="0" bIns="0">
            <a:noAutofit/>
          </a:bodyPr>
          <a:lstStyle/>
          <a:p>
            <a:pPr algn="l">
              <a:lnSpc>
                <a:spcPts val="1696"/>
              </a:lnSpc>
              <a:spcBef>
                <a:spcPts val="0"/>
              </a:spcBef>
              <a:spcAft>
                <a:spcPts val="0"/>
              </a:spcAft>
            </a:pPr>
            <a:r>
              <a:rPr sz="1696" b="1" i="0" u="none">
                <a:solidFill>
                  <a:srgbClr val="DA1B2E"/>
                </a:solidFill>
                <a:latin typeface="Arial"/>
              </a:rPr>
              <a:t>5</a:t>
            </a:r>
          </a:p>
        </p:txBody>
      </p:sp>
      <p:sp>
        <p:nvSpPr>
          <p:cNvPr id="20" name="TextBox 19"/>
          <p:cNvSpPr txBox="1"/>
          <p:nvPr/>
        </p:nvSpPr>
        <p:spPr>
          <a:xfrm>
            <a:off x="1352360" y="4627531"/>
            <a:ext cx="6867430" cy="292989"/>
          </a:xfrm>
          <a:prstGeom prst="rect">
            <a:avLst/>
          </a:prstGeom>
          <a:noFill/>
        </p:spPr>
        <p:txBody>
          <a:bodyPr wrap="none" anchor="ctr" lIns="0" tIns="0" rIns="0" bIns="0">
            <a:noAutofit/>
          </a:bodyPr>
          <a:lstStyle/>
          <a:p>
            <a:pPr algn="l">
              <a:lnSpc>
                <a:spcPts val="2772"/>
              </a:lnSpc>
              <a:spcBef>
                <a:spcPts val="0"/>
              </a:spcBef>
              <a:spcAft>
                <a:spcPts val="0"/>
              </a:spcAft>
            </a:pPr>
            <a:r>
              <a:rPr sz="2053" b="0" i="0" u="none">
                <a:solidFill>
                  <a:srgbClr val="3B3535"/>
                </a:solidFill>
                <a:latin typeface="Arial"/>
              </a:rPr>
              <a:t>Entrega: antes del viernes siguiente vía repositorio GitHub.</a:t>
            </a:r>
          </a:p>
        </p:txBody>
      </p:sp>
      <p:sp>
        <p:nvSpPr>
          <p:cNvPr id="21" name="Oval 20"/>
          <p:cNvSpPr/>
          <p:nvPr/>
        </p:nvSpPr>
        <p:spPr>
          <a:xfrm>
            <a:off x="670465" y="5248370"/>
            <a:ext cx="409099" cy="409099"/>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814864" y="5327142"/>
            <a:ext cx="302800" cy="239744"/>
          </a:xfrm>
          <a:prstGeom prst="rect">
            <a:avLst/>
          </a:prstGeom>
          <a:noFill/>
        </p:spPr>
        <p:txBody>
          <a:bodyPr wrap="none" anchor="ctr" lIns="0" tIns="0" rIns="0" bIns="0">
            <a:noAutofit/>
          </a:bodyPr>
          <a:lstStyle/>
          <a:p>
            <a:pPr algn="l">
              <a:lnSpc>
                <a:spcPts val="1696"/>
              </a:lnSpc>
              <a:spcBef>
                <a:spcPts val="0"/>
              </a:spcBef>
              <a:spcAft>
                <a:spcPts val="0"/>
              </a:spcAft>
            </a:pPr>
            <a:r>
              <a:rPr sz="1696" b="1" i="0" u="none">
                <a:solidFill>
                  <a:srgbClr val="DA1B2E"/>
                </a:solidFill>
                <a:latin typeface="Arial"/>
              </a:rPr>
              <a:t>6</a:t>
            </a:r>
          </a:p>
        </p:txBody>
      </p:sp>
      <p:sp>
        <p:nvSpPr>
          <p:cNvPr id="23" name="TextBox 22"/>
          <p:cNvSpPr txBox="1"/>
          <p:nvPr/>
        </p:nvSpPr>
        <p:spPr>
          <a:xfrm>
            <a:off x="1352360" y="5229606"/>
            <a:ext cx="4557522" cy="292989"/>
          </a:xfrm>
          <a:prstGeom prst="rect">
            <a:avLst/>
          </a:prstGeom>
          <a:noFill/>
        </p:spPr>
        <p:txBody>
          <a:bodyPr wrap="none" anchor="ctr" lIns="0" tIns="0" rIns="0" bIns="0">
            <a:noAutofit/>
          </a:bodyPr>
          <a:lstStyle/>
          <a:p>
            <a:pPr algn="l">
              <a:lnSpc>
                <a:spcPts val="2772"/>
              </a:lnSpc>
              <a:spcBef>
                <a:spcPts val="0"/>
              </a:spcBef>
              <a:spcAft>
                <a:spcPts val="0"/>
              </a:spcAft>
            </a:pPr>
            <a:r>
              <a:rPr sz="2053" b="0" i="0" u="none">
                <a:solidFill>
                  <a:srgbClr val="3B3535"/>
                </a:solidFill>
                <a:latin typeface="Arial"/>
              </a:rPr>
              <a:t>Todos los entregables son obligatorios.</a:t>
            </a:r>
          </a:p>
        </p:txBody>
      </p:sp>
      <p:sp>
        <p:nvSpPr>
          <p:cNvPr id="24" name="Oval 23"/>
          <p:cNvSpPr/>
          <p:nvPr/>
        </p:nvSpPr>
        <p:spPr>
          <a:xfrm>
            <a:off x="670465" y="5850446"/>
            <a:ext cx="409099" cy="397954"/>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814864" y="5929312"/>
            <a:ext cx="302800" cy="239744"/>
          </a:xfrm>
          <a:prstGeom prst="rect">
            <a:avLst/>
          </a:prstGeom>
          <a:noFill/>
        </p:spPr>
        <p:txBody>
          <a:bodyPr wrap="none" anchor="ctr" lIns="0" tIns="0" rIns="0" bIns="0">
            <a:noAutofit/>
          </a:bodyPr>
          <a:lstStyle/>
          <a:p>
            <a:pPr algn="l">
              <a:lnSpc>
                <a:spcPts val="1696"/>
              </a:lnSpc>
              <a:spcBef>
                <a:spcPts val="0"/>
              </a:spcBef>
              <a:spcAft>
                <a:spcPts val="0"/>
              </a:spcAft>
            </a:pPr>
            <a:r>
              <a:rPr sz="1696" b="1" i="0" u="none">
                <a:solidFill>
                  <a:srgbClr val="DA1B2E"/>
                </a:solidFill>
                <a:latin typeface="Arial"/>
              </a:rPr>
              <a:t>7</a:t>
            </a:r>
          </a:p>
        </p:txBody>
      </p:sp>
      <p:sp>
        <p:nvSpPr>
          <p:cNvPr id="26" name="TextBox 25"/>
          <p:cNvSpPr txBox="1"/>
          <p:nvPr/>
        </p:nvSpPr>
        <p:spPr>
          <a:xfrm>
            <a:off x="1352360" y="5831776"/>
            <a:ext cx="4019550" cy="292989"/>
          </a:xfrm>
          <a:prstGeom prst="rect">
            <a:avLst/>
          </a:prstGeom>
          <a:noFill/>
        </p:spPr>
        <p:txBody>
          <a:bodyPr wrap="none" anchor="ctr" lIns="0" tIns="0" rIns="0" bIns="0">
            <a:noAutofit/>
          </a:bodyPr>
          <a:lstStyle/>
          <a:p>
            <a:pPr algn="l">
              <a:lnSpc>
                <a:spcPts val="2772"/>
              </a:lnSpc>
              <a:spcBef>
                <a:spcPts val="0"/>
              </a:spcBef>
              <a:spcAft>
                <a:spcPts val="0"/>
              </a:spcAft>
            </a:pPr>
            <a:r>
              <a:rPr sz="2053" b="0" i="0" u="none">
                <a:solidFill>
                  <a:srgbClr val="3B3535"/>
                </a:solidFill>
                <a:latin typeface="Arial"/>
              </a:rPr>
              <a:t>Entregas tardías impactan la nota.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process: plain numbered steps</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When the steps are ordered but unlabeled, render them as a vertical numbered list:</a:t>
            </a:r>
          </a:p>
        </p:txBody>
      </p:sp>
      <p:sp>
        <p:nvSpPr>
          <p:cNvPr id="6" name="Oval 5"/>
          <p:cNvSpPr/>
          <p:nvPr/>
        </p:nvSpPr>
        <p:spPr>
          <a:xfrm>
            <a:off x="670465" y="2241042"/>
            <a:ext cx="438912" cy="438912"/>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825436" y="2325624"/>
            <a:ext cx="322040" cy="257175"/>
          </a:xfrm>
          <a:prstGeom prst="rect">
            <a:avLst/>
          </a:prstGeom>
          <a:noFill/>
        </p:spPr>
        <p:txBody>
          <a:bodyPr wrap="none" anchor="ctr" lIns="0" tIns="0" rIns="0" bIns="0">
            <a:noAutofit/>
          </a:bodyPr>
          <a:lstStyle/>
          <a:p>
            <a:pPr algn="l">
              <a:lnSpc>
                <a:spcPts val="1823"/>
              </a:lnSpc>
              <a:spcBef>
                <a:spcPts val="0"/>
              </a:spcBef>
              <a:spcAft>
                <a:spcPts val="0"/>
              </a:spcAft>
            </a:pPr>
            <a:r>
              <a:rPr sz="1823" b="1" i="0" u="none">
                <a:solidFill>
                  <a:srgbClr val="DA1B2E"/>
                </a:solidFill>
                <a:latin typeface="Arial"/>
              </a:rPr>
              <a:t>1</a:t>
            </a:r>
          </a:p>
        </p:txBody>
      </p:sp>
      <p:sp>
        <p:nvSpPr>
          <p:cNvPr id="8" name="TextBox 7"/>
          <p:cNvSpPr txBox="1"/>
          <p:nvPr/>
        </p:nvSpPr>
        <p:spPr>
          <a:xfrm>
            <a:off x="1401985" y="2220944"/>
            <a:ext cx="9042368" cy="352425"/>
          </a:xfrm>
          <a:prstGeom prst="rect">
            <a:avLst/>
          </a:prstGeom>
          <a:noFill/>
        </p:spPr>
        <p:txBody>
          <a:bodyPr wrap="none" anchor="ctr" lIns="0" tIns="0" rIns="0" bIns="0">
            <a:noAutofit/>
          </a:bodyPr>
          <a:lstStyle/>
          <a:p>
            <a:pPr algn="l">
              <a:lnSpc>
                <a:spcPts val="3370"/>
              </a:lnSpc>
              <a:spcBef>
                <a:spcPts val="0"/>
              </a:spcBef>
              <a:spcAft>
                <a:spcPts val="0"/>
              </a:spcAft>
            </a:pPr>
            <a:r>
              <a:rPr sz="2496" b="0" i="0" u="none">
                <a:solidFill>
                  <a:srgbClr val="3B3535"/>
                </a:solidFill>
                <a:latin typeface="Arial"/>
              </a:rPr>
              <a:t>Identify the data you are about to share and where it came from.</a:t>
            </a:r>
          </a:p>
        </p:txBody>
      </p:sp>
      <p:sp>
        <p:nvSpPr>
          <p:cNvPr id="9" name="Oval 8"/>
          <p:cNvSpPr/>
          <p:nvPr/>
        </p:nvSpPr>
        <p:spPr>
          <a:xfrm>
            <a:off x="670465" y="2947988"/>
            <a:ext cx="438912" cy="438912"/>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825436" y="3032570"/>
            <a:ext cx="322040" cy="257175"/>
          </a:xfrm>
          <a:prstGeom prst="rect">
            <a:avLst/>
          </a:prstGeom>
          <a:noFill/>
        </p:spPr>
        <p:txBody>
          <a:bodyPr wrap="none" anchor="ctr" lIns="0" tIns="0" rIns="0" bIns="0">
            <a:noAutofit/>
          </a:bodyPr>
          <a:lstStyle/>
          <a:p>
            <a:pPr algn="l">
              <a:lnSpc>
                <a:spcPts val="1823"/>
              </a:lnSpc>
              <a:spcBef>
                <a:spcPts val="0"/>
              </a:spcBef>
              <a:spcAft>
                <a:spcPts val="0"/>
              </a:spcAft>
            </a:pPr>
            <a:r>
              <a:rPr sz="1823" b="1" i="0" u="none">
                <a:solidFill>
                  <a:srgbClr val="DA1B2E"/>
                </a:solidFill>
                <a:latin typeface="Arial"/>
              </a:rPr>
              <a:t>2</a:t>
            </a:r>
          </a:p>
        </p:txBody>
      </p:sp>
      <p:sp>
        <p:nvSpPr>
          <p:cNvPr id="11" name="TextBox 10"/>
          <p:cNvSpPr txBox="1"/>
          <p:nvPr/>
        </p:nvSpPr>
        <p:spPr>
          <a:xfrm>
            <a:off x="1401985" y="2927890"/>
            <a:ext cx="7648766" cy="352425"/>
          </a:xfrm>
          <a:prstGeom prst="rect">
            <a:avLst/>
          </a:prstGeom>
          <a:noFill/>
        </p:spPr>
        <p:txBody>
          <a:bodyPr wrap="none" anchor="ctr" lIns="0" tIns="0" rIns="0" bIns="0">
            <a:noAutofit/>
          </a:bodyPr>
          <a:lstStyle/>
          <a:p>
            <a:pPr algn="l">
              <a:lnSpc>
                <a:spcPts val="3370"/>
              </a:lnSpc>
              <a:spcBef>
                <a:spcPts val="0"/>
              </a:spcBef>
              <a:spcAft>
                <a:spcPts val="0"/>
              </a:spcAft>
            </a:pPr>
            <a:r>
              <a:rPr sz="2496" b="0" i="0" u="none">
                <a:solidFill>
                  <a:srgbClr val="3B3535"/>
                </a:solidFill>
                <a:latin typeface="Arial"/>
              </a:rPr>
              <a:t>Classify its sensitivity before it leaves your workspace.</a:t>
            </a:r>
          </a:p>
        </p:txBody>
      </p:sp>
      <p:sp>
        <p:nvSpPr>
          <p:cNvPr id="12" name="Oval 11"/>
          <p:cNvSpPr/>
          <p:nvPr/>
        </p:nvSpPr>
        <p:spPr>
          <a:xfrm>
            <a:off x="670465" y="3654933"/>
            <a:ext cx="438912" cy="438912"/>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825436" y="3739420"/>
            <a:ext cx="322040" cy="257175"/>
          </a:xfrm>
          <a:prstGeom prst="rect">
            <a:avLst/>
          </a:prstGeom>
          <a:noFill/>
        </p:spPr>
        <p:txBody>
          <a:bodyPr wrap="none" anchor="ctr" lIns="0" tIns="0" rIns="0" bIns="0">
            <a:noAutofit/>
          </a:bodyPr>
          <a:lstStyle/>
          <a:p>
            <a:pPr algn="l">
              <a:lnSpc>
                <a:spcPts val="1823"/>
              </a:lnSpc>
              <a:spcBef>
                <a:spcPts val="0"/>
              </a:spcBef>
              <a:spcAft>
                <a:spcPts val="0"/>
              </a:spcAft>
            </a:pPr>
            <a:r>
              <a:rPr sz="1823" b="1" i="0" u="none">
                <a:solidFill>
                  <a:srgbClr val="DA1B2E"/>
                </a:solidFill>
                <a:latin typeface="Arial"/>
              </a:rPr>
              <a:t>3</a:t>
            </a:r>
          </a:p>
        </p:txBody>
      </p:sp>
      <p:sp>
        <p:nvSpPr>
          <p:cNvPr id="14" name="TextBox 13"/>
          <p:cNvSpPr txBox="1"/>
          <p:nvPr/>
        </p:nvSpPr>
        <p:spPr>
          <a:xfrm>
            <a:off x="1401985" y="3634835"/>
            <a:ext cx="6628543" cy="352425"/>
          </a:xfrm>
          <a:prstGeom prst="rect">
            <a:avLst/>
          </a:prstGeom>
          <a:noFill/>
        </p:spPr>
        <p:txBody>
          <a:bodyPr wrap="none" anchor="ctr" lIns="0" tIns="0" rIns="0" bIns="0">
            <a:noAutofit/>
          </a:bodyPr>
          <a:lstStyle/>
          <a:p>
            <a:pPr algn="l">
              <a:lnSpc>
                <a:spcPts val="3370"/>
              </a:lnSpc>
              <a:spcBef>
                <a:spcPts val="0"/>
              </a:spcBef>
              <a:spcAft>
                <a:spcPts val="0"/>
              </a:spcAft>
            </a:pPr>
            <a:r>
              <a:rPr sz="2496" b="0" i="0" u="none">
                <a:solidFill>
                  <a:srgbClr val="3B3535"/>
                </a:solidFill>
                <a:latin typeface="Arial"/>
              </a:rPr>
              <a:t>Choose an approved tool for that classification.</a:t>
            </a:r>
          </a:p>
        </p:txBody>
      </p:sp>
      <p:sp>
        <p:nvSpPr>
          <p:cNvPr id="15" name="Oval 14"/>
          <p:cNvSpPr/>
          <p:nvPr/>
        </p:nvSpPr>
        <p:spPr>
          <a:xfrm>
            <a:off x="670465" y="4361878"/>
            <a:ext cx="438912" cy="438912"/>
          </a:xfrm>
          <a:prstGeom prst="ellipse">
            <a:avLst/>
          </a:prstGeom>
          <a:noFill/>
          <a:ln w="28575">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825436" y="4446365"/>
            <a:ext cx="322040" cy="257175"/>
          </a:xfrm>
          <a:prstGeom prst="rect">
            <a:avLst/>
          </a:prstGeom>
          <a:noFill/>
        </p:spPr>
        <p:txBody>
          <a:bodyPr wrap="none" anchor="ctr" lIns="0" tIns="0" rIns="0" bIns="0">
            <a:noAutofit/>
          </a:bodyPr>
          <a:lstStyle/>
          <a:p>
            <a:pPr algn="l">
              <a:lnSpc>
                <a:spcPts val="1823"/>
              </a:lnSpc>
              <a:spcBef>
                <a:spcPts val="0"/>
              </a:spcBef>
              <a:spcAft>
                <a:spcPts val="0"/>
              </a:spcAft>
            </a:pPr>
            <a:r>
              <a:rPr sz="1823" b="1" i="0" u="none">
                <a:solidFill>
                  <a:srgbClr val="DA1B2E"/>
                </a:solidFill>
                <a:latin typeface="Arial"/>
              </a:rPr>
              <a:t>4</a:t>
            </a:r>
          </a:p>
        </p:txBody>
      </p:sp>
      <p:sp>
        <p:nvSpPr>
          <p:cNvPr id="17" name="TextBox 16"/>
          <p:cNvSpPr txBox="1"/>
          <p:nvPr/>
        </p:nvSpPr>
        <p:spPr>
          <a:xfrm>
            <a:off x="1401985" y="4341781"/>
            <a:ext cx="8742616" cy="352425"/>
          </a:xfrm>
          <a:prstGeom prst="rect">
            <a:avLst/>
          </a:prstGeom>
          <a:noFill/>
        </p:spPr>
        <p:txBody>
          <a:bodyPr wrap="none" anchor="ctr" lIns="0" tIns="0" rIns="0" bIns="0">
            <a:noAutofit/>
          </a:bodyPr>
          <a:lstStyle/>
          <a:p>
            <a:pPr algn="l">
              <a:lnSpc>
                <a:spcPts val="3370"/>
              </a:lnSpc>
              <a:spcBef>
                <a:spcPts val="0"/>
              </a:spcBef>
              <a:spcAft>
                <a:spcPts val="0"/>
              </a:spcAft>
            </a:pPr>
            <a:r>
              <a:rPr sz="2496" b="0" i="0" u="none">
                <a:solidFill>
                  <a:srgbClr val="3B3535"/>
                </a:solidFill>
                <a:latin typeface="Arial"/>
              </a:rPr>
              <a:t>Record what was shared so the workflow can be audited later.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process: steps beside a supporting diagram</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With an image, the steps become a narrow column and the diagram takes the other half:</a:t>
            </a:r>
          </a:p>
        </p:txBody>
      </p:sp>
      <p:sp>
        <p:nvSpPr>
          <p:cNvPr id="6" name="Rounded Rectangle 5"/>
          <p:cNvSpPr/>
          <p:nvPr/>
        </p:nvSpPr>
        <p:spPr>
          <a:xfrm>
            <a:off x="670465" y="2192369"/>
            <a:ext cx="1570672" cy="4056031"/>
          </a:xfrm>
          <a:prstGeom prst="roundRect">
            <a:avLst>
              <a:gd name="adj" fmla="val 10867"/>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9323" y="2201228"/>
            <a:ext cx="678942" cy="4044887"/>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918020" y="4016121"/>
            <a:ext cx="478346" cy="406622"/>
          </a:xfrm>
          <a:prstGeom prst="rect">
            <a:avLst/>
          </a:prstGeom>
          <a:noFill/>
        </p:spPr>
        <p:txBody>
          <a:bodyPr wrap="none" anchor="ctr" lIns="0" tIns="0" rIns="0" bIns="0">
            <a:noAutofit/>
          </a:bodyPr>
          <a:lstStyle/>
          <a:p>
            <a:pPr algn="l">
              <a:lnSpc>
                <a:spcPts val="2857"/>
              </a:lnSpc>
              <a:spcBef>
                <a:spcPts val="0"/>
              </a:spcBef>
              <a:spcAft>
                <a:spcPts val="0"/>
              </a:spcAft>
            </a:pPr>
            <a:r>
              <a:rPr sz="2857" b="1" i="0" u="none">
                <a:solidFill>
                  <a:srgbClr val="3B3535"/>
                </a:solidFill>
                <a:latin typeface="Arial"/>
              </a:rPr>
              <a:t>1</a:t>
            </a:r>
          </a:p>
        </p:txBody>
      </p:sp>
      <p:sp>
        <p:nvSpPr>
          <p:cNvPr id="9" name="TextBox 8"/>
          <p:cNvSpPr txBox="1"/>
          <p:nvPr/>
        </p:nvSpPr>
        <p:spPr>
          <a:xfrm>
            <a:off x="1607153" y="2432494"/>
            <a:ext cx="662544" cy="970693"/>
          </a:xfrm>
          <a:prstGeom prst="rect">
            <a:avLst/>
          </a:prstGeom>
          <a:noFill/>
        </p:spPr>
        <p:txBody>
          <a:bodyPr wrap="square" anchor="ctr" lIns="0" tIns="0" rIns="0" bIns="0">
            <a:noAutofit/>
          </a:bodyPr>
          <a:lstStyle/>
          <a:p>
            <a:pPr algn="l">
              <a:lnSpc>
                <a:spcPts val="2411"/>
              </a:lnSpc>
              <a:spcBef>
                <a:spcPts val="0"/>
              </a:spcBef>
              <a:spcAft>
                <a:spcPts val="0"/>
              </a:spcAft>
            </a:pPr>
            <a:r>
              <a:rPr sz="2411" b="1" i="0" u="none">
                <a:solidFill>
                  <a:srgbClr val="1F1E1E"/>
                </a:solidFill>
                <a:latin typeface="Arial"/>
              </a:rPr>
              <a:t>Own layout</a:t>
            </a:r>
          </a:p>
        </p:txBody>
      </p:sp>
      <p:sp>
        <p:nvSpPr>
          <p:cNvPr id="10" name="TextBox 9"/>
          <p:cNvSpPr txBox="1"/>
          <p:nvPr/>
        </p:nvSpPr>
        <p:spPr>
          <a:xfrm>
            <a:off x="1607153" y="3169348"/>
            <a:ext cx="662544" cy="2808542"/>
          </a:xfrm>
          <a:prstGeom prst="rect">
            <a:avLst/>
          </a:prstGeom>
          <a:noFill/>
        </p:spPr>
        <p:txBody>
          <a:bodyPr wrap="square" anchor="ctr" lIns="0" tIns="0" rIns="0" bIns="0">
            <a:noAutofit/>
          </a:bodyPr>
          <a:lstStyle/>
          <a:p>
            <a:pPr algn="l">
              <a:lnSpc>
                <a:spcPts val="2496"/>
              </a:lnSpc>
              <a:spcBef>
                <a:spcPts val="0"/>
              </a:spcBef>
              <a:spcAft>
                <a:spcPts val="0"/>
              </a:spcAft>
            </a:pPr>
            <a:r>
              <a:rPr sz="1920" b="0" i="0" u="none">
                <a:solidFill>
                  <a:srgbClr val="3B3535"/>
                </a:solidFill>
                <a:latin typeface="Arial"/>
              </a:rPr>
              <a:t>An image switches process to a two-column arrangement, not the full-width numbered cards.</a:t>
            </a:r>
          </a:p>
        </p:txBody>
      </p:sp>
      <p:sp>
        <p:nvSpPr>
          <p:cNvPr id="11" name="Rounded Rectangle 10"/>
          <p:cNvSpPr/>
          <p:nvPr/>
        </p:nvSpPr>
        <p:spPr>
          <a:xfrm>
            <a:off x="2490026" y="2192369"/>
            <a:ext cx="1570768" cy="4056031"/>
          </a:xfrm>
          <a:prstGeom prst="roundRect">
            <a:avLst>
              <a:gd name="adj" fmla="val 10866"/>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2498884" y="2201228"/>
            <a:ext cx="678942" cy="4044887"/>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2737580" y="4016121"/>
            <a:ext cx="478346" cy="406622"/>
          </a:xfrm>
          <a:prstGeom prst="rect">
            <a:avLst/>
          </a:prstGeom>
          <a:noFill/>
        </p:spPr>
        <p:txBody>
          <a:bodyPr wrap="none" anchor="ctr" lIns="0" tIns="0" rIns="0" bIns="0">
            <a:noAutofit/>
          </a:bodyPr>
          <a:lstStyle/>
          <a:p>
            <a:pPr algn="l">
              <a:lnSpc>
                <a:spcPts val="2857"/>
              </a:lnSpc>
              <a:spcBef>
                <a:spcPts val="0"/>
              </a:spcBef>
              <a:spcAft>
                <a:spcPts val="0"/>
              </a:spcAft>
            </a:pPr>
            <a:r>
              <a:rPr sz="2857" b="1" i="0" u="none">
                <a:solidFill>
                  <a:srgbClr val="3B3535"/>
                </a:solidFill>
                <a:latin typeface="Arial"/>
              </a:rPr>
              <a:t>2</a:t>
            </a:r>
          </a:p>
        </p:txBody>
      </p:sp>
      <p:sp>
        <p:nvSpPr>
          <p:cNvPr id="14" name="TextBox 13"/>
          <p:cNvSpPr txBox="1"/>
          <p:nvPr/>
        </p:nvSpPr>
        <p:spPr>
          <a:xfrm>
            <a:off x="3426619" y="2432494"/>
            <a:ext cx="662737" cy="1276160"/>
          </a:xfrm>
          <a:prstGeom prst="rect">
            <a:avLst/>
          </a:prstGeom>
          <a:noFill/>
        </p:spPr>
        <p:txBody>
          <a:bodyPr wrap="square" anchor="ctr" lIns="0" tIns="0" rIns="0" bIns="0">
            <a:noAutofit/>
          </a:bodyPr>
          <a:lstStyle/>
          <a:p>
            <a:pPr algn="l">
              <a:lnSpc>
                <a:spcPts val="2411"/>
              </a:lnSpc>
              <a:spcBef>
                <a:spcPts val="0"/>
              </a:spcBef>
              <a:spcAft>
                <a:spcPts val="0"/>
              </a:spcAft>
            </a:pPr>
            <a:r>
              <a:rPr sz="2411" b="1" i="0" u="none">
                <a:solidFill>
                  <a:srgbClr val="1F1E1E"/>
                </a:solidFill>
                <a:latin typeface="Arial"/>
              </a:rPr>
              <a:t>Rows, not cards</a:t>
            </a:r>
          </a:p>
        </p:txBody>
      </p:sp>
      <p:sp>
        <p:nvSpPr>
          <p:cNvPr id="15" name="TextBox 14"/>
          <p:cNvSpPr txBox="1"/>
          <p:nvPr/>
        </p:nvSpPr>
        <p:spPr>
          <a:xfrm>
            <a:off x="3426619" y="3474910"/>
            <a:ext cx="662737" cy="2502979"/>
          </a:xfrm>
          <a:prstGeom prst="rect">
            <a:avLst/>
          </a:prstGeom>
          <a:noFill/>
        </p:spPr>
        <p:txBody>
          <a:bodyPr wrap="square" anchor="ctr" lIns="0" tIns="0" rIns="0" bIns="0">
            <a:noAutofit/>
          </a:bodyPr>
          <a:lstStyle/>
          <a:p>
            <a:pPr algn="l">
              <a:lnSpc>
                <a:spcPts val="2496"/>
              </a:lnSpc>
              <a:spcBef>
                <a:spcPts val="0"/>
              </a:spcBef>
              <a:spcAft>
                <a:spcPts val="0"/>
              </a:spcAft>
            </a:pPr>
            <a:r>
              <a:rPr sz="1920" b="0" i="0" u="none">
                <a:solidFill>
                  <a:srgbClr val="3B3535"/>
                </a:solidFill>
                <a:latin typeface="Arial"/>
              </a:rPr>
              <a:t>Each step compresses to a numbered row so the diagram keeps its space.</a:t>
            </a:r>
          </a:p>
        </p:txBody>
      </p:sp>
      <p:sp>
        <p:nvSpPr>
          <p:cNvPr id="16" name="Rounded Rectangle 15"/>
          <p:cNvSpPr/>
          <p:nvPr/>
        </p:nvSpPr>
        <p:spPr>
          <a:xfrm>
            <a:off x="4309682" y="2192369"/>
            <a:ext cx="1570768" cy="4056031"/>
          </a:xfrm>
          <a:prstGeom prst="roundRect">
            <a:avLst>
              <a:gd name="adj" fmla="val 10866"/>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4318540" y="2201228"/>
            <a:ext cx="678942" cy="4044887"/>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4557236" y="4016121"/>
            <a:ext cx="478346" cy="406622"/>
          </a:xfrm>
          <a:prstGeom prst="rect">
            <a:avLst/>
          </a:prstGeom>
          <a:noFill/>
        </p:spPr>
        <p:txBody>
          <a:bodyPr wrap="none" anchor="ctr" lIns="0" tIns="0" rIns="0" bIns="0">
            <a:noAutofit/>
          </a:bodyPr>
          <a:lstStyle/>
          <a:p>
            <a:pPr algn="l">
              <a:lnSpc>
                <a:spcPts val="2857"/>
              </a:lnSpc>
              <a:spcBef>
                <a:spcPts val="0"/>
              </a:spcBef>
              <a:spcAft>
                <a:spcPts val="0"/>
              </a:spcAft>
            </a:pPr>
            <a:r>
              <a:rPr sz="2857" b="1" i="0" u="none">
                <a:solidFill>
                  <a:srgbClr val="3B3535"/>
                </a:solidFill>
                <a:latin typeface="Arial"/>
              </a:rPr>
              <a:t>3</a:t>
            </a:r>
          </a:p>
        </p:txBody>
      </p:sp>
      <p:sp>
        <p:nvSpPr>
          <p:cNvPr id="19" name="TextBox 18"/>
          <p:cNvSpPr txBox="1"/>
          <p:nvPr/>
        </p:nvSpPr>
        <p:spPr>
          <a:xfrm>
            <a:off x="5246370" y="2432494"/>
            <a:ext cx="662640" cy="970693"/>
          </a:xfrm>
          <a:prstGeom prst="rect">
            <a:avLst/>
          </a:prstGeom>
          <a:noFill/>
        </p:spPr>
        <p:txBody>
          <a:bodyPr wrap="square" anchor="ctr" lIns="0" tIns="0" rIns="0" bIns="0">
            <a:noAutofit/>
          </a:bodyPr>
          <a:lstStyle/>
          <a:p>
            <a:pPr algn="l">
              <a:lnSpc>
                <a:spcPts val="2411"/>
              </a:lnSpc>
              <a:spcBef>
                <a:spcPts val="0"/>
              </a:spcBef>
              <a:spcAft>
                <a:spcPts val="0"/>
              </a:spcAft>
            </a:pPr>
            <a:r>
              <a:rPr sz="2411" b="1" i="0" u="none">
                <a:solidFill>
                  <a:srgbClr val="1F1E1E"/>
                </a:solidFill>
                <a:latin typeface="Arial"/>
              </a:rPr>
              <a:t>Never cropped</a:t>
            </a:r>
          </a:p>
        </p:txBody>
      </p:sp>
      <p:sp>
        <p:nvSpPr>
          <p:cNvPr id="20" name="TextBox 19"/>
          <p:cNvSpPr txBox="1"/>
          <p:nvPr/>
        </p:nvSpPr>
        <p:spPr>
          <a:xfrm>
            <a:off x="5246370" y="3169348"/>
            <a:ext cx="662640" cy="2808542"/>
          </a:xfrm>
          <a:prstGeom prst="rect">
            <a:avLst/>
          </a:prstGeom>
          <a:noFill/>
        </p:spPr>
        <p:txBody>
          <a:bodyPr wrap="square" anchor="ctr" lIns="0" tIns="0" rIns="0" bIns="0">
            <a:noAutofit/>
          </a:bodyPr>
          <a:lstStyle/>
          <a:p>
            <a:pPr algn="l">
              <a:lnSpc>
                <a:spcPts val="2496"/>
              </a:lnSpc>
              <a:spcBef>
                <a:spcPts val="0"/>
              </a:spcBef>
              <a:spcAft>
                <a:spcPts val="0"/>
              </a:spcAft>
            </a:pPr>
            <a:r>
              <a:rPr sz="1920" b="0" i="0" u="none">
                <a:solidFill>
                  <a:srgbClr val="3B3535"/>
                </a:solidFill>
                <a:latin typeface="Arial"/>
              </a:rPr>
              <a:t>The supporting image is contained, so a diagram here stays readable.</a:t>
            </a:r>
          </a:p>
        </p:txBody>
      </p:sp>
      <p:sp>
        <p:nvSpPr>
          <p:cNvPr id="21" name="Rounded Rectangle 20"/>
          <p:cNvSpPr/>
          <p:nvPr/>
        </p:nvSpPr>
        <p:spPr>
          <a:xfrm>
            <a:off x="6309265" y="2192369"/>
            <a:ext cx="5212270" cy="4056031"/>
          </a:xfrm>
          <a:prstGeom prst="roundRect">
            <a:avLst>
              <a:gd name="adj" fmla="val 4208"/>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2" name="Picture 21" descr="image.png"/>
          <p:cNvPicPr>
            <a:picLocks noChangeAspect="1"/>
          </p:cNvPicPr>
          <p:nvPr/>
        </p:nvPicPr>
        <p:blipFill>
          <a:blip r:embed="rId2"/>
          <a:stretch>
            <a:fillRect/>
          </a:stretch>
        </p:blipFill>
        <p:spPr>
          <a:xfrm>
            <a:off x="6318980" y="2759869"/>
            <a:ext cx="5192935" cy="292103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process: diagram first, steps following (image-left)</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The same steps with the diagram leading the eye:</a:t>
            </a:r>
          </a:p>
        </p:txBody>
      </p:sp>
      <p:sp>
        <p:nvSpPr>
          <p:cNvPr id="6" name="Rounded Rectangle 5"/>
          <p:cNvSpPr/>
          <p:nvPr/>
        </p:nvSpPr>
        <p:spPr>
          <a:xfrm>
            <a:off x="6309265" y="2745391"/>
            <a:ext cx="1593152" cy="3503009"/>
          </a:xfrm>
          <a:prstGeom prst="roundRect">
            <a:avLst>
              <a:gd name="adj" fmla="val 10713"/>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316885" y="2753106"/>
            <a:ext cx="586740" cy="3495294"/>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6523196" y="4321588"/>
            <a:ext cx="418528" cy="351472"/>
          </a:xfrm>
          <a:prstGeom prst="rect">
            <a:avLst/>
          </a:prstGeom>
          <a:noFill/>
        </p:spPr>
        <p:txBody>
          <a:bodyPr wrap="none" anchor="ctr" lIns="0" tIns="0" rIns="0" bIns="0">
            <a:noAutofit/>
          </a:bodyPr>
          <a:lstStyle/>
          <a:p>
            <a:pPr algn="l">
              <a:lnSpc>
                <a:spcPts val="2458"/>
              </a:lnSpc>
              <a:spcBef>
                <a:spcPts val="0"/>
              </a:spcBef>
              <a:spcAft>
                <a:spcPts val="0"/>
              </a:spcAft>
            </a:pPr>
            <a:r>
              <a:rPr sz="2458" b="1" i="0" u="none">
                <a:solidFill>
                  <a:srgbClr val="3B3535"/>
                </a:solidFill>
                <a:latin typeface="Arial"/>
              </a:rPr>
              <a:t>1</a:t>
            </a:r>
          </a:p>
        </p:txBody>
      </p:sp>
      <p:sp>
        <p:nvSpPr>
          <p:cNvPr id="9" name="TextBox 8"/>
          <p:cNvSpPr txBox="1"/>
          <p:nvPr/>
        </p:nvSpPr>
        <p:spPr>
          <a:xfrm>
            <a:off x="7118794" y="2952940"/>
            <a:ext cx="814426" cy="883539"/>
          </a:xfrm>
          <a:prstGeom prst="rect">
            <a:avLst/>
          </a:prstGeom>
          <a:noFill/>
        </p:spPr>
        <p:txBody>
          <a:bodyPr wrap="square" anchor="ctr" lIns="0" tIns="0" rIns="0" bIns="0">
            <a:noAutofit/>
          </a:bodyPr>
          <a:lstStyle/>
          <a:p>
            <a:pPr algn="l">
              <a:lnSpc>
                <a:spcPts val="2074"/>
              </a:lnSpc>
              <a:spcBef>
                <a:spcPts val="0"/>
              </a:spcBef>
              <a:spcAft>
                <a:spcPts val="0"/>
              </a:spcAft>
            </a:pPr>
            <a:r>
              <a:rPr sz="2074" b="1" i="0" u="none">
                <a:solidFill>
                  <a:srgbClr val="1F1E1E"/>
                </a:solidFill>
                <a:latin typeface="Arial"/>
              </a:rPr>
              <a:t>Own layout</a:t>
            </a:r>
          </a:p>
        </p:txBody>
      </p:sp>
      <p:sp>
        <p:nvSpPr>
          <p:cNvPr id="10" name="TextBox 9"/>
          <p:cNvSpPr txBox="1"/>
          <p:nvPr/>
        </p:nvSpPr>
        <p:spPr>
          <a:xfrm>
            <a:off x="7118794" y="3589782"/>
            <a:ext cx="814426" cy="2422874"/>
          </a:xfrm>
          <a:prstGeom prst="rect">
            <a:avLst/>
          </a:prstGeom>
          <a:noFill/>
        </p:spPr>
        <p:txBody>
          <a:bodyPr wrap="square" anchor="ctr" lIns="0" tIns="0" rIns="0" bIns="0">
            <a:noAutofit/>
          </a:bodyPr>
          <a:lstStyle/>
          <a:p>
            <a:pPr algn="l">
              <a:lnSpc>
                <a:spcPts val="2147"/>
              </a:lnSpc>
              <a:spcBef>
                <a:spcPts val="0"/>
              </a:spcBef>
              <a:spcAft>
                <a:spcPts val="0"/>
              </a:spcAft>
            </a:pPr>
            <a:r>
              <a:rPr sz="1651" b="0" i="0" u="none">
                <a:solidFill>
                  <a:srgbClr val="3B3535"/>
                </a:solidFill>
                <a:latin typeface="Arial"/>
              </a:rPr>
              <a:t>An image switches process to a two-column arrangement, not the full-width numbered cards.</a:t>
            </a:r>
          </a:p>
        </p:txBody>
      </p:sp>
      <p:sp>
        <p:nvSpPr>
          <p:cNvPr id="11" name="Rounded Rectangle 10"/>
          <p:cNvSpPr/>
          <p:nvPr/>
        </p:nvSpPr>
        <p:spPr>
          <a:xfrm>
            <a:off x="8117586" y="2745391"/>
            <a:ext cx="1593342" cy="3503009"/>
          </a:xfrm>
          <a:prstGeom prst="roundRect">
            <a:avLst>
              <a:gd name="adj" fmla="val 1071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8125206" y="2753106"/>
            <a:ext cx="586740" cy="3495294"/>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8331518" y="4321588"/>
            <a:ext cx="418528" cy="351472"/>
          </a:xfrm>
          <a:prstGeom prst="rect">
            <a:avLst/>
          </a:prstGeom>
          <a:noFill/>
        </p:spPr>
        <p:txBody>
          <a:bodyPr wrap="none" anchor="ctr" lIns="0" tIns="0" rIns="0" bIns="0">
            <a:noAutofit/>
          </a:bodyPr>
          <a:lstStyle/>
          <a:p>
            <a:pPr algn="l">
              <a:lnSpc>
                <a:spcPts val="2458"/>
              </a:lnSpc>
              <a:spcBef>
                <a:spcPts val="0"/>
              </a:spcBef>
              <a:spcAft>
                <a:spcPts val="0"/>
              </a:spcAft>
            </a:pPr>
            <a:r>
              <a:rPr sz="2458" b="1" i="0" u="none">
                <a:solidFill>
                  <a:srgbClr val="3B3535"/>
                </a:solidFill>
                <a:latin typeface="Arial"/>
              </a:rPr>
              <a:t>2</a:t>
            </a:r>
          </a:p>
        </p:txBody>
      </p:sp>
      <p:sp>
        <p:nvSpPr>
          <p:cNvPr id="14" name="TextBox 13"/>
          <p:cNvSpPr txBox="1"/>
          <p:nvPr/>
        </p:nvSpPr>
        <p:spPr>
          <a:xfrm>
            <a:off x="8927020" y="2952940"/>
            <a:ext cx="814716" cy="1147667"/>
          </a:xfrm>
          <a:prstGeom prst="rect">
            <a:avLst/>
          </a:prstGeom>
          <a:noFill/>
        </p:spPr>
        <p:txBody>
          <a:bodyPr wrap="square" anchor="ctr" lIns="0" tIns="0" rIns="0" bIns="0">
            <a:noAutofit/>
          </a:bodyPr>
          <a:lstStyle/>
          <a:p>
            <a:pPr algn="l">
              <a:lnSpc>
                <a:spcPts val="2074"/>
              </a:lnSpc>
              <a:spcBef>
                <a:spcPts val="0"/>
              </a:spcBef>
              <a:spcAft>
                <a:spcPts val="0"/>
              </a:spcAft>
            </a:pPr>
            <a:r>
              <a:rPr sz="2074" b="1" i="0" u="none">
                <a:solidFill>
                  <a:srgbClr val="1F1E1E"/>
                </a:solidFill>
                <a:latin typeface="Arial"/>
              </a:rPr>
              <a:t>Rows, not cards</a:t>
            </a:r>
          </a:p>
        </p:txBody>
      </p:sp>
      <p:sp>
        <p:nvSpPr>
          <p:cNvPr id="15" name="TextBox 14"/>
          <p:cNvSpPr txBox="1"/>
          <p:nvPr/>
        </p:nvSpPr>
        <p:spPr>
          <a:xfrm>
            <a:off x="8927020" y="3853815"/>
            <a:ext cx="814716" cy="2149602"/>
          </a:xfrm>
          <a:prstGeom prst="rect">
            <a:avLst/>
          </a:prstGeom>
          <a:noFill/>
        </p:spPr>
        <p:txBody>
          <a:bodyPr wrap="square" anchor="ctr" lIns="0" tIns="0" rIns="0" bIns="0">
            <a:noAutofit/>
          </a:bodyPr>
          <a:lstStyle/>
          <a:p>
            <a:pPr algn="l">
              <a:lnSpc>
                <a:spcPts val="2147"/>
              </a:lnSpc>
              <a:spcBef>
                <a:spcPts val="0"/>
              </a:spcBef>
              <a:spcAft>
                <a:spcPts val="0"/>
              </a:spcAft>
            </a:pPr>
            <a:r>
              <a:rPr sz="1651" b="0" i="0" u="none">
                <a:solidFill>
                  <a:srgbClr val="3B3535"/>
                </a:solidFill>
                <a:latin typeface="Arial"/>
              </a:rPr>
              <a:t>Each step compresses to a numbered row so the diagram keeps its space.</a:t>
            </a:r>
          </a:p>
        </p:txBody>
      </p:sp>
      <p:sp>
        <p:nvSpPr>
          <p:cNvPr id="16" name="Rounded Rectangle 15"/>
          <p:cNvSpPr/>
          <p:nvPr/>
        </p:nvSpPr>
        <p:spPr>
          <a:xfrm>
            <a:off x="9926002" y="2745391"/>
            <a:ext cx="1593342" cy="3503009"/>
          </a:xfrm>
          <a:prstGeom prst="roundRect">
            <a:avLst>
              <a:gd name="adj" fmla="val 1071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9933622" y="2753106"/>
            <a:ext cx="586740" cy="3495294"/>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10139934" y="4321588"/>
            <a:ext cx="418528" cy="351472"/>
          </a:xfrm>
          <a:prstGeom prst="rect">
            <a:avLst/>
          </a:prstGeom>
          <a:noFill/>
        </p:spPr>
        <p:txBody>
          <a:bodyPr wrap="none" anchor="ctr" lIns="0" tIns="0" rIns="0" bIns="0">
            <a:noAutofit/>
          </a:bodyPr>
          <a:lstStyle/>
          <a:p>
            <a:pPr algn="l">
              <a:lnSpc>
                <a:spcPts val="2458"/>
              </a:lnSpc>
              <a:spcBef>
                <a:spcPts val="0"/>
              </a:spcBef>
              <a:spcAft>
                <a:spcPts val="0"/>
              </a:spcAft>
            </a:pPr>
            <a:r>
              <a:rPr sz="2458" b="1" i="0" u="none">
                <a:solidFill>
                  <a:srgbClr val="3B3535"/>
                </a:solidFill>
                <a:latin typeface="Arial"/>
              </a:rPr>
              <a:t>3</a:t>
            </a:r>
          </a:p>
        </p:txBody>
      </p:sp>
      <p:sp>
        <p:nvSpPr>
          <p:cNvPr id="19" name="TextBox 18"/>
          <p:cNvSpPr txBox="1"/>
          <p:nvPr/>
        </p:nvSpPr>
        <p:spPr>
          <a:xfrm>
            <a:off x="10735437" y="2952940"/>
            <a:ext cx="814716" cy="883539"/>
          </a:xfrm>
          <a:prstGeom prst="rect">
            <a:avLst/>
          </a:prstGeom>
          <a:noFill/>
        </p:spPr>
        <p:txBody>
          <a:bodyPr wrap="square" anchor="ctr" lIns="0" tIns="0" rIns="0" bIns="0">
            <a:noAutofit/>
          </a:bodyPr>
          <a:lstStyle/>
          <a:p>
            <a:pPr algn="l">
              <a:lnSpc>
                <a:spcPts val="2074"/>
              </a:lnSpc>
              <a:spcBef>
                <a:spcPts val="0"/>
              </a:spcBef>
              <a:spcAft>
                <a:spcPts val="0"/>
              </a:spcAft>
            </a:pPr>
            <a:r>
              <a:rPr sz="2074" b="1" i="0" u="none">
                <a:solidFill>
                  <a:srgbClr val="1F1E1E"/>
                </a:solidFill>
                <a:latin typeface="Arial"/>
              </a:rPr>
              <a:t>Never cropped</a:t>
            </a:r>
          </a:p>
        </p:txBody>
      </p:sp>
      <p:sp>
        <p:nvSpPr>
          <p:cNvPr id="20" name="TextBox 19"/>
          <p:cNvSpPr txBox="1"/>
          <p:nvPr/>
        </p:nvSpPr>
        <p:spPr>
          <a:xfrm>
            <a:off x="10735437" y="3589782"/>
            <a:ext cx="814716" cy="2390870"/>
          </a:xfrm>
          <a:prstGeom prst="rect">
            <a:avLst/>
          </a:prstGeom>
          <a:noFill/>
        </p:spPr>
        <p:txBody>
          <a:bodyPr wrap="square" anchor="ctr" lIns="0" tIns="0" rIns="0" bIns="0">
            <a:noAutofit/>
          </a:bodyPr>
          <a:lstStyle/>
          <a:p>
            <a:pPr algn="l">
              <a:lnSpc>
                <a:spcPts val="2147"/>
              </a:lnSpc>
              <a:spcBef>
                <a:spcPts val="0"/>
              </a:spcBef>
              <a:spcAft>
                <a:spcPts val="0"/>
              </a:spcAft>
            </a:pPr>
            <a:r>
              <a:rPr sz="1651" b="0" i="0" u="none">
                <a:solidFill>
                  <a:srgbClr val="3B3535"/>
                </a:solidFill>
                <a:latin typeface="Arial"/>
              </a:rPr>
              <a:t>The supporting image is contained, so a diagram here stays readable.</a:t>
            </a:r>
          </a:p>
        </p:txBody>
      </p:sp>
      <p:sp>
        <p:nvSpPr>
          <p:cNvPr id="21" name="Rounded Rectangle 20"/>
          <p:cNvSpPr/>
          <p:nvPr/>
        </p:nvSpPr>
        <p:spPr>
          <a:xfrm>
            <a:off x="670465" y="2745391"/>
            <a:ext cx="5212080" cy="3503009"/>
          </a:xfrm>
          <a:prstGeom prst="roundRect">
            <a:avLst>
              <a:gd name="adj" fmla="val 487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2" name="Picture 21" descr="image.png"/>
          <p:cNvPicPr>
            <a:picLocks noChangeAspect="1"/>
          </p:cNvPicPr>
          <p:nvPr/>
        </p:nvPicPr>
        <p:blipFill>
          <a:blip r:embed="rId2"/>
          <a:stretch>
            <a:fillRect/>
          </a:stretch>
        </p:blipFill>
        <p:spPr>
          <a:xfrm>
            <a:off x="679990" y="3036379"/>
            <a:ext cx="5192935" cy="292103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timeline: a dated milestone sequence</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An optional lead can frame the sequence before the dates begin.</a:t>
            </a:r>
          </a:p>
        </p:txBody>
      </p:sp>
      <p:sp>
        <p:nvSpPr>
          <p:cNvPr id="6" name="Rectangle 5"/>
          <p:cNvSpPr/>
          <p:nvPr/>
        </p:nvSpPr>
        <p:spPr>
          <a:xfrm>
            <a:off x="853250" y="2192369"/>
            <a:ext cx="10666190" cy="29317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853250" y="2192369"/>
            <a:ext cx="57150" cy="2931795"/>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Oval 7"/>
          <p:cNvSpPr/>
          <p:nvPr/>
        </p:nvSpPr>
        <p:spPr>
          <a:xfrm>
            <a:off x="806768" y="2314289"/>
            <a:ext cx="292608" cy="292608"/>
          </a:xfrm>
          <a:prstGeom prst="ellipse">
            <a:avLst/>
          </a:prstGeom>
          <a:solidFill>
            <a:srgbClr val="DA1B2E"/>
          </a:solidFill>
          <a:ln w="571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1337120" y="2192369"/>
            <a:ext cx="10220516" cy="371475"/>
          </a:xfrm>
          <a:prstGeom prst="rect">
            <a:avLst/>
          </a:prstGeom>
          <a:noFill/>
        </p:spPr>
        <p:txBody>
          <a:bodyPr wrap="none" anchor="ctr" lIns="0" tIns="0" rIns="0" bIns="0">
            <a:noAutofit/>
          </a:bodyPr>
          <a:lstStyle/>
          <a:p>
            <a:pPr algn="l">
              <a:lnSpc>
                <a:spcPts val="2784"/>
              </a:lnSpc>
              <a:spcBef>
                <a:spcPts val="0"/>
              </a:spcBef>
              <a:spcAft>
                <a:spcPts val="0"/>
              </a:spcAft>
            </a:pPr>
            <a:r>
              <a:rPr sz="2784" b="1" i="0" u="none">
                <a:solidFill>
                  <a:srgbClr val="DA1B2E"/>
                </a:solidFill>
                <a:latin typeface="Courier New"/>
              </a:rPr>
              <a:t>Day 1</a:t>
            </a:r>
          </a:p>
        </p:txBody>
      </p:sp>
      <p:sp>
        <p:nvSpPr>
          <p:cNvPr id="10" name="TextBox 9"/>
          <p:cNvSpPr txBox="1"/>
          <p:nvPr/>
        </p:nvSpPr>
        <p:spPr>
          <a:xfrm>
            <a:off x="1337120" y="2613755"/>
            <a:ext cx="10220516" cy="342900"/>
          </a:xfrm>
          <a:prstGeom prst="rect">
            <a:avLst/>
          </a:prstGeom>
          <a:noFill/>
        </p:spPr>
        <p:txBody>
          <a:bodyPr wrap="none" anchor="ctr" lIns="0" tIns="0" rIns="0" bIns="0">
            <a:noAutofit/>
          </a:bodyPr>
          <a:lstStyle/>
          <a:p>
            <a:pPr algn="l">
              <a:lnSpc>
                <a:spcPts val="3120"/>
              </a:lnSpc>
              <a:spcBef>
                <a:spcPts val="0"/>
              </a:spcBef>
              <a:spcAft>
                <a:spcPts val="0"/>
              </a:spcAft>
            </a:pPr>
            <a:r>
              <a:rPr sz="2400" b="0" i="0" u="none">
                <a:solidFill>
                  <a:srgbClr val="3B3535"/>
                </a:solidFill>
                <a:latin typeface="Arial"/>
              </a:rPr>
              <a:t>Reach for timeline when the labels read as dates or milestones.</a:t>
            </a:r>
          </a:p>
        </p:txBody>
      </p:sp>
      <p:sp>
        <p:nvSpPr>
          <p:cNvPr id="11" name="Oval 10"/>
          <p:cNvSpPr/>
          <p:nvPr/>
        </p:nvSpPr>
        <p:spPr>
          <a:xfrm>
            <a:off x="806768" y="3380899"/>
            <a:ext cx="292608" cy="292608"/>
          </a:xfrm>
          <a:prstGeom prst="ellipse">
            <a:avLst/>
          </a:prstGeom>
          <a:solidFill>
            <a:srgbClr val="DA1B2E"/>
          </a:solidFill>
          <a:ln w="571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337120" y="3230499"/>
            <a:ext cx="10220516" cy="400050"/>
          </a:xfrm>
          <a:prstGeom prst="rect">
            <a:avLst/>
          </a:prstGeom>
          <a:noFill/>
        </p:spPr>
        <p:txBody>
          <a:bodyPr wrap="none" anchor="ctr" lIns="0" tIns="0" rIns="0" bIns="0">
            <a:noAutofit/>
          </a:bodyPr>
          <a:lstStyle/>
          <a:p>
            <a:pPr algn="l">
              <a:lnSpc>
                <a:spcPts val="2784"/>
              </a:lnSpc>
              <a:spcBef>
                <a:spcPts val="0"/>
              </a:spcBef>
              <a:spcAft>
                <a:spcPts val="0"/>
              </a:spcAft>
            </a:pPr>
            <a:r>
              <a:rPr sz="2784" b="1" i="0" u="none">
                <a:solidFill>
                  <a:srgbClr val="DA1B2E"/>
                </a:solidFill>
                <a:latin typeface="Courier New"/>
              </a:rPr>
              <a:t>Day 2</a:t>
            </a:r>
          </a:p>
        </p:txBody>
      </p:sp>
      <p:sp>
        <p:nvSpPr>
          <p:cNvPr id="13" name="TextBox 12"/>
          <p:cNvSpPr txBox="1"/>
          <p:nvPr/>
        </p:nvSpPr>
        <p:spPr>
          <a:xfrm>
            <a:off x="1337120" y="3680365"/>
            <a:ext cx="10220516" cy="342900"/>
          </a:xfrm>
          <a:prstGeom prst="rect">
            <a:avLst/>
          </a:prstGeom>
          <a:noFill/>
        </p:spPr>
        <p:txBody>
          <a:bodyPr wrap="none" anchor="ctr" lIns="0" tIns="0" rIns="0" bIns="0">
            <a:noAutofit/>
          </a:bodyPr>
          <a:lstStyle/>
          <a:p>
            <a:pPr algn="l">
              <a:lnSpc>
                <a:spcPts val="3120"/>
              </a:lnSpc>
              <a:spcBef>
                <a:spcPts val="0"/>
              </a:spcBef>
              <a:spcAft>
                <a:spcPts val="0"/>
              </a:spcAft>
            </a:pPr>
            <a:r>
              <a:rPr sz="2400" b="0" i="0" u="none">
                <a:solidFill>
                  <a:srgbClr val="3B3535"/>
                </a:solidFill>
                <a:latin typeface="Arial"/>
              </a:rPr>
              <a:t>Time flows top to bottom along a connecting rail with a dot per entry.</a:t>
            </a:r>
          </a:p>
        </p:txBody>
      </p:sp>
      <p:sp>
        <p:nvSpPr>
          <p:cNvPr id="14" name="Oval 13"/>
          <p:cNvSpPr/>
          <p:nvPr/>
        </p:nvSpPr>
        <p:spPr>
          <a:xfrm>
            <a:off x="806768" y="4447604"/>
            <a:ext cx="292608" cy="292608"/>
          </a:xfrm>
          <a:prstGeom prst="ellipse">
            <a:avLst/>
          </a:prstGeom>
          <a:solidFill>
            <a:srgbClr val="DA1B2E"/>
          </a:solidFill>
          <a:ln w="571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1337120" y="4297108"/>
            <a:ext cx="10220516" cy="400050"/>
          </a:xfrm>
          <a:prstGeom prst="rect">
            <a:avLst/>
          </a:prstGeom>
          <a:noFill/>
        </p:spPr>
        <p:txBody>
          <a:bodyPr wrap="none" anchor="ctr" lIns="0" tIns="0" rIns="0" bIns="0">
            <a:noAutofit/>
          </a:bodyPr>
          <a:lstStyle/>
          <a:p>
            <a:pPr algn="l">
              <a:lnSpc>
                <a:spcPts val="2784"/>
              </a:lnSpc>
              <a:spcBef>
                <a:spcPts val="0"/>
              </a:spcBef>
              <a:spcAft>
                <a:spcPts val="0"/>
              </a:spcAft>
            </a:pPr>
            <a:r>
              <a:rPr sz="2784" b="1" i="0" u="none">
                <a:solidFill>
                  <a:srgbClr val="DA1B2E"/>
                </a:solidFill>
                <a:latin typeface="Courier New"/>
              </a:rPr>
              <a:t>Day 3</a:t>
            </a:r>
          </a:p>
        </p:txBody>
      </p:sp>
      <p:sp>
        <p:nvSpPr>
          <p:cNvPr id="16" name="TextBox 15"/>
          <p:cNvSpPr txBox="1"/>
          <p:nvPr/>
        </p:nvSpPr>
        <p:spPr>
          <a:xfrm>
            <a:off x="1337120" y="4747070"/>
            <a:ext cx="10220516" cy="342900"/>
          </a:xfrm>
          <a:prstGeom prst="rect">
            <a:avLst/>
          </a:prstGeom>
          <a:noFill/>
        </p:spPr>
        <p:txBody>
          <a:bodyPr wrap="none" anchor="ctr" lIns="0" tIns="0" rIns="0" bIns="0">
            <a:noAutofit/>
          </a:bodyPr>
          <a:lstStyle/>
          <a:p>
            <a:pPr algn="l">
              <a:lnSpc>
                <a:spcPts val="3120"/>
              </a:lnSpc>
              <a:spcBef>
                <a:spcPts val="0"/>
              </a:spcBef>
              <a:spcAft>
                <a:spcPts val="0"/>
              </a:spcAft>
            </a:pPr>
            <a:r>
              <a:rPr sz="2400" b="0" i="0" u="none">
                <a:solidFill>
                  <a:srgbClr val="3B3535"/>
                </a:solidFill>
                <a:latin typeface="Arial"/>
              </a:rPr>
              <a:t>It differs from process only in that here, when matters more than the step.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timeline: milestones carrying an explicit marker</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The optional per-milestone marker rides inside the dot:</a:t>
            </a:r>
          </a:p>
        </p:txBody>
      </p:sp>
      <p:sp>
        <p:nvSpPr>
          <p:cNvPr id="6" name="Rectangle 5"/>
          <p:cNvSpPr/>
          <p:nvPr/>
        </p:nvSpPr>
        <p:spPr>
          <a:xfrm>
            <a:off x="853250" y="2745391"/>
            <a:ext cx="10666190" cy="29317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853250" y="2745391"/>
            <a:ext cx="57150" cy="2931795"/>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Oval 7"/>
          <p:cNvSpPr/>
          <p:nvPr/>
        </p:nvSpPr>
        <p:spPr>
          <a:xfrm>
            <a:off x="684943" y="2806351"/>
            <a:ext cx="536353" cy="536353"/>
          </a:xfrm>
          <a:prstGeom prst="ellipse">
            <a:avLst/>
          </a:prstGeom>
          <a:solidFill>
            <a:srgbClr val="DA1B2E"/>
          </a:solidFill>
          <a:ln w="571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893159" y="2945606"/>
            <a:ext cx="366236" cy="247650"/>
          </a:xfrm>
          <a:prstGeom prst="rect">
            <a:avLst/>
          </a:prstGeom>
          <a:noFill/>
        </p:spPr>
        <p:txBody>
          <a:bodyPr wrap="none" anchor="ctr" lIns="0" tIns="0" rIns="0" bIns="0">
            <a:noAutofit/>
          </a:bodyPr>
          <a:lstStyle/>
          <a:p>
            <a:pPr algn="l">
              <a:lnSpc>
                <a:spcPts val="1728"/>
              </a:lnSpc>
              <a:spcBef>
                <a:spcPts val="0"/>
              </a:spcBef>
              <a:spcAft>
                <a:spcPts val="0"/>
              </a:spcAft>
            </a:pPr>
            <a:r>
              <a:rPr sz="1728" b="1" i="0" u="none" spc="-17">
                <a:solidFill>
                  <a:srgbClr val="FFFFFF"/>
                </a:solidFill>
                <a:latin typeface="Arial"/>
              </a:rPr>
              <a:t>1</a:t>
            </a:r>
          </a:p>
        </p:txBody>
      </p:sp>
      <p:sp>
        <p:nvSpPr>
          <p:cNvPr id="10" name="TextBox 9"/>
          <p:cNvSpPr txBox="1"/>
          <p:nvPr/>
        </p:nvSpPr>
        <p:spPr>
          <a:xfrm>
            <a:off x="1337120" y="2745391"/>
            <a:ext cx="10220516" cy="371475"/>
          </a:xfrm>
          <a:prstGeom prst="rect">
            <a:avLst/>
          </a:prstGeom>
          <a:noFill/>
        </p:spPr>
        <p:txBody>
          <a:bodyPr wrap="none" anchor="ctr" lIns="0" tIns="0" rIns="0" bIns="0">
            <a:noAutofit/>
          </a:bodyPr>
          <a:lstStyle/>
          <a:p>
            <a:pPr algn="l">
              <a:lnSpc>
                <a:spcPts val="2784"/>
              </a:lnSpc>
              <a:spcBef>
                <a:spcPts val="0"/>
              </a:spcBef>
              <a:spcAft>
                <a:spcPts val="0"/>
              </a:spcAft>
            </a:pPr>
            <a:r>
              <a:rPr sz="2784" b="1" i="0" u="none">
                <a:solidFill>
                  <a:srgbClr val="DA1B2E"/>
                </a:solidFill>
                <a:latin typeface="Courier New"/>
              </a:rPr>
              <a:t>Day 1</a:t>
            </a:r>
          </a:p>
        </p:txBody>
      </p:sp>
      <p:sp>
        <p:nvSpPr>
          <p:cNvPr id="11" name="TextBox 10"/>
          <p:cNvSpPr txBox="1"/>
          <p:nvPr/>
        </p:nvSpPr>
        <p:spPr>
          <a:xfrm>
            <a:off x="1337120" y="3166777"/>
            <a:ext cx="10220516" cy="342900"/>
          </a:xfrm>
          <a:prstGeom prst="rect">
            <a:avLst/>
          </a:prstGeom>
          <a:noFill/>
        </p:spPr>
        <p:txBody>
          <a:bodyPr wrap="none" anchor="ctr" lIns="0" tIns="0" rIns="0" bIns="0">
            <a:noAutofit/>
          </a:bodyPr>
          <a:lstStyle/>
          <a:p>
            <a:pPr algn="l">
              <a:lnSpc>
                <a:spcPts val="3120"/>
              </a:lnSpc>
              <a:spcBef>
                <a:spcPts val="0"/>
              </a:spcBef>
              <a:spcAft>
                <a:spcPts val="0"/>
              </a:spcAft>
            </a:pPr>
            <a:r>
              <a:rPr sz="2400" b="0" i="0" u="none">
                <a:solidFill>
                  <a:srgbClr val="3B3535"/>
                </a:solidFill>
                <a:latin typeface="Arial"/>
              </a:rPr>
              <a:t>Reach for timeline when the labels read as dates or milestones.</a:t>
            </a:r>
          </a:p>
        </p:txBody>
      </p:sp>
      <p:sp>
        <p:nvSpPr>
          <p:cNvPr id="12" name="Oval 11"/>
          <p:cNvSpPr/>
          <p:nvPr/>
        </p:nvSpPr>
        <p:spPr>
          <a:xfrm>
            <a:off x="684943" y="3872960"/>
            <a:ext cx="536353" cy="536353"/>
          </a:xfrm>
          <a:prstGeom prst="ellipse">
            <a:avLst/>
          </a:prstGeom>
          <a:solidFill>
            <a:srgbClr val="DA1B2E"/>
          </a:solidFill>
          <a:ln w="571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893159" y="4012216"/>
            <a:ext cx="366236" cy="247650"/>
          </a:xfrm>
          <a:prstGeom prst="rect">
            <a:avLst/>
          </a:prstGeom>
          <a:noFill/>
        </p:spPr>
        <p:txBody>
          <a:bodyPr wrap="none" anchor="ctr" lIns="0" tIns="0" rIns="0" bIns="0">
            <a:noAutofit/>
          </a:bodyPr>
          <a:lstStyle/>
          <a:p>
            <a:pPr algn="l">
              <a:lnSpc>
                <a:spcPts val="1728"/>
              </a:lnSpc>
              <a:spcBef>
                <a:spcPts val="0"/>
              </a:spcBef>
              <a:spcAft>
                <a:spcPts val="0"/>
              </a:spcAft>
            </a:pPr>
            <a:r>
              <a:rPr sz="1728" b="1" i="0" u="none" spc="-17">
                <a:solidFill>
                  <a:srgbClr val="FFFFFF"/>
                </a:solidFill>
                <a:latin typeface="Arial"/>
              </a:rPr>
              <a:t>2</a:t>
            </a:r>
          </a:p>
        </p:txBody>
      </p:sp>
      <p:sp>
        <p:nvSpPr>
          <p:cNvPr id="14" name="TextBox 13"/>
          <p:cNvSpPr txBox="1"/>
          <p:nvPr/>
        </p:nvSpPr>
        <p:spPr>
          <a:xfrm>
            <a:off x="1337120" y="3783521"/>
            <a:ext cx="10220516" cy="400050"/>
          </a:xfrm>
          <a:prstGeom prst="rect">
            <a:avLst/>
          </a:prstGeom>
          <a:noFill/>
        </p:spPr>
        <p:txBody>
          <a:bodyPr wrap="none" anchor="ctr" lIns="0" tIns="0" rIns="0" bIns="0">
            <a:noAutofit/>
          </a:bodyPr>
          <a:lstStyle/>
          <a:p>
            <a:pPr algn="l">
              <a:lnSpc>
                <a:spcPts val="2784"/>
              </a:lnSpc>
              <a:spcBef>
                <a:spcPts val="0"/>
              </a:spcBef>
              <a:spcAft>
                <a:spcPts val="0"/>
              </a:spcAft>
            </a:pPr>
            <a:r>
              <a:rPr sz="2784" b="1" i="0" u="none">
                <a:solidFill>
                  <a:srgbClr val="DA1B2E"/>
                </a:solidFill>
                <a:latin typeface="Courier New"/>
              </a:rPr>
              <a:t>Day 2</a:t>
            </a:r>
          </a:p>
        </p:txBody>
      </p:sp>
      <p:sp>
        <p:nvSpPr>
          <p:cNvPr id="15" name="TextBox 14"/>
          <p:cNvSpPr txBox="1"/>
          <p:nvPr/>
        </p:nvSpPr>
        <p:spPr>
          <a:xfrm>
            <a:off x="1337120" y="4233386"/>
            <a:ext cx="10220516" cy="342900"/>
          </a:xfrm>
          <a:prstGeom prst="rect">
            <a:avLst/>
          </a:prstGeom>
          <a:noFill/>
        </p:spPr>
        <p:txBody>
          <a:bodyPr wrap="none" anchor="ctr" lIns="0" tIns="0" rIns="0" bIns="0">
            <a:noAutofit/>
          </a:bodyPr>
          <a:lstStyle/>
          <a:p>
            <a:pPr algn="l">
              <a:lnSpc>
                <a:spcPts val="3120"/>
              </a:lnSpc>
              <a:spcBef>
                <a:spcPts val="0"/>
              </a:spcBef>
              <a:spcAft>
                <a:spcPts val="0"/>
              </a:spcAft>
            </a:pPr>
            <a:r>
              <a:rPr sz="2400" b="0" i="0" u="none">
                <a:solidFill>
                  <a:srgbClr val="3B3535"/>
                </a:solidFill>
                <a:latin typeface="Arial"/>
              </a:rPr>
              <a:t>Time flows top to bottom along a connecting rail with a dot per entry.</a:t>
            </a:r>
          </a:p>
        </p:txBody>
      </p:sp>
      <p:sp>
        <p:nvSpPr>
          <p:cNvPr id="16" name="Oval 15"/>
          <p:cNvSpPr/>
          <p:nvPr/>
        </p:nvSpPr>
        <p:spPr>
          <a:xfrm>
            <a:off x="684943" y="4939570"/>
            <a:ext cx="536353" cy="536353"/>
          </a:xfrm>
          <a:prstGeom prst="ellipse">
            <a:avLst/>
          </a:prstGeom>
          <a:solidFill>
            <a:srgbClr val="DA1B2E"/>
          </a:solidFill>
          <a:ln w="571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893159" y="5078920"/>
            <a:ext cx="366236" cy="247650"/>
          </a:xfrm>
          <a:prstGeom prst="rect">
            <a:avLst/>
          </a:prstGeom>
          <a:noFill/>
        </p:spPr>
        <p:txBody>
          <a:bodyPr wrap="none" anchor="ctr" lIns="0" tIns="0" rIns="0" bIns="0">
            <a:noAutofit/>
          </a:bodyPr>
          <a:lstStyle/>
          <a:p>
            <a:pPr algn="l">
              <a:lnSpc>
                <a:spcPts val="1728"/>
              </a:lnSpc>
              <a:spcBef>
                <a:spcPts val="0"/>
              </a:spcBef>
              <a:spcAft>
                <a:spcPts val="0"/>
              </a:spcAft>
            </a:pPr>
            <a:r>
              <a:rPr sz="1728" b="1" i="0" u="none" spc="-17">
                <a:solidFill>
                  <a:srgbClr val="FFFFFF"/>
                </a:solidFill>
                <a:latin typeface="Arial"/>
              </a:rPr>
              <a:t>3</a:t>
            </a:r>
          </a:p>
        </p:txBody>
      </p:sp>
      <p:sp>
        <p:nvSpPr>
          <p:cNvPr id="18" name="TextBox 17"/>
          <p:cNvSpPr txBox="1"/>
          <p:nvPr/>
        </p:nvSpPr>
        <p:spPr>
          <a:xfrm>
            <a:off x="1337120" y="4850130"/>
            <a:ext cx="10220516" cy="400050"/>
          </a:xfrm>
          <a:prstGeom prst="rect">
            <a:avLst/>
          </a:prstGeom>
          <a:noFill/>
        </p:spPr>
        <p:txBody>
          <a:bodyPr wrap="none" anchor="ctr" lIns="0" tIns="0" rIns="0" bIns="0">
            <a:noAutofit/>
          </a:bodyPr>
          <a:lstStyle/>
          <a:p>
            <a:pPr algn="l">
              <a:lnSpc>
                <a:spcPts val="2784"/>
              </a:lnSpc>
              <a:spcBef>
                <a:spcPts val="0"/>
              </a:spcBef>
              <a:spcAft>
                <a:spcPts val="0"/>
              </a:spcAft>
            </a:pPr>
            <a:r>
              <a:rPr sz="2784" b="1" i="0" u="none">
                <a:solidFill>
                  <a:srgbClr val="DA1B2E"/>
                </a:solidFill>
                <a:latin typeface="Courier New"/>
              </a:rPr>
              <a:t>Day 3</a:t>
            </a:r>
          </a:p>
        </p:txBody>
      </p:sp>
      <p:sp>
        <p:nvSpPr>
          <p:cNvPr id="19" name="TextBox 18"/>
          <p:cNvSpPr txBox="1"/>
          <p:nvPr/>
        </p:nvSpPr>
        <p:spPr>
          <a:xfrm>
            <a:off x="1337120" y="5300091"/>
            <a:ext cx="10220516" cy="342900"/>
          </a:xfrm>
          <a:prstGeom prst="rect">
            <a:avLst/>
          </a:prstGeom>
          <a:noFill/>
        </p:spPr>
        <p:txBody>
          <a:bodyPr wrap="none" anchor="ctr" lIns="0" tIns="0" rIns="0" bIns="0">
            <a:noAutofit/>
          </a:bodyPr>
          <a:lstStyle/>
          <a:p>
            <a:pPr algn="l">
              <a:lnSpc>
                <a:spcPts val="3120"/>
              </a:lnSpc>
              <a:spcBef>
                <a:spcPts val="0"/>
              </a:spcBef>
              <a:spcAft>
                <a:spcPts val="0"/>
              </a:spcAft>
            </a:pPr>
            <a:r>
              <a:rPr sz="2400" b="0" i="0" u="none">
                <a:solidFill>
                  <a:srgbClr val="3B3535"/>
                </a:solidFill>
                <a:latin typeface="Arial"/>
              </a:rPr>
              <a:t>It differs from process only in that here, when matters more than the step.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concept-columns: four terms, the third emphasised</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Each column explains its own term; reading across a row says nothing.</a:t>
            </a:r>
          </a:p>
        </p:txBody>
      </p:sp>
      <p:sp>
        <p:nvSpPr>
          <p:cNvPr id="6" name="Rounded Rectangle 5"/>
          <p:cNvSpPr/>
          <p:nvPr/>
        </p:nvSpPr>
        <p:spPr>
          <a:xfrm>
            <a:off x="670465" y="2745391"/>
            <a:ext cx="2588514" cy="2654903"/>
          </a:xfrm>
          <a:prstGeom prst="roundRect">
            <a:avLst>
              <a:gd name="adj" fmla="val 847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2745391"/>
            <a:ext cx="2588514" cy="5715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782860" y="2908078"/>
            <a:ext cx="224980" cy="224980"/>
          </a:xfrm>
          <a:prstGeom prst="rect">
            <a:avLst/>
          </a:prstGeom>
        </p:spPr>
      </p:pic>
      <p:sp>
        <p:nvSpPr>
          <p:cNvPr id="9" name="TextBox 8"/>
          <p:cNvSpPr txBox="1"/>
          <p:nvPr/>
        </p:nvSpPr>
        <p:spPr>
          <a:xfrm>
            <a:off x="1067848" y="2908078"/>
            <a:ext cx="2116836" cy="193358"/>
          </a:xfrm>
          <a:prstGeom prst="rect">
            <a:avLst/>
          </a:prstGeom>
          <a:noFill/>
        </p:spPr>
        <p:txBody>
          <a:bodyPr wrap="none" anchor="ctr" lIns="0" tIns="0" rIns="0" bIns="0">
            <a:noAutofit/>
          </a:bodyPr>
          <a:lstStyle/>
          <a:p>
            <a:pPr algn="l">
              <a:lnSpc>
                <a:spcPts val="1574"/>
              </a:lnSpc>
              <a:spcBef>
                <a:spcPts val="0"/>
              </a:spcBef>
              <a:spcAft>
                <a:spcPts val="0"/>
              </a:spcAft>
            </a:pPr>
            <a:r>
              <a:rPr sz="1369" b="1" i="0" u="none">
                <a:solidFill>
                  <a:srgbClr val="1F1E1E"/>
                </a:solidFill>
                <a:latin typeface="Arial"/>
              </a:rPr>
              <a:t>Language Model</a:t>
            </a:r>
          </a:p>
        </p:txBody>
      </p:sp>
      <p:sp>
        <p:nvSpPr>
          <p:cNvPr id="10" name="TextBox 9"/>
          <p:cNvSpPr txBox="1"/>
          <p:nvPr/>
        </p:nvSpPr>
        <p:spPr>
          <a:xfrm>
            <a:off x="782860" y="3204686"/>
            <a:ext cx="2418230" cy="831532"/>
          </a:xfrm>
          <a:prstGeom prst="rect">
            <a:avLst/>
          </a:prstGeom>
          <a:noFill/>
        </p:spPr>
        <p:txBody>
          <a:bodyPr wrap="square" anchor="ctr" lIns="0" tIns="0" rIns="0" bIns="0">
            <a:noAutofit/>
          </a:bodyPr>
          <a:lstStyle/>
          <a:p>
            <a:pPr algn="l">
              <a:lnSpc>
                <a:spcPts val="1487"/>
              </a:lnSpc>
              <a:spcBef>
                <a:spcPts val="0"/>
              </a:spcBef>
              <a:spcAft>
                <a:spcPts val="0"/>
              </a:spcAft>
            </a:pPr>
            <a:r>
              <a:rPr sz="1101" b="0" i="0" u="none">
                <a:solidFill>
                  <a:srgbClr val="3B3535"/>
                </a:solidFill>
                <a:latin typeface="Arial"/>
              </a:rPr>
              <a:t>Asigna probabilidades a secuencias de palabras: dado un contexto, predice qué sigue.</a:t>
            </a:r>
          </a:p>
        </p:txBody>
      </p:sp>
      <p:sp>
        <p:nvSpPr>
          <p:cNvPr id="11" name="TextBox 10"/>
          <p:cNvSpPr txBox="1"/>
          <p:nvPr/>
        </p:nvSpPr>
        <p:spPr>
          <a:xfrm>
            <a:off x="782860" y="3840671"/>
            <a:ext cx="2401824" cy="134779"/>
          </a:xfrm>
          <a:prstGeom prst="rect">
            <a:avLst/>
          </a:prstGeom>
          <a:noFill/>
        </p:spPr>
        <p:txBody>
          <a:bodyPr wrap="none" anchor="ctr" lIns="0" tIns="0" rIns="0" bIns="0">
            <a:noAutofit/>
          </a:bodyPr>
          <a:lstStyle/>
          <a:p>
            <a:pPr algn="l">
              <a:lnSpc>
                <a:spcPts val="952"/>
              </a:lnSpc>
              <a:spcBef>
                <a:spcPts val="0"/>
              </a:spcBef>
              <a:spcAft>
                <a:spcPts val="0"/>
              </a:spcAft>
            </a:pPr>
            <a:r>
              <a:rPr sz="952" b="1" i="0" u="none" spc="57">
                <a:solidFill>
                  <a:srgbClr val="DA1B2E"/>
                </a:solidFill>
                <a:latin typeface="Arial"/>
              </a:rPr>
              <a:t>CARACTERÍSTICAS</a:t>
            </a:r>
          </a:p>
        </p:txBody>
      </p:sp>
      <p:sp>
        <p:nvSpPr>
          <p:cNvPr id="12" name="Oval 11"/>
          <p:cNvSpPr/>
          <p:nvPr/>
        </p:nvSpPr>
        <p:spPr>
          <a:xfrm>
            <a:off x="782860" y="4101370"/>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932878" y="4015835"/>
            <a:ext cx="2251805" cy="152400"/>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Existen desde los años 1950</a:t>
            </a:r>
          </a:p>
        </p:txBody>
      </p:sp>
      <p:sp>
        <p:nvSpPr>
          <p:cNvPr id="14" name="Oval 13"/>
          <p:cNvSpPr/>
          <p:nvPr/>
        </p:nvSpPr>
        <p:spPr>
          <a:xfrm>
            <a:off x="782860" y="4329398"/>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932878" y="4243768"/>
            <a:ext cx="2251805" cy="152400"/>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Basados en P(palabra | contexto)</a:t>
            </a:r>
          </a:p>
        </p:txBody>
      </p:sp>
      <p:sp>
        <p:nvSpPr>
          <p:cNvPr id="16" name="Oval 15"/>
          <p:cNvSpPr/>
          <p:nvPr/>
        </p:nvSpPr>
        <p:spPr>
          <a:xfrm>
            <a:off x="782860" y="4557332"/>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932878" y="4471797"/>
            <a:ext cx="2265961" cy="345186"/>
          </a:xfrm>
          <a:prstGeom prst="rect">
            <a:avLst/>
          </a:prstGeom>
          <a:noFill/>
        </p:spPr>
        <p:txBody>
          <a:bodyPr wrap="square" anchor="ctr" lIns="0" tIns="0" rIns="0" bIns="0">
            <a:noAutofit/>
          </a:bodyPr>
          <a:lstStyle/>
          <a:p>
            <a:pPr algn="l">
              <a:lnSpc>
                <a:spcPts val="1393"/>
              </a:lnSpc>
              <a:spcBef>
                <a:spcPts val="0"/>
              </a:spcBef>
              <a:spcAft>
                <a:spcPts val="0"/>
              </a:spcAft>
            </a:pPr>
            <a:r>
              <a:rPr sz="1071" b="0" i="0" u="none">
                <a:solidFill>
                  <a:srgbClr val="3B3535"/>
                </a:solidFill>
                <a:latin typeface="Arial"/>
              </a:rPr>
              <a:t>Primero estadísticos, luego neuronales</a:t>
            </a:r>
          </a:p>
        </p:txBody>
      </p:sp>
      <p:sp>
        <p:nvSpPr>
          <p:cNvPr id="18" name="TextBox 17"/>
          <p:cNvSpPr txBox="1"/>
          <p:nvPr/>
        </p:nvSpPr>
        <p:spPr>
          <a:xfrm>
            <a:off x="782860" y="4927759"/>
            <a:ext cx="2418230" cy="327850"/>
          </a:xfrm>
          <a:prstGeom prst="rect">
            <a:avLst/>
          </a:prstGeom>
          <a:noFill/>
        </p:spPr>
        <p:txBody>
          <a:bodyPr wrap="square" anchor="ctr" lIns="0" tIns="0" rIns="0" bIns="0">
            <a:noAutofit/>
          </a:bodyPr>
          <a:lstStyle/>
          <a:p>
            <a:pPr algn="l">
              <a:lnSpc>
                <a:spcPts val="1393"/>
              </a:lnSpc>
              <a:spcBef>
                <a:spcPts val="0"/>
              </a:spcBef>
              <a:spcAft>
                <a:spcPts val="0"/>
              </a:spcAft>
            </a:pPr>
            <a:r>
              <a:rPr sz="1071" b="1" i="0" u="none">
                <a:solidFill>
                  <a:srgbClr val="1F1E1E"/>
                </a:solidFill>
                <a:latin typeface="Arial"/>
              </a:rPr>
              <a:t>Ejemplos: N-gramas · Shannon (1948) · RNNs</a:t>
            </a:r>
          </a:p>
        </p:txBody>
      </p:sp>
      <p:sp>
        <p:nvSpPr>
          <p:cNvPr id="19" name="Rounded Rectangle 18"/>
          <p:cNvSpPr/>
          <p:nvPr/>
        </p:nvSpPr>
        <p:spPr>
          <a:xfrm>
            <a:off x="3424047" y="2745391"/>
            <a:ext cx="2588609" cy="2654903"/>
          </a:xfrm>
          <a:prstGeom prst="roundRect">
            <a:avLst>
              <a:gd name="adj" fmla="val 847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Rectangle 19"/>
          <p:cNvSpPr/>
          <p:nvPr/>
        </p:nvSpPr>
        <p:spPr>
          <a:xfrm>
            <a:off x="3424047" y="2745391"/>
            <a:ext cx="2588609" cy="5715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1" name="Picture 20" descr="image.png"/>
          <p:cNvPicPr>
            <a:picLocks noChangeAspect="1"/>
          </p:cNvPicPr>
          <p:nvPr/>
        </p:nvPicPr>
        <p:blipFill>
          <a:blip r:embed="rId3"/>
          <a:stretch>
            <a:fillRect/>
          </a:stretch>
        </p:blipFill>
        <p:spPr>
          <a:xfrm>
            <a:off x="3536442" y="2908078"/>
            <a:ext cx="224980" cy="224980"/>
          </a:xfrm>
          <a:prstGeom prst="rect">
            <a:avLst/>
          </a:prstGeom>
        </p:spPr>
      </p:pic>
      <p:sp>
        <p:nvSpPr>
          <p:cNvPr id="22" name="TextBox 21"/>
          <p:cNvSpPr txBox="1"/>
          <p:nvPr/>
        </p:nvSpPr>
        <p:spPr>
          <a:xfrm>
            <a:off x="3821430" y="2908078"/>
            <a:ext cx="2116931" cy="193358"/>
          </a:xfrm>
          <a:prstGeom prst="rect">
            <a:avLst/>
          </a:prstGeom>
          <a:noFill/>
        </p:spPr>
        <p:txBody>
          <a:bodyPr wrap="none" anchor="ctr" lIns="0" tIns="0" rIns="0" bIns="0">
            <a:noAutofit/>
          </a:bodyPr>
          <a:lstStyle/>
          <a:p>
            <a:pPr algn="l">
              <a:lnSpc>
                <a:spcPts val="1574"/>
              </a:lnSpc>
              <a:spcBef>
                <a:spcPts val="0"/>
              </a:spcBef>
              <a:spcAft>
                <a:spcPts val="0"/>
              </a:spcAft>
            </a:pPr>
            <a:r>
              <a:rPr sz="1369" b="1" i="0" u="none">
                <a:solidFill>
                  <a:srgbClr val="1F1E1E"/>
                </a:solidFill>
                <a:latin typeface="Arial"/>
              </a:rPr>
              <a:t>Foundation Model</a:t>
            </a:r>
          </a:p>
        </p:txBody>
      </p:sp>
      <p:sp>
        <p:nvSpPr>
          <p:cNvPr id="23" name="TextBox 22"/>
          <p:cNvSpPr txBox="1"/>
          <p:nvPr/>
        </p:nvSpPr>
        <p:spPr>
          <a:xfrm>
            <a:off x="3536442" y="3204686"/>
            <a:ext cx="2418327" cy="831532"/>
          </a:xfrm>
          <a:prstGeom prst="rect">
            <a:avLst/>
          </a:prstGeom>
          <a:noFill/>
        </p:spPr>
        <p:txBody>
          <a:bodyPr wrap="square" anchor="ctr" lIns="0" tIns="0" rIns="0" bIns="0">
            <a:noAutofit/>
          </a:bodyPr>
          <a:lstStyle/>
          <a:p>
            <a:pPr algn="l">
              <a:lnSpc>
                <a:spcPts val="1487"/>
              </a:lnSpc>
              <a:spcBef>
                <a:spcPts val="0"/>
              </a:spcBef>
              <a:spcAft>
                <a:spcPts val="0"/>
              </a:spcAft>
            </a:pPr>
            <a:r>
              <a:rPr sz="1101" b="0" i="0" u="none">
                <a:solidFill>
                  <a:srgbClr val="3B3535"/>
                </a:solidFill>
                <a:latin typeface="Arial"/>
              </a:rPr>
              <a:t>Entrenado a escala masiva sobre datos generales, adaptable a múltiples tareas.</a:t>
            </a:r>
          </a:p>
        </p:txBody>
      </p:sp>
      <p:sp>
        <p:nvSpPr>
          <p:cNvPr id="24" name="TextBox 23"/>
          <p:cNvSpPr txBox="1"/>
          <p:nvPr/>
        </p:nvSpPr>
        <p:spPr>
          <a:xfrm>
            <a:off x="3536442" y="3840671"/>
            <a:ext cx="2401919" cy="134779"/>
          </a:xfrm>
          <a:prstGeom prst="rect">
            <a:avLst/>
          </a:prstGeom>
          <a:noFill/>
        </p:spPr>
        <p:txBody>
          <a:bodyPr wrap="none" anchor="ctr" lIns="0" tIns="0" rIns="0" bIns="0">
            <a:noAutofit/>
          </a:bodyPr>
          <a:lstStyle/>
          <a:p>
            <a:pPr algn="l">
              <a:lnSpc>
                <a:spcPts val="952"/>
              </a:lnSpc>
              <a:spcBef>
                <a:spcPts val="0"/>
              </a:spcBef>
              <a:spcAft>
                <a:spcPts val="0"/>
              </a:spcAft>
            </a:pPr>
            <a:r>
              <a:rPr sz="952" b="1" i="0" u="none" spc="57">
                <a:solidFill>
                  <a:srgbClr val="DA1B2E"/>
                </a:solidFill>
                <a:latin typeface="Arial"/>
              </a:rPr>
              <a:t>CARACTERÍSTICAS</a:t>
            </a:r>
          </a:p>
        </p:txBody>
      </p:sp>
      <p:sp>
        <p:nvSpPr>
          <p:cNvPr id="25" name="Oval 24"/>
          <p:cNvSpPr/>
          <p:nvPr/>
        </p:nvSpPr>
        <p:spPr>
          <a:xfrm>
            <a:off x="3536442" y="4101370"/>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3686461" y="4015835"/>
            <a:ext cx="2251900" cy="152400"/>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Entrenado con billones de tokens</a:t>
            </a:r>
          </a:p>
        </p:txBody>
      </p:sp>
      <p:sp>
        <p:nvSpPr>
          <p:cNvPr id="27" name="Oval 26"/>
          <p:cNvSpPr/>
          <p:nvPr/>
        </p:nvSpPr>
        <p:spPr>
          <a:xfrm>
            <a:off x="3536442" y="4329398"/>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3686461" y="4243768"/>
            <a:ext cx="2251900" cy="152400"/>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Generalista por naturaleza</a:t>
            </a:r>
          </a:p>
        </p:txBody>
      </p:sp>
      <p:sp>
        <p:nvSpPr>
          <p:cNvPr id="29" name="Oval 28"/>
          <p:cNvSpPr/>
          <p:nvPr/>
        </p:nvSpPr>
        <p:spPr>
          <a:xfrm>
            <a:off x="3536442" y="4557332"/>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3686461" y="4471797"/>
            <a:ext cx="2251900" cy="152305"/>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Base para aplicaciones específicas</a:t>
            </a:r>
          </a:p>
        </p:txBody>
      </p:sp>
      <p:sp>
        <p:nvSpPr>
          <p:cNvPr id="31" name="TextBox 30"/>
          <p:cNvSpPr txBox="1"/>
          <p:nvPr/>
        </p:nvSpPr>
        <p:spPr>
          <a:xfrm>
            <a:off x="3536442" y="4752213"/>
            <a:ext cx="2418327" cy="440912"/>
          </a:xfrm>
          <a:prstGeom prst="rect">
            <a:avLst/>
          </a:prstGeom>
          <a:noFill/>
        </p:spPr>
        <p:txBody>
          <a:bodyPr wrap="square" anchor="ctr" lIns="0" tIns="0" rIns="0" bIns="0">
            <a:noAutofit/>
          </a:bodyPr>
          <a:lstStyle/>
          <a:p>
            <a:pPr algn="l">
              <a:lnSpc>
                <a:spcPts val="1393"/>
              </a:lnSpc>
              <a:spcBef>
                <a:spcPts val="0"/>
              </a:spcBef>
              <a:spcAft>
                <a:spcPts val="0"/>
              </a:spcAft>
            </a:pPr>
            <a:r>
              <a:rPr sz="1071" b="1" i="0" u="none">
                <a:solidFill>
                  <a:srgbClr val="1F1E1E"/>
                </a:solidFill>
                <a:latin typeface="Arial"/>
              </a:rPr>
              <a:t>Ejemplos: GPT-4, Gemini, Claude, LLaMA</a:t>
            </a:r>
          </a:p>
        </p:txBody>
      </p:sp>
      <p:sp>
        <p:nvSpPr>
          <p:cNvPr id="32" name="Rounded Rectangle 31"/>
          <p:cNvSpPr/>
          <p:nvPr/>
        </p:nvSpPr>
        <p:spPr>
          <a:xfrm>
            <a:off x="6177629" y="2745391"/>
            <a:ext cx="2588514" cy="2654903"/>
          </a:xfrm>
          <a:prstGeom prst="roundRect">
            <a:avLst>
              <a:gd name="adj" fmla="val 8478"/>
            </a:avLst>
          </a:prstGeom>
          <a:solidFill>
            <a:srgbClr val="EFD5D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Rectangle 32"/>
          <p:cNvSpPr/>
          <p:nvPr/>
        </p:nvSpPr>
        <p:spPr>
          <a:xfrm>
            <a:off x="6177629" y="2745391"/>
            <a:ext cx="2588514" cy="11430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4" name="Picture 33" descr="image.png"/>
          <p:cNvPicPr>
            <a:picLocks noChangeAspect="1"/>
          </p:cNvPicPr>
          <p:nvPr/>
        </p:nvPicPr>
        <p:blipFill>
          <a:blip r:embed="rId4"/>
          <a:stretch>
            <a:fillRect/>
          </a:stretch>
        </p:blipFill>
        <p:spPr>
          <a:xfrm>
            <a:off x="6290120" y="2943225"/>
            <a:ext cx="224980" cy="224980"/>
          </a:xfrm>
          <a:prstGeom prst="rect">
            <a:avLst/>
          </a:prstGeom>
        </p:spPr>
      </p:pic>
      <p:sp>
        <p:nvSpPr>
          <p:cNvPr id="35" name="TextBox 34"/>
          <p:cNvSpPr txBox="1"/>
          <p:nvPr/>
        </p:nvSpPr>
        <p:spPr>
          <a:xfrm>
            <a:off x="6575012" y="2943225"/>
            <a:ext cx="2116836" cy="193358"/>
          </a:xfrm>
          <a:prstGeom prst="rect">
            <a:avLst/>
          </a:prstGeom>
          <a:noFill/>
        </p:spPr>
        <p:txBody>
          <a:bodyPr wrap="none" anchor="ctr" lIns="0" tIns="0" rIns="0" bIns="0">
            <a:noAutofit/>
          </a:bodyPr>
          <a:lstStyle/>
          <a:p>
            <a:pPr algn="l">
              <a:lnSpc>
                <a:spcPts val="1574"/>
              </a:lnSpc>
              <a:spcBef>
                <a:spcPts val="0"/>
              </a:spcBef>
              <a:spcAft>
                <a:spcPts val="0"/>
              </a:spcAft>
            </a:pPr>
            <a:r>
              <a:rPr sz="1369" b="1" i="0" u="none">
                <a:solidFill>
                  <a:srgbClr val="DA1B2E"/>
                </a:solidFill>
                <a:latin typeface="Arial"/>
              </a:rPr>
              <a:t>LLM</a:t>
            </a:r>
          </a:p>
        </p:txBody>
      </p:sp>
      <p:sp>
        <p:nvSpPr>
          <p:cNvPr id="36" name="TextBox 35"/>
          <p:cNvSpPr txBox="1"/>
          <p:nvPr/>
        </p:nvSpPr>
        <p:spPr>
          <a:xfrm>
            <a:off x="6290120" y="3239834"/>
            <a:ext cx="2418230" cy="831532"/>
          </a:xfrm>
          <a:prstGeom prst="rect">
            <a:avLst/>
          </a:prstGeom>
          <a:noFill/>
        </p:spPr>
        <p:txBody>
          <a:bodyPr wrap="square" anchor="ctr" lIns="0" tIns="0" rIns="0" bIns="0">
            <a:noAutofit/>
          </a:bodyPr>
          <a:lstStyle/>
          <a:p>
            <a:pPr algn="l">
              <a:lnSpc>
                <a:spcPts val="1487"/>
              </a:lnSpc>
              <a:spcBef>
                <a:spcPts val="0"/>
              </a:spcBef>
              <a:spcAft>
                <a:spcPts val="0"/>
              </a:spcAft>
            </a:pPr>
            <a:r>
              <a:rPr sz="1101" b="0" i="0" u="none">
                <a:solidFill>
                  <a:srgbClr val="3B3535"/>
                </a:solidFill>
                <a:latin typeface="Arial"/>
              </a:rPr>
              <a:t>Un Foundation Model especializado en texto: aprende la distribución del lenguaje natural.</a:t>
            </a:r>
          </a:p>
        </p:txBody>
      </p:sp>
      <p:sp>
        <p:nvSpPr>
          <p:cNvPr id="37" name="TextBox 36"/>
          <p:cNvSpPr txBox="1"/>
          <p:nvPr/>
        </p:nvSpPr>
        <p:spPr>
          <a:xfrm>
            <a:off x="6290120" y="3875818"/>
            <a:ext cx="2401824" cy="134779"/>
          </a:xfrm>
          <a:prstGeom prst="rect">
            <a:avLst/>
          </a:prstGeom>
          <a:noFill/>
        </p:spPr>
        <p:txBody>
          <a:bodyPr wrap="none" anchor="ctr" lIns="0" tIns="0" rIns="0" bIns="0">
            <a:noAutofit/>
          </a:bodyPr>
          <a:lstStyle/>
          <a:p>
            <a:pPr algn="l">
              <a:lnSpc>
                <a:spcPts val="952"/>
              </a:lnSpc>
              <a:spcBef>
                <a:spcPts val="0"/>
              </a:spcBef>
              <a:spcAft>
                <a:spcPts val="0"/>
              </a:spcAft>
            </a:pPr>
            <a:r>
              <a:rPr sz="952" b="1" i="0" u="none" spc="57">
                <a:solidFill>
                  <a:srgbClr val="DA1B2E"/>
                </a:solidFill>
                <a:latin typeface="Arial"/>
              </a:rPr>
              <a:t>CARACTERÍSTICAS</a:t>
            </a:r>
          </a:p>
        </p:txBody>
      </p:sp>
      <p:sp>
        <p:nvSpPr>
          <p:cNvPr id="38" name="Oval 37"/>
          <p:cNvSpPr/>
          <p:nvPr/>
        </p:nvSpPr>
        <p:spPr>
          <a:xfrm>
            <a:off x="6290120" y="4136517"/>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6440043" y="4050982"/>
            <a:ext cx="2251805" cy="152400"/>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Sólo procesa y genera tokens</a:t>
            </a:r>
          </a:p>
        </p:txBody>
      </p:sp>
      <p:sp>
        <p:nvSpPr>
          <p:cNvPr id="40" name="Oval 39"/>
          <p:cNvSpPr/>
          <p:nvPr/>
        </p:nvSpPr>
        <p:spPr>
          <a:xfrm>
            <a:off x="6290120" y="4364546"/>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1" name="TextBox 40"/>
          <p:cNvSpPr txBox="1"/>
          <p:nvPr/>
        </p:nvSpPr>
        <p:spPr>
          <a:xfrm>
            <a:off x="6440043" y="4278916"/>
            <a:ext cx="2251805" cy="152305"/>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Arquitectura Transformer</a:t>
            </a:r>
          </a:p>
        </p:txBody>
      </p:sp>
      <p:sp>
        <p:nvSpPr>
          <p:cNvPr id="42" name="Oval 41"/>
          <p:cNvSpPr/>
          <p:nvPr/>
        </p:nvSpPr>
        <p:spPr>
          <a:xfrm>
            <a:off x="6290120" y="4592479"/>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6440043" y="4506944"/>
            <a:ext cx="2251805" cy="152305"/>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Desde 7B hasta +1T parámetros</a:t>
            </a:r>
          </a:p>
        </p:txBody>
      </p:sp>
      <p:sp>
        <p:nvSpPr>
          <p:cNvPr id="44" name="TextBox 43"/>
          <p:cNvSpPr txBox="1"/>
          <p:nvPr/>
        </p:nvSpPr>
        <p:spPr>
          <a:xfrm>
            <a:off x="6290120" y="4787360"/>
            <a:ext cx="2401824" cy="152305"/>
          </a:xfrm>
          <a:prstGeom prst="rect">
            <a:avLst/>
          </a:prstGeom>
          <a:noFill/>
        </p:spPr>
        <p:txBody>
          <a:bodyPr wrap="none" anchor="ctr" lIns="0" tIns="0" rIns="0" bIns="0">
            <a:noAutofit/>
          </a:bodyPr>
          <a:lstStyle/>
          <a:p>
            <a:pPr algn="l">
              <a:lnSpc>
                <a:spcPts val="1393"/>
              </a:lnSpc>
              <a:spcBef>
                <a:spcPts val="0"/>
              </a:spcBef>
              <a:spcAft>
                <a:spcPts val="0"/>
              </a:spcAft>
            </a:pPr>
            <a:r>
              <a:rPr sz="1071" b="1" i="0" u="none">
                <a:solidFill>
                  <a:srgbClr val="1F1E1E"/>
                </a:solidFill>
                <a:latin typeface="Arial"/>
              </a:rPr>
              <a:t>Ejemplos: GPT-4, Claude 3, Mistral</a:t>
            </a:r>
          </a:p>
        </p:txBody>
      </p:sp>
      <p:sp>
        <p:nvSpPr>
          <p:cNvPr id="45" name="Rounded Rectangle 44"/>
          <p:cNvSpPr/>
          <p:nvPr/>
        </p:nvSpPr>
        <p:spPr>
          <a:xfrm>
            <a:off x="8931212" y="2745391"/>
            <a:ext cx="2588609" cy="2654903"/>
          </a:xfrm>
          <a:prstGeom prst="roundRect">
            <a:avLst>
              <a:gd name="adj" fmla="val 847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6" name="Rectangle 45"/>
          <p:cNvSpPr/>
          <p:nvPr/>
        </p:nvSpPr>
        <p:spPr>
          <a:xfrm>
            <a:off x="8931212" y="2745391"/>
            <a:ext cx="2588609" cy="5715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47" name="Picture 46" descr="image.png"/>
          <p:cNvPicPr>
            <a:picLocks noChangeAspect="1"/>
          </p:cNvPicPr>
          <p:nvPr/>
        </p:nvPicPr>
        <p:blipFill>
          <a:blip r:embed="rId5"/>
          <a:stretch>
            <a:fillRect/>
          </a:stretch>
        </p:blipFill>
        <p:spPr>
          <a:xfrm>
            <a:off x="9043606" y="2908078"/>
            <a:ext cx="224980" cy="224980"/>
          </a:xfrm>
          <a:prstGeom prst="rect">
            <a:avLst/>
          </a:prstGeom>
        </p:spPr>
      </p:pic>
      <p:sp>
        <p:nvSpPr>
          <p:cNvPr id="48" name="TextBox 47"/>
          <p:cNvSpPr txBox="1"/>
          <p:nvPr/>
        </p:nvSpPr>
        <p:spPr>
          <a:xfrm>
            <a:off x="9328594" y="2908078"/>
            <a:ext cx="2116931" cy="193358"/>
          </a:xfrm>
          <a:prstGeom prst="rect">
            <a:avLst/>
          </a:prstGeom>
          <a:noFill/>
        </p:spPr>
        <p:txBody>
          <a:bodyPr wrap="none" anchor="ctr" lIns="0" tIns="0" rIns="0" bIns="0">
            <a:noAutofit/>
          </a:bodyPr>
          <a:lstStyle/>
          <a:p>
            <a:pPr algn="l">
              <a:lnSpc>
                <a:spcPts val="1574"/>
              </a:lnSpc>
              <a:spcBef>
                <a:spcPts val="0"/>
              </a:spcBef>
              <a:spcAft>
                <a:spcPts val="0"/>
              </a:spcAft>
            </a:pPr>
            <a:r>
              <a:rPr sz="1369" b="1" i="0" u="none">
                <a:solidFill>
                  <a:srgbClr val="1F1E1E"/>
                </a:solidFill>
                <a:latin typeface="Arial"/>
              </a:rPr>
              <a:t>Modelo Multimodal</a:t>
            </a:r>
          </a:p>
        </p:txBody>
      </p:sp>
      <p:sp>
        <p:nvSpPr>
          <p:cNvPr id="49" name="TextBox 48"/>
          <p:cNvSpPr txBox="1"/>
          <p:nvPr/>
        </p:nvSpPr>
        <p:spPr>
          <a:xfrm>
            <a:off x="9043606" y="3204686"/>
            <a:ext cx="2418327" cy="644176"/>
          </a:xfrm>
          <a:prstGeom prst="rect">
            <a:avLst/>
          </a:prstGeom>
          <a:noFill/>
        </p:spPr>
        <p:txBody>
          <a:bodyPr wrap="square" anchor="ctr" lIns="0" tIns="0" rIns="0" bIns="0">
            <a:noAutofit/>
          </a:bodyPr>
          <a:lstStyle/>
          <a:p>
            <a:pPr algn="l">
              <a:lnSpc>
                <a:spcPts val="1487"/>
              </a:lnSpc>
              <a:spcBef>
                <a:spcPts val="0"/>
              </a:spcBef>
              <a:spcAft>
                <a:spcPts val="0"/>
              </a:spcAft>
            </a:pPr>
            <a:r>
              <a:rPr sz="1101" b="0" i="0" u="none">
                <a:solidFill>
                  <a:srgbClr val="3B3535"/>
                </a:solidFill>
                <a:latin typeface="Arial"/>
              </a:rPr>
              <a:t>Un Foundation Model que procesa y genera varios tipos de dato a la vez.</a:t>
            </a:r>
          </a:p>
        </p:txBody>
      </p:sp>
      <p:sp>
        <p:nvSpPr>
          <p:cNvPr id="50" name="TextBox 49"/>
          <p:cNvSpPr txBox="1"/>
          <p:nvPr/>
        </p:nvSpPr>
        <p:spPr>
          <a:xfrm>
            <a:off x="9043606" y="3653314"/>
            <a:ext cx="2401919" cy="134779"/>
          </a:xfrm>
          <a:prstGeom prst="rect">
            <a:avLst/>
          </a:prstGeom>
          <a:noFill/>
        </p:spPr>
        <p:txBody>
          <a:bodyPr wrap="none" anchor="ctr" lIns="0" tIns="0" rIns="0" bIns="0">
            <a:noAutofit/>
          </a:bodyPr>
          <a:lstStyle/>
          <a:p>
            <a:pPr algn="l">
              <a:lnSpc>
                <a:spcPts val="952"/>
              </a:lnSpc>
              <a:spcBef>
                <a:spcPts val="0"/>
              </a:spcBef>
              <a:spcAft>
                <a:spcPts val="0"/>
              </a:spcAft>
            </a:pPr>
            <a:r>
              <a:rPr sz="952" b="1" i="0" u="none" spc="57">
                <a:solidFill>
                  <a:srgbClr val="DA1B2E"/>
                </a:solidFill>
                <a:latin typeface="Arial"/>
              </a:rPr>
              <a:t>CARACTERÍSTICAS</a:t>
            </a:r>
          </a:p>
        </p:txBody>
      </p:sp>
      <p:sp>
        <p:nvSpPr>
          <p:cNvPr id="51" name="Oval 50"/>
          <p:cNvSpPr/>
          <p:nvPr/>
        </p:nvSpPr>
        <p:spPr>
          <a:xfrm>
            <a:off x="9043606" y="3914108"/>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2" name="TextBox 51"/>
          <p:cNvSpPr txBox="1"/>
          <p:nvPr/>
        </p:nvSpPr>
        <p:spPr>
          <a:xfrm>
            <a:off x="9193625" y="3828478"/>
            <a:ext cx="2266058" cy="613124"/>
          </a:xfrm>
          <a:prstGeom prst="rect">
            <a:avLst/>
          </a:prstGeom>
          <a:noFill/>
        </p:spPr>
        <p:txBody>
          <a:bodyPr wrap="square" anchor="ctr" lIns="0" tIns="0" rIns="0" bIns="0">
            <a:noAutofit/>
          </a:bodyPr>
          <a:lstStyle/>
          <a:p>
            <a:pPr algn="l">
              <a:lnSpc>
                <a:spcPts val="1393"/>
              </a:lnSpc>
              <a:spcBef>
                <a:spcPts val="0"/>
              </a:spcBef>
              <a:spcAft>
                <a:spcPts val="0"/>
              </a:spcAft>
            </a:pPr>
            <a:r>
              <a:rPr sz="1071" b="0" i="0" u="none">
                <a:solidFill>
                  <a:srgbClr val="3B3535"/>
                </a:solidFill>
                <a:latin typeface="Arial"/>
              </a:rPr>
              <a:t>Combina encoders de varias modalidades</a:t>
            </a:r>
          </a:p>
        </p:txBody>
      </p:sp>
      <p:sp>
        <p:nvSpPr>
          <p:cNvPr id="53" name="Oval 52"/>
          <p:cNvSpPr/>
          <p:nvPr/>
        </p:nvSpPr>
        <p:spPr>
          <a:xfrm>
            <a:off x="9043606" y="4317587"/>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4" name="TextBox 53"/>
          <p:cNvSpPr txBox="1"/>
          <p:nvPr/>
        </p:nvSpPr>
        <p:spPr>
          <a:xfrm>
            <a:off x="9193625" y="4231958"/>
            <a:ext cx="2251996" cy="152400"/>
          </a:xfrm>
          <a:prstGeom prst="rect">
            <a:avLst/>
          </a:prstGeom>
          <a:noFill/>
        </p:spPr>
        <p:txBody>
          <a:bodyPr wrap="none" anchor="ctr" lIns="0" tIns="0" rIns="0" bIns="0">
            <a:noAutofit/>
          </a:bodyPr>
          <a:lstStyle/>
          <a:p>
            <a:pPr algn="l">
              <a:lnSpc>
                <a:spcPts val="1393"/>
              </a:lnSpc>
              <a:spcBef>
                <a:spcPts val="0"/>
              </a:spcBef>
              <a:spcAft>
                <a:spcPts val="0"/>
              </a:spcAft>
            </a:pPr>
            <a:r>
              <a:rPr sz="1071" b="0" i="0" u="none">
                <a:solidFill>
                  <a:srgbClr val="3B3535"/>
                </a:solidFill>
                <a:latin typeface="Arial"/>
              </a:rPr>
              <a:t>Un solo modelo para ver, oír y hablar</a:t>
            </a:r>
          </a:p>
        </p:txBody>
      </p:sp>
      <p:sp>
        <p:nvSpPr>
          <p:cNvPr id="55" name="Oval 54"/>
          <p:cNvSpPr/>
          <p:nvPr/>
        </p:nvSpPr>
        <p:spPr>
          <a:xfrm>
            <a:off x="9043606" y="4545520"/>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6" name="TextBox 55"/>
          <p:cNvSpPr txBox="1"/>
          <p:nvPr/>
        </p:nvSpPr>
        <p:spPr>
          <a:xfrm>
            <a:off x="9193625" y="4459986"/>
            <a:ext cx="2266058" cy="345186"/>
          </a:xfrm>
          <a:prstGeom prst="rect">
            <a:avLst/>
          </a:prstGeom>
          <a:noFill/>
        </p:spPr>
        <p:txBody>
          <a:bodyPr wrap="square" anchor="ctr" lIns="0" tIns="0" rIns="0" bIns="0">
            <a:noAutofit/>
          </a:bodyPr>
          <a:lstStyle/>
          <a:p>
            <a:pPr algn="l">
              <a:lnSpc>
                <a:spcPts val="1393"/>
              </a:lnSpc>
              <a:spcBef>
                <a:spcPts val="0"/>
              </a:spcBef>
              <a:spcAft>
                <a:spcPts val="0"/>
              </a:spcAft>
            </a:pPr>
            <a:r>
              <a:rPr sz="1071" b="0" i="0" u="none">
                <a:solidFill>
                  <a:srgbClr val="3B3535"/>
                </a:solidFill>
                <a:latin typeface="Arial"/>
              </a:rPr>
              <a:t>Razonamiento cruzado entre modalidades</a:t>
            </a:r>
          </a:p>
        </p:txBody>
      </p:sp>
      <p:sp>
        <p:nvSpPr>
          <p:cNvPr id="57" name="TextBox 56"/>
          <p:cNvSpPr txBox="1"/>
          <p:nvPr/>
        </p:nvSpPr>
        <p:spPr>
          <a:xfrm>
            <a:off x="9043606" y="4915948"/>
            <a:ext cx="2418327" cy="327850"/>
          </a:xfrm>
          <a:prstGeom prst="rect">
            <a:avLst/>
          </a:prstGeom>
          <a:noFill/>
        </p:spPr>
        <p:txBody>
          <a:bodyPr wrap="square" anchor="ctr" lIns="0" tIns="0" rIns="0" bIns="0">
            <a:noAutofit/>
          </a:bodyPr>
          <a:lstStyle/>
          <a:p>
            <a:pPr algn="l">
              <a:lnSpc>
                <a:spcPts val="1393"/>
              </a:lnSpc>
              <a:spcBef>
                <a:spcPts val="0"/>
              </a:spcBef>
              <a:spcAft>
                <a:spcPts val="0"/>
              </a:spcAft>
            </a:pPr>
            <a:r>
              <a:rPr sz="1071" b="1" i="0" u="none">
                <a:solidFill>
                  <a:srgbClr val="1F1E1E"/>
                </a:solidFill>
                <a:latin typeface="Arial"/>
              </a:rPr>
              <a:t>Ejemplos: GPT-4o, Gemini 1.5 Pro, LLaVA</a:t>
            </a:r>
          </a:p>
        </p:txBody>
      </p:sp>
      <p:sp>
        <p:nvSpPr>
          <p:cNvPr id="58" name="Rounded Rectangle 57"/>
          <p:cNvSpPr/>
          <p:nvPr/>
        </p:nvSpPr>
        <p:spPr>
          <a:xfrm>
            <a:off x="670465" y="5736622"/>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9" name="Rectangle 58"/>
          <p:cNvSpPr/>
          <p:nvPr/>
        </p:nvSpPr>
        <p:spPr>
          <a:xfrm>
            <a:off x="670465" y="5736622"/>
            <a:ext cx="57150" cy="51177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0" name="Picture 59" descr="image.png"/>
          <p:cNvPicPr>
            <a:picLocks noChangeAspect="1"/>
          </p:cNvPicPr>
          <p:nvPr/>
        </p:nvPicPr>
        <p:blipFill>
          <a:blip r:embed="rId6"/>
          <a:stretch>
            <a:fillRect/>
          </a:stretch>
        </p:blipFill>
        <p:spPr>
          <a:xfrm>
            <a:off x="886016" y="5882735"/>
            <a:ext cx="243745" cy="243745"/>
          </a:xfrm>
          <a:prstGeom prst="rect">
            <a:avLst/>
          </a:prstGeom>
        </p:spPr>
      </p:pic>
      <p:sp>
        <p:nvSpPr>
          <p:cNvPr id="61" name="TextBox 60"/>
          <p:cNvSpPr txBox="1"/>
          <p:nvPr/>
        </p:nvSpPr>
        <p:spPr>
          <a:xfrm>
            <a:off x="1251680" y="5877496"/>
            <a:ext cx="7116794"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Relación</a:t>
            </a:r>
            <a:r>
              <a:rPr sz="1402" b="0" i="0" u="none">
                <a:solidFill>
                  <a:srgbClr val="1F1E1E"/>
                </a:solidFill>
                <a:latin typeface="Arial"/>
              </a:rPr>
              <a:t>: Todo LLM es un Foundation Model, pero no todo Foundation Model es un LLM.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concept-columns: two terms, no shared factors</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It looks adversarial, but there is no row to read across — so it is not a comparison grid.</a:t>
            </a:r>
          </a:p>
        </p:txBody>
      </p:sp>
      <p:sp>
        <p:nvSpPr>
          <p:cNvPr id="6" name="TextBox 5"/>
          <p:cNvSpPr txBox="1"/>
          <p:nvPr/>
        </p:nvSpPr>
        <p:spPr>
          <a:xfrm>
            <a:off x="670465" y="2745391"/>
            <a:ext cx="10886789" cy="292608"/>
          </a:xfrm>
          <a:prstGeom prst="rect">
            <a:avLst/>
          </a:prstGeom>
          <a:noFill/>
        </p:spPr>
        <p:txBody>
          <a:bodyPr wrap="none" anchor="ctr" lIns="0" tIns="0" rIns="0" bIns="0">
            <a:noAutofit/>
          </a:bodyPr>
          <a:lstStyle/>
          <a:p>
            <a:pPr algn="l">
              <a:lnSpc>
                <a:spcPts val="2352"/>
              </a:lnSpc>
              <a:spcBef>
                <a:spcPts val="0"/>
              </a:spcBef>
              <a:spcAft>
                <a:spcPts val="0"/>
              </a:spcAft>
            </a:pPr>
            <a:r>
              <a:rPr sz="2045" b="1" i="0" u="none">
                <a:solidFill>
                  <a:srgbClr val="1F1E1E"/>
                </a:solidFill>
                <a:latin typeface="Arial"/>
              </a:rPr>
              <a:t>IA Tradicional vs. Foundation Models</a:t>
            </a:r>
          </a:p>
        </p:txBody>
      </p:sp>
      <p:sp>
        <p:nvSpPr>
          <p:cNvPr id="7" name="Rounded Rectangle 6"/>
          <p:cNvSpPr/>
          <p:nvPr/>
        </p:nvSpPr>
        <p:spPr>
          <a:xfrm>
            <a:off x="670465" y="3307175"/>
            <a:ext cx="5328476" cy="2506028"/>
          </a:xfrm>
          <a:prstGeom prst="roundRect">
            <a:avLst>
              <a:gd name="adj" fmla="val 8757"/>
            </a:avLst>
          </a:prstGeom>
          <a:solidFill>
            <a:srgbClr val="EFD5D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Rectangle 7"/>
          <p:cNvSpPr/>
          <p:nvPr/>
        </p:nvSpPr>
        <p:spPr>
          <a:xfrm>
            <a:off x="670465" y="3307175"/>
            <a:ext cx="5328476" cy="11430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9" name="Picture 8" descr="image.png"/>
          <p:cNvPicPr>
            <a:picLocks noChangeAspect="1"/>
          </p:cNvPicPr>
          <p:nvPr/>
        </p:nvPicPr>
        <p:blipFill>
          <a:blip r:embed="rId2"/>
          <a:stretch>
            <a:fillRect/>
          </a:stretch>
        </p:blipFill>
        <p:spPr>
          <a:xfrm>
            <a:off x="844677" y="3571780"/>
            <a:ext cx="313563" cy="313563"/>
          </a:xfrm>
          <a:prstGeom prst="rect">
            <a:avLst/>
          </a:prstGeom>
        </p:spPr>
      </p:pic>
      <p:sp>
        <p:nvSpPr>
          <p:cNvPr id="10" name="TextBox 9"/>
          <p:cNvSpPr txBox="1"/>
          <p:nvPr/>
        </p:nvSpPr>
        <p:spPr>
          <a:xfrm>
            <a:off x="1254062" y="3571780"/>
            <a:ext cx="4608766" cy="258604"/>
          </a:xfrm>
          <a:prstGeom prst="rect">
            <a:avLst/>
          </a:prstGeom>
          <a:noFill/>
        </p:spPr>
        <p:txBody>
          <a:bodyPr wrap="none" anchor="ctr" lIns="0" tIns="0" rIns="0" bIns="0">
            <a:noAutofit/>
          </a:bodyPr>
          <a:lstStyle/>
          <a:p>
            <a:pPr algn="l">
              <a:lnSpc>
                <a:spcPts val="2116"/>
              </a:lnSpc>
              <a:spcBef>
                <a:spcPts val="0"/>
              </a:spcBef>
              <a:spcAft>
                <a:spcPts val="0"/>
              </a:spcAft>
            </a:pPr>
            <a:r>
              <a:rPr sz="1839" b="1" i="0" u="none">
                <a:solidFill>
                  <a:srgbClr val="DA1B2E"/>
                </a:solidFill>
                <a:latin typeface="Arial"/>
              </a:rPr>
              <a:t>IA Tradicional</a:t>
            </a:r>
          </a:p>
        </p:txBody>
      </p:sp>
      <p:sp>
        <p:nvSpPr>
          <p:cNvPr id="11" name="TextBox 10"/>
          <p:cNvSpPr txBox="1"/>
          <p:nvPr/>
        </p:nvSpPr>
        <p:spPr>
          <a:xfrm>
            <a:off x="844677" y="3992880"/>
            <a:ext cx="5018246" cy="204216"/>
          </a:xfrm>
          <a:prstGeom prst="rect">
            <a:avLst/>
          </a:prstGeom>
          <a:noFill/>
        </p:spPr>
        <p:txBody>
          <a:bodyPr wrap="none" anchor="ctr" lIns="0" tIns="0" rIns="0" bIns="0">
            <a:noAutofit/>
          </a:bodyPr>
          <a:lstStyle/>
          <a:p>
            <a:pPr algn="l">
              <a:lnSpc>
                <a:spcPts val="1932"/>
              </a:lnSpc>
              <a:spcBef>
                <a:spcPts val="0"/>
              </a:spcBef>
              <a:spcAft>
                <a:spcPts val="0"/>
              </a:spcAft>
            </a:pPr>
            <a:r>
              <a:rPr sz="1431" b="0" i="0" u="none">
                <a:solidFill>
                  <a:srgbClr val="3B3535"/>
                </a:solidFill>
                <a:latin typeface="Arial"/>
              </a:rPr>
              <a:t>Un modelo por tarea específica, entrenado en casa.</a:t>
            </a:r>
          </a:p>
        </p:txBody>
      </p:sp>
      <p:sp>
        <p:nvSpPr>
          <p:cNvPr id="12" name="Oval 11"/>
          <p:cNvSpPr/>
          <p:nvPr/>
        </p:nvSpPr>
        <p:spPr>
          <a:xfrm>
            <a:off x="844677" y="4397883"/>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1018794" y="4320064"/>
            <a:ext cx="4897073" cy="726472"/>
          </a:xfrm>
          <a:prstGeom prst="rect">
            <a:avLst/>
          </a:prstGeom>
          <a:noFill/>
        </p:spPr>
        <p:txBody>
          <a:bodyPr wrap="square" anchor="ctr" lIns="0" tIns="0" rIns="0" bIns="0">
            <a:noAutofit/>
          </a:bodyPr>
          <a:lstStyle/>
          <a:p>
            <a:pPr algn="l">
              <a:lnSpc>
                <a:spcPts val="1772"/>
              </a:lnSpc>
              <a:spcBef>
                <a:spcPts val="0"/>
              </a:spcBef>
              <a:spcAft>
                <a:spcPts val="0"/>
              </a:spcAft>
            </a:pPr>
            <a:r>
              <a:rPr sz="1363" b="0" i="0" u="none">
                <a:solidFill>
                  <a:srgbClr val="3B3535"/>
                </a:solidFill>
                <a:latin typeface="Arial"/>
              </a:rPr>
              <a:t>Requiere datos etiquetados abundantes para cada caso de uso</a:t>
            </a:r>
          </a:p>
        </p:txBody>
      </p:sp>
      <p:sp>
        <p:nvSpPr>
          <p:cNvPr id="14" name="Oval 13"/>
          <p:cNvSpPr/>
          <p:nvPr/>
        </p:nvSpPr>
        <p:spPr>
          <a:xfrm>
            <a:off x="844677" y="4911662"/>
            <a:ext cx="97441" cy="97441"/>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1018794" y="4833842"/>
            <a:ext cx="4844034" cy="190595"/>
          </a:xfrm>
          <a:prstGeom prst="rect">
            <a:avLst/>
          </a:prstGeom>
          <a:noFill/>
        </p:spPr>
        <p:txBody>
          <a:bodyPr wrap="none" anchor="ctr" lIns="0" tIns="0" rIns="0" bIns="0">
            <a:noAutofit/>
          </a:bodyPr>
          <a:lstStyle/>
          <a:p>
            <a:pPr algn="l">
              <a:lnSpc>
                <a:spcPts val="1772"/>
              </a:lnSpc>
              <a:spcBef>
                <a:spcPts val="0"/>
              </a:spcBef>
              <a:spcAft>
                <a:spcPts val="0"/>
              </a:spcAft>
            </a:pPr>
            <a:r>
              <a:rPr sz="1363" b="0" i="0" u="none">
                <a:solidFill>
                  <a:srgbClr val="3B3535"/>
                </a:solidFill>
                <a:latin typeface="Arial"/>
              </a:rPr>
              <a:t>Difícil de reutilizar entre dominios distintos</a:t>
            </a:r>
          </a:p>
        </p:txBody>
      </p:sp>
      <p:sp>
        <p:nvSpPr>
          <p:cNvPr id="16" name="TextBox 15"/>
          <p:cNvSpPr txBox="1"/>
          <p:nvPr/>
        </p:nvSpPr>
        <p:spPr>
          <a:xfrm>
            <a:off x="844677" y="5199507"/>
            <a:ext cx="5073898" cy="416909"/>
          </a:xfrm>
          <a:prstGeom prst="rect">
            <a:avLst/>
          </a:prstGeom>
          <a:noFill/>
        </p:spPr>
        <p:txBody>
          <a:bodyPr wrap="square" anchor="ctr" lIns="0" tIns="0" rIns="0" bIns="0">
            <a:noAutofit/>
          </a:bodyPr>
          <a:lstStyle/>
          <a:p>
            <a:pPr algn="l">
              <a:lnSpc>
                <a:spcPts val="1772"/>
              </a:lnSpc>
              <a:spcBef>
                <a:spcPts val="0"/>
              </a:spcBef>
              <a:spcAft>
                <a:spcPts val="0"/>
              </a:spcAft>
            </a:pPr>
            <a:r>
              <a:rPr sz="1363" b="1" i="0" u="none">
                <a:solidFill>
                  <a:srgbClr val="1F1E1E"/>
                </a:solidFill>
                <a:latin typeface="Arial"/>
              </a:rPr>
              <a:t>Ejemplo: un detector de fallos en autopartes sólo detecta eso.</a:t>
            </a:r>
          </a:p>
        </p:txBody>
      </p:sp>
      <p:sp>
        <p:nvSpPr>
          <p:cNvPr id="17" name="Rounded Rectangle 16"/>
          <p:cNvSpPr/>
          <p:nvPr/>
        </p:nvSpPr>
        <p:spPr>
          <a:xfrm>
            <a:off x="6190583" y="3307175"/>
            <a:ext cx="5328571" cy="2506028"/>
          </a:xfrm>
          <a:prstGeom prst="roundRect">
            <a:avLst>
              <a:gd name="adj" fmla="val 875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Rectangle 17"/>
          <p:cNvSpPr/>
          <p:nvPr/>
        </p:nvSpPr>
        <p:spPr>
          <a:xfrm>
            <a:off x="6190583" y="3307175"/>
            <a:ext cx="5328571" cy="5715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9" name="Picture 18" descr="image.png"/>
          <p:cNvPicPr>
            <a:picLocks noChangeAspect="1"/>
          </p:cNvPicPr>
          <p:nvPr/>
        </p:nvPicPr>
        <p:blipFill>
          <a:blip r:embed="rId3"/>
          <a:stretch>
            <a:fillRect/>
          </a:stretch>
        </p:blipFill>
        <p:spPr>
          <a:xfrm>
            <a:off x="6364796" y="3530918"/>
            <a:ext cx="313563" cy="313563"/>
          </a:xfrm>
          <a:prstGeom prst="rect">
            <a:avLst/>
          </a:prstGeom>
        </p:spPr>
      </p:pic>
      <p:sp>
        <p:nvSpPr>
          <p:cNvPr id="20" name="TextBox 19"/>
          <p:cNvSpPr txBox="1"/>
          <p:nvPr/>
        </p:nvSpPr>
        <p:spPr>
          <a:xfrm>
            <a:off x="6774180" y="3530918"/>
            <a:ext cx="4608957" cy="258604"/>
          </a:xfrm>
          <a:prstGeom prst="rect">
            <a:avLst/>
          </a:prstGeom>
          <a:noFill/>
        </p:spPr>
        <p:txBody>
          <a:bodyPr wrap="none" anchor="ctr" lIns="0" tIns="0" rIns="0" bIns="0">
            <a:noAutofit/>
          </a:bodyPr>
          <a:lstStyle/>
          <a:p>
            <a:pPr algn="l">
              <a:lnSpc>
                <a:spcPts val="2116"/>
              </a:lnSpc>
              <a:spcBef>
                <a:spcPts val="0"/>
              </a:spcBef>
              <a:spcAft>
                <a:spcPts val="0"/>
              </a:spcAft>
            </a:pPr>
            <a:r>
              <a:rPr sz="1839" b="1" i="0" u="none">
                <a:solidFill>
                  <a:srgbClr val="1F1E1E"/>
                </a:solidFill>
                <a:latin typeface="Arial"/>
              </a:rPr>
              <a:t>Foundation Models</a:t>
            </a:r>
          </a:p>
        </p:txBody>
      </p:sp>
      <p:sp>
        <p:nvSpPr>
          <p:cNvPr id="21" name="TextBox 20"/>
          <p:cNvSpPr txBox="1"/>
          <p:nvPr/>
        </p:nvSpPr>
        <p:spPr>
          <a:xfrm>
            <a:off x="6364796" y="3952018"/>
            <a:ext cx="5073995" cy="796766"/>
          </a:xfrm>
          <a:prstGeom prst="rect">
            <a:avLst/>
          </a:prstGeom>
          <a:noFill/>
        </p:spPr>
        <p:txBody>
          <a:bodyPr wrap="square" anchor="ctr" lIns="0" tIns="0" rIns="0" bIns="0">
            <a:noAutofit/>
          </a:bodyPr>
          <a:lstStyle/>
          <a:p>
            <a:pPr algn="l">
              <a:lnSpc>
                <a:spcPts val="1932"/>
              </a:lnSpc>
              <a:spcBef>
                <a:spcPts val="0"/>
              </a:spcBef>
              <a:spcAft>
                <a:spcPts val="0"/>
              </a:spcAft>
            </a:pPr>
            <a:r>
              <a:rPr sz="1431" b="0" i="0" u="none">
                <a:solidFill>
                  <a:srgbClr val="3B3535"/>
                </a:solidFill>
                <a:latin typeface="Arial"/>
              </a:rPr>
              <a:t>Modelos entrenados con datos a gran escala que adquieren una comprensión general y se adaptan después.</a:t>
            </a:r>
          </a:p>
        </p:txBody>
      </p:sp>
      <p:sp>
        <p:nvSpPr>
          <p:cNvPr id="22" name="TextBox 21"/>
          <p:cNvSpPr txBox="1"/>
          <p:nvPr/>
        </p:nvSpPr>
        <p:spPr>
          <a:xfrm>
            <a:off x="6364796" y="4532948"/>
            <a:ext cx="5018342" cy="190595"/>
          </a:xfrm>
          <a:prstGeom prst="rect">
            <a:avLst/>
          </a:prstGeom>
          <a:noFill/>
        </p:spPr>
        <p:txBody>
          <a:bodyPr wrap="none" anchor="ctr" lIns="0" tIns="0" rIns="0" bIns="0">
            <a:noAutofit/>
          </a:bodyPr>
          <a:lstStyle/>
          <a:p>
            <a:pPr algn="l">
              <a:lnSpc>
                <a:spcPts val="1839"/>
              </a:lnSpc>
              <a:spcBef>
                <a:spcPts val="0"/>
              </a:spcBef>
              <a:spcAft>
                <a:spcPts val="0"/>
              </a:spcAft>
            </a:pPr>
            <a:r>
              <a:rPr sz="1363" b="0" i="0" u="none">
                <a:solidFill>
                  <a:srgbClr val="3B3535"/>
                </a:solidFill>
                <a:latin typeface="Arial"/>
              </a:rPr>
              <a:t>Se exponen como SaaS o se pueden correr localmente.</a:t>
            </a:r>
          </a:p>
        </p:txBody>
      </p:sp>
      <p:sp>
        <p:nvSpPr>
          <p:cNvPr id="23" name="TextBox 22"/>
          <p:cNvSpPr txBox="1"/>
          <p:nvPr/>
        </p:nvSpPr>
        <p:spPr>
          <a:xfrm>
            <a:off x="6364796" y="4855178"/>
            <a:ext cx="5073995" cy="710374"/>
          </a:xfrm>
          <a:prstGeom prst="rect">
            <a:avLst/>
          </a:prstGeom>
          <a:noFill/>
        </p:spPr>
        <p:txBody>
          <a:bodyPr wrap="square" anchor="ctr" lIns="0" tIns="0" rIns="0" bIns="0">
            <a:noAutofit/>
          </a:bodyPr>
          <a:lstStyle/>
          <a:p>
            <a:pPr algn="l">
              <a:lnSpc>
                <a:spcPts val="1839"/>
              </a:lnSpc>
              <a:spcBef>
                <a:spcPts val="0"/>
              </a:spcBef>
              <a:spcAft>
                <a:spcPts val="0"/>
              </a:spcAft>
            </a:pPr>
            <a:r>
              <a:rPr sz="1363" b="0" i="0" u="none">
                <a:solidFill>
                  <a:srgbClr val="3B3535"/>
                </a:solidFill>
                <a:latin typeface="Arial"/>
              </a:rPr>
              <a:t>No hace falta un equipo de data science para empezar a usarlos.</a:t>
            </a:r>
          </a:p>
        </p:txBody>
      </p:sp>
      <p:sp>
        <p:nvSpPr>
          <p:cNvPr id="24" name="TextBox 23"/>
          <p:cNvSpPr txBox="1"/>
          <p:nvPr/>
        </p:nvSpPr>
        <p:spPr>
          <a:xfrm>
            <a:off x="670465" y="6027230"/>
            <a:ext cx="8165497"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6E6663"/>
                </a:solidFill>
                <a:latin typeface="Arial"/>
              </a:rPr>
              <a:t>Lectura recomendada: </a:t>
            </a:r>
            <a:r>
              <a:rPr sz="1402" b="1" i="0" u="sng">
                <a:solidFill>
                  <a:srgbClr val="DA1B2E"/>
                </a:solidFill>
                <a:latin typeface="Arial"/>
                <a:hlinkClick r:id="rId4"/>
              </a:rPr>
              <a:t>On the Opportunities and Risks of Foundation Models</a:t>
            </a:r>
            <a:r>
              <a:rPr sz="1402" b="0" i="0" u="none">
                <a:solidFill>
                  <a:srgbClr val="6E6663"/>
                </a:solidFill>
                <a:latin typeface="Arial"/>
              </a:rPr>
              <a:t> (Stanford HAI, 2021).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value-columns: three columns</a:t>
            </a:r>
          </a:p>
        </p:txBody>
      </p:sp>
      <p:sp>
        <p:nvSpPr>
          <p:cNvPr id="5" name="Rectangle 4"/>
          <p:cNvSpPr/>
          <p:nvPr/>
        </p:nvSpPr>
        <p:spPr>
          <a:xfrm>
            <a:off x="670465" y="1775555"/>
            <a:ext cx="10848975" cy="42548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0465" y="2153412"/>
            <a:ext cx="10848975" cy="47625"/>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670465" y="1775555"/>
            <a:ext cx="3524440" cy="323850"/>
          </a:xfrm>
          <a:prstGeom prst="rect">
            <a:avLst/>
          </a:prstGeom>
          <a:noFill/>
        </p:spPr>
        <p:txBody>
          <a:bodyPr wrap="none" anchor="ctr" lIns="0" tIns="0" rIns="0" bIns="0">
            <a:noAutofit/>
          </a:bodyPr>
          <a:lstStyle/>
          <a:p>
            <a:pPr algn="l">
              <a:lnSpc>
                <a:spcPts val="2400"/>
              </a:lnSpc>
              <a:spcBef>
                <a:spcPts val="0"/>
              </a:spcBef>
              <a:spcAft>
                <a:spcPts val="0"/>
              </a:spcAft>
            </a:pPr>
            <a:r>
              <a:rPr sz="2400" b="1" i="0" u="none">
                <a:solidFill>
                  <a:srgbClr val="1F1E1E"/>
                </a:solidFill>
                <a:latin typeface="Arial"/>
              </a:rPr>
              <a:t>Layout</a:t>
            </a:r>
          </a:p>
        </p:txBody>
      </p:sp>
      <p:sp>
        <p:nvSpPr>
          <p:cNvPr id="8" name="TextBox 7"/>
          <p:cNvSpPr txBox="1"/>
          <p:nvPr/>
        </p:nvSpPr>
        <p:spPr>
          <a:xfrm>
            <a:off x="4351782" y="1775555"/>
            <a:ext cx="3524440" cy="323850"/>
          </a:xfrm>
          <a:prstGeom prst="rect">
            <a:avLst/>
          </a:prstGeom>
          <a:noFill/>
        </p:spPr>
        <p:txBody>
          <a:bodyPr wrap="none" anchor="ctr" lIns="0" tIns="0" rIns="0" bIns="0">
            <a:noAutofit/>
          </a:bodyPr>
          <a:lstStyle/>
          <a:p>
            <a:pPr algn="l">
              <a:lnSpc>
                <a:spcPts val="2400"/>
              </a:lnSpc>
              <a:spcBef>
                <a:spcPts val="0"/>
              </a:spcBef>
              <a:spcAft>
                <a:spcPts val="0"/>
              </a:spcAft>
            </a:pPr>
            <a:r>
              <a:rPr sz="2400" b="1" i="0" u="none">
                <a:solidFill>
                  <a:srgbClr val="1F1E1E"/>
                </a:solidFill>
                <a:latin typeface="Arial"/>
              </a:rPr>
              <a:t>Rows</a:t>
            </a:r>
          </a:p>
        </p:txBody>
      </p:sp>
      <p:sp>
        <p:nvSpPr>
          <p:cNvPr id="9" name="TextBox 8"/>
          <p:cNvSpPr txBox="1"/>
          <p:nvPr/>
        </p:nvSpPr>
        <p:spPr>
          <a:xfrm>
            <a:off x="8033004" y="1775555"/>
            <a:ext cx="3524536" cy="323850"/>
          </a:xfrm>
          <a:prstGeom prst="rect">
            <a:avLst/>
          </a:prstGeom>
          <a:noFill/>
        </p:spPr>
        <p:txBody>
          <a:bodyPr wrap="none" anchor="ctr" lIns="0" tIns="0" rIns="0" bIns="0">
            <a:noAutofit/>
          </a:bodyPr>
          <a:lstStyle/>
          <a:p>
            <a:pPr algn="l">
              <a:lnSpc>
                <a:spcPts val="2400"/>
              </a:lnSpc>
              <a:spcBef>
                <a:spcPts val="0"/>
              </a:spcBef>
              <a:spcAft>
                <a:spcPts val="0"/>
              </a:spcAft>
            </a:pPr>
            <a:r>
              <a:rPr sz="2400" b="1" i="0" u="none">
                <a:solidFill>
                  <a:srgbClr val="1F1E1E"/>
                </a:solidFill>
                <a:latin typeface="Arial"/>
              </a:rPr>
              <a:t>Rule</a:t>
            </a:r>
          </a:p>
        </p:txBody>
      </p:sp>
      <p:sp>
        <p:nvSpPr>
          <p:cNvPr id="10" name="TextBox 9"/>
          <p:cNvSpPr txBox="1"/>
          <p:nvPr/>
        </p:nvSpPr>
        <p:spPr>
          <a:xfrm>
            <a:off x="670465" y="2499265"/>
            <a:ext cx="3346249" cy="750856"/>
          </a:xfrm>
          <a:prstGeom prst="rect">
            <a:avLst/>
          </a:prstGeom>
          <a:noFill/>
        </p:spPr>
        <p:txBody>
          <a:bodyPr wrap="square" anchor="ctr" lIns="0" tIns="0" rIns="0" bIns="0">
            <a:noAutofit/>
          </a:bodyPr>
          <a:lstStyle/>
          <a:p>
            <a:pPr algn="l">
              <a:lnSpc>
                <a:spcPts val="2208"/>
              </a:lnSpc>
              <a:spcBef>
                <a:spcPts val="0"/>
              </a:spcBef>
              <a:spcAft>
                <a:spcPts val="0"/>
              </a:spcAft>
            </a:pPr>
            <a:r>
              <a:rPr sz="2208" b="1" i="0" u="none">
                <a:solidFill>
                  <a:srgbClr val="1F1E1E"/>
                </a:solidFill>
                <a:latin typeface="Arial"/>
              </a:rPr>
              <a:t>Two to three equal columns</a:t>
            </a:r>
          </a:p>
        </p:txBody>
      </p:sp>
      <p:sp>
        <p:nvSpPr>
          <p:cNvPr id="11" name="Rounded Rectangle 10"/>
          <p:cNvSpPr/>
          <p:nvPr/>
        </p:nvSpPr>
        <p:spPr>
          <a:xfrm>
            <a:off x="4346543" y="2347341"/>
            <a:ext cx="3496723" cy="902780"/>
          </a:xfrm>
          <a:prstGeom prst="roundRect">
            <a:avLst>
              <a:gd name="adj" fmla="val 1615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4565142" y="2499265"/>
            <a:ext cx="3124275" cy="750856"/>
          </a:xfrm>
          <a:prstGeom prst="rect">
            <a:avLst/>
          </a:prstGeom>
          <a:noFill/>
        </p:spPr>
        <p:txBody>
          <a:bodyPr wrap="square" anchor="ctr" lIns="0" tIns="0" rIns="0" bIns="0">
            <a:noAutofit/>
          </a:bodyPr>
          <a:lstStyle/>
          <a:p>
            <a:pPr algn="l">
              <a:lnSpc>
                <a:spcPts val="2208"/>
              </a:lnSpc>
              <a:spcBef>
                <a:spcPts val="0"/>
              </a:spcBef>
              <a:spcAft>
                <a:spcPts val="0"/>
              </a:spcAft>
            </a:pPr>
            <a:r>
              <a:rPr sz="2208" b="0" i="0" u="none">
                <a:solidFill>
                  <a:srgbClr val="3B3535"/>
                </a:solidFill>
                <a:latin typeface="Arial"/>
              </a:rPr>
              <a:t>Cells align across columns</a:t>
            </a:r>
          </a:p>
        </p:txBody>
      </p:sp>
      <p:sp>
        <p:nvSpPr>
          <p:cNvPr id="13" name="Rounded Rectangle 12"/>
          <p:cNvSpPr/>
          <p:nvPr/>
        </p:nvSpPr>
        <p:spPr>
          <a:xfrm>
            <a:off x="8022622" y="2487549"/>
            <a:ext cx="3496913" cy="622364"/>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8241220" y="2639473"/>
            <a:ext cx="3097625" cy="314325"/>
          </a:xfrm>
          <a:prstGeom prst="rect">
            <a:avLst/>
          </a:prstGeom>
          <a:noFill/>
        </p:spPr>
        <p:txBody>
          <a:bodyPr wrap="none" anchor="ctr" lIns="0" tIns="0" rIns="0" bIns="0">
            <a:noAutofit/>
          </a:bodyPr>
          <a:lstStyle/>
          <a:p>
            <a:pPr algn="l">
              <a:lnSpc>
                <a:spcPts val="2208"/>
              </a:lnSpc>
              <a:spcBef>
                <a:spcPts val="0"/>
              </a:spcBef>
              <a:spcAft>
                <a:spcPts val="0"/>
              </a:spcAft>
            </a:pPr>
            <a:r>
              <a:rPr sz="2208" b="0" i="0" u="none">
                <a:solidFill>
                  <a:srgbClr val="3B3535"/>
                </a:solidFill>
                <a:latin typeface="Arial"/>
              </a:rPr>
              <a:t>A card-per-row grid</a:t>
            </a:r>
          </a:p>
        </p:txBody>
      </p:sp>
      <p:sp>
        <p:nvSpPr>
          <p:cNvPr id="15" name="TextBox 14"/>
          <p:cNvSpPr txBox="1"/>
          <p:nvPr/>
        </p:nvSpPr>
        <p:spPr>
          <a:xfrm>
            <a:off x="670465" y="3688556"/>
            <a:ext cx="3316129" cy="314325"/>
          </a:xfrm>
          <a:prstGeom prst="rect">
            <a:avLst/>
          </a:prstGeom>
          <a:noFill/>
        </p:spPr>
        <p:txBody>
          <a:bodyPr wrap="none" anchor="ctr" lIns="0" tIns="0" rIns="0" bIns="0">
            <a:noAutofit/>
          </a:bodyPr>
          <a:lstStyle/>
          <a:p>
            <a:pPr algn="l">
              <a:lnSpc>
                <a:spcPts val="2208"/>
              </a:lnSpc>
              <a:spcBef>
                <a:spcPts val="0"/>
              </a:spcBef>
              <a:spcAft>
                <a:spcPts val="0"/>
              </a:spcAft>
            </a:pPr>
            <a:r>
              <a:rPr sz="2208" b="1" i="0" u="none">
                <a:solidFill>
                  <a:srgbClr val="1F1E1E"/>
                </a:solidFill>
                <a:latin typeface="Arial"/>
              </a:rPr>
              <a:t>Parallel headers</a:t>
            </a:r>
          </a:p>
        </p:txBody>
      </p:sp>
      <p:sp>
        <p:nvSpPr>
          <p:cNvPr id="16" name="Rounded Rectangle 15"/>
          <p:cNvSpPr/>
          <p:nvPr/>
        </p:nvSpPr>
        <p:spPr>
          <a:xfrm>
            <a:off x="4346543" y="3396424"/>
            <a:ext cx="3496723" cy="902780"/>
          </a:xfrm>
          <a:prstGeom prst="roundRect">
            <a:avLst>
              <a:gd name="adj" fmla="val 1615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4565142" y="3548348"/>
            <a:ext cx="3124275" cy="750856"/>
          </a:xfrm>
          <a:prstGeom prst="rect">
            <a:avLst/>
          </a:prstGeom>
          <a:noFill/>
        </p:spPr>
        <p:txBody>
          <a:bodyPr wrap="square" anchor="ctr" lIns="0" tIns="0" rIns="0" bIns="0">
            <a:noAutofit/>
          </a:bodyPr>
          <a:lstStyle/>
          <a:p>
            <a:pPr algn="l">
              <a:lnSpc>
                <a:spcPts val="2208"/>
              </a:lnSpc>
              <a:spcBef>
                <a:spcPts val="0"/>
              </a:spcBef>
              <a:spcAft>
                <a:spcPts val="0"/>
              </a:spcAft>
            </a:pPr>
            <a:r>
              <a:rPr sz="2208" b="0" i="0" u="none">
                <a:solidFill>
                  <a:srgbClr val="3B3535"/>
                </a:solidFill>
                <a:latin typeface="Arial"/>
              </a:rPr>
              <a:t>One row per comparison point</a:t>
            </a:r>
          </a:p>
        </p:txBody>
      </p:sp>
      <p:sp>
        <p:nvSpPr>
          <p:cNvPr id="18" name="Rounded Rectangle 17"/>
          <p:cNvSpPr/>
          <p:nvPr/>
        </p:nvSpPr>
        <p:spPr>
          <a:xfrm>
            <a:off x="8022622" y="3536632"/>
            <a:ext cx="3496913" cy="622364"/>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8241220" y="3688556"/>
            <a:ext cx="3097625" cy="314325"/>
          </a:xfrm>
          <a:prstGeom prst="rect">
            <a:avLst/>
          </a:prstGeom>
          <a:noFill/>
        </p:spPr>
        <p:txBody>
          <a:bodyPr wrap="none" anchor="ctr" lIns="0" tIns="0" rIns="0" bIns="0">
            <a:noAutofit/>
          </a:bodyPr>
          <a:lstStyle/>
          <a:p>
            <a:pPr algn="l">
              <a:lnSpc>
                <a:spcPts val="2208"/>
              </a:lnSpc>
              <a:spcBef>
                <a:spcPts val="0"/>
              </a:spcBef>
              <a:spcAft>
                <a:spcPts val="0"/>
              </a:spcAft>
            </a:pPr>
            <a:r>
              <a:rPr sz="2208" b="0" i="0" u="none">
                <a:solidFill>
                  <a:srgbClr val="3B3535"/>
                </a:solidFill>
                <a:latin typeface="Arial"/>
              </a:rPr>
              <a:t>Never a native table</a:t>
            </a:r>
          </a:p>
        </p:txBody>
      </p:sp>
      <p:sp>
        <p:nvSpPr>
          <p:cNvPr id="20" name="TextBox 19"/>
          <p:cNvSpPr txBox="1"/>
          <p:nvPr/>
        </p:nvSpPr>
        <p:spPr>
          <a:xfrm>
            <a:off x="670465" y="4597432"/>
            <a:ext cx="3316129" cy="314325"/>
          </a:xfrm>
          <a:prstGeom prst="rect">
            <a:avLst/>
          </a:prstGeom>
          <a:noFill/>
        </p:spPr>
        <p:txBody>
          <a:bodyPr wrap="none" anchor="ctr" lIns="0" tIns="0" rIns="0" bIns="0">
            <a:noAutofit/>
          </a:bodyPr>
          <a:lstStyle/>
          <a:p>
            <a:pPr algn="l">
              <a:lnSpc>
                <a:spcPts val="2208"/>
              </a:lnSpc>
              <a:spcBef>
                <a:spcPts val="0"/>
              </a:spcBef>
              <a:spcAft>
                <a:spcPts val="0"/>
              </a:spcAft>
            </a:pPr>
            <a:r>
              <a:rPr sz="2208" b="1" i="0" u="none">
                <a:solidFill>
                  <a:srgbClr val="1F1E1E"/>
                </a:solidFill>
                <a:latin typeface="Arial"/>
              </a:rPr>
              <a:t>Uniform widths</a:t>
            </a:r>
          </a:p>
        </p:txBody>
      </p:sp>
      <p:sp>
        <p:nvSpPr>
          <p:cNvPr id="21" name="Rounded Rectangle 20"/>
          <p:cNvSpPr/>
          <p:nvPr/>
        </p:nvSpPr>
        <p:spPr>
          <a:xfrm>
            <a:off x="4346543" y="4445508"/>
            <a:ext cx="3496723" cy="622364"/>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4565142" y="4597432"/>
            <a:ext cx="3097435" cy="314325"/>
          </a:xfrm>
          <a:prstGeom prst="rect">
            <a:avLst/>
          </a:prstGeom>
          <a:noFill/>
        </p:spPr>
        <p:txBody>
          <a:bodyPr wrap="none" anchor="ctr" lIns="0" tIns="0" rIns="0" bIns="0">
            <a:noAutofit/>
          </a:bodyPr>
          <a:lstStyle/>
          <a:p>
            <a:pPr algn="l">
              <a:lnSpc>
                <a:spcPts val="2208"/>
              </a:lnSpc>
              <a:spcBef>
                <a:spcPts val="0"/>
              </a:spcBef>
              <a:spcAft>
                <a:spcPts val="0"/>
              </a:spcAft>
            </a:pPr>
            <a:r>
              <a:rPr sz="2208" b="0" i="0" u="none">
                <a:solidFill>
                  <a:srgbClr val="3B3535"/>
                </a:solidFill>
                <a:latin typeface="Arial"/>
              </a:rPr>
              <a:t>Shared gridlines</a:t>
            </a:r>
          </a:p>
        </p:txBody>
      </p:sp>
      <p:sp>
        <p:nvSpPr>
          <p:cNvPr id="23" name="Rounded Rectangle 22"/>
          <p:cNvSpPr/>
          <p:nvPr/>
        </p:nvSpPr>
        <p:spPr>
          <a:xfrm>
            <a:off x="8022622" y="4445508"/>
            <a:ext cx="3496913" cy="622364"/>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8241220" y="4597432"/>
            <a:ext cx="3097625" cy="314325"/>
          </a:xfrm>
          <a:prstGeom prst="rect">
            <a:avLst/>
          </a:prstGeom>
          <a:noFill/>
        </p:spPr>
        <p:txBody>
          <a:bodyPr wrap="none" anchor="ctr" lIns="0" tIns="0" rIns="0" bIns="0">
            <a:noAutofit/>
          </a:bodyPr>
          <a:lstStyle/>
          <a:p>
            <a:pPr algn="l">
              <a:lnSpc>
                <a:spcPts val="2208"/>
              </a:lnSpc>
              <a:spcBef>
                <a:spcPts val="0"/>
              </a:spcBef>
              <a:spcAft>
                <a:spcPts val="0"/>
              </a:spcAft>
            </a:pPr>
            <a:r>
              <a:rPr sz="2208" b="0" i="0" u="none">
                <a:solidFill>
                  <a:srgbClr val="3B3535"/>
                </a:solidFill>
                <a:latin typeface="Arial"/>
              </a:rPr>
              <a:t>No plain bullets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value-columns: two columns (myth vs reality)</a:t>
            </a:r>
          </a:p>
        </p:txBody>
      </p:sp>
      <p:sp>
        <p:nvSpPr>
          <p:cNvPr id="5" name="Rectangle 4"/>
          <p:cNvSpPr/>
          <p:nvPr/>
        </p:nvSpPr>
        <p:spPr>
          <a:xfrm>
            <a:off x="670465" y="2328577"/>
            <a:ext cx="10848975" cy="42548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0465" y="2706434"/>
            <a:ext cx="10848975" cy="47625"/>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670465" y="2328577"/>
            <a:ext cx="5365147" cy="323850"/>
          </a:xfrm>
          <a:prstGeom prst="rect">
            <a:avLst/>
          </a:prstGeom>
          <a:noFill/>
        </p:spPr>
        <p:txBody>
          <a:bodyPr wrap="none" anchor="ctr" lIns="0" tIns="0" rIns="0" bIns="0">
            <a:noAutofit/>
          </a:bodyPr>
          <a:lstStyle/>
          <a:p>
            <a:pPr algn="l">
              <a:lnSpc>
                <a:spcPts val="2400"/>
              </a:lnSpc>
              <a:spcBef>
                <a:spcPts val="0"/>
              </a:spcBef>
              <a:spcAft>
                <a:spcPts val="0"/>
              </a:spcAft>
            </a:pPr>
            <a:r>
              <a:rPr sz="2400" b="1" i="0" u="none">
                <a:solidFill>
                  <a:srgbClr val="1F1E1E"/>
                </a:solidFill>
                <a:latin typeface="Arial"/>
              </a:rPr>
              <a:t>Myth</a:t>
            </a:r>
          </a:p>
        </p:txBody>
      </p:sp>
      <p:sp>
        <p:nvSpPr>
          <p:cNvPr id="8" name="TextBox 7"/>
          <p:cNvSpPr txBox="1"/>
          <p:nvPr/>
        </p:nvSpPr>
        <p:spPr>
          <a:xfrm>
            <a:off x="6192488" y="2328577"/>
            <a:ext cx="5365147" cy="323850"/>
          </a:xfrm>
          <a:prstGeom prst="rect">
            <a:avLst/>
          </a:prstGeom>
          <a:noFill/>
        </p:spPr>
        <p:txBody>
          <a:bodyPr wrap="none" anchor="ctr" lIns="0" tIns="0" rIns="0" bIns="0">
            <a:noAutofit/>
          </a:bodyPr>
          <a:lstStyle/>
          <a:p>
            <a:pPr algn="l">
              <a:lnSpc>
                <a:spcPts val="2400"/>
              </a:lnSpc>
              <a:spcBef>
                <a:spcPts val="0"/>
              </a:spcBef>
              <a:spcAft>
                <a:spcPts val="0"/>
              </a:spcAft>
            </a:pPr>
            <a:r>
              <a:rPr sz="2400" b="1" i="0" u="none">
                <a:solidFill>
                  <a:srgbClr val="1F1E1E"/>
                </a:solidFill>
                <a:latin typeface="Arial"/>
              </a:rPr>
              <a:t>Reality</a:t>
            </a:r>
          </a:p>
        </p:txBody>
      </p:sp>
      <p:sp>
        <p:nvSpPr>
          <p:cNvPr id="9" name="TextBox 8"/>
          <p:cNvSpPr txBox="1"/>
          <p:nvPr/>
        </p:nvSpPr>
        <p:spPr>
          <a:xfrm>
            <a:off x="670465" y="3052286"/>
            <a:ext cx="5211762" cy="750856"/>
          </a:xfrm>
          <a:prstGeom prst="rect">
            <a:avLst/>
          </a:prstGeom>
          <a:noFill/>
        </p:spPr>
        <p:txBody>
          <a:bodyPr wrap="square" anchor="ctr" lIns="0" tIns="0" rIns="0" bIns="0">
            <a:noAutofit/>
          </a:bodyPr>
          <a:lstStyle/>
          <a:p>
            <a:pPr algn="l">
              <a:lnSpc>
                <a:spcPts val="2208"/>
              </a:lnSpc>
              <a:spcBef>
                <a:spcPts val="0"/>
              </a:spcBef>
              <a:spcAft>
                <a:spcPts val="0"/>
              </a:spcAft>
            </a:pPr>
            <a:r>
              <a:rPr sz="2208" b="1" i="0" u="none">
                <a:solidFill>
                  <a:srgbClr val="1F1E1E"/>
                </a:solidFill>
                <a:latin typeface="Arial"/>
              </a:rPr>
              <a:t>A comparison needs a real HTML table</a:t>
            </a:r>
          </a:p>
        </p:txBody>
      </p:sp>
      <p:sp>
        <p:nvSpPr>
          <p:cNvPr id="10" name="Rounded Rectangle 9"/>
          <p:cNvSpPr/>
          <p:nvPr/>
        </p:nvSpPr>
        <p:spPr>
          <a:xfrm>
            <a:off x="6184582" y="3040571"/>
            <a:ext cx="5334857" cy="622364"/>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6403181" y="3192494"/>
            <a:ext cx="4935664" cy="314325"/>
          </a:xfrm>
          <a:prstGeom prst="rect">
            <a:avLst/>
          </a:prstGeom>
          <a:noFill/>
        </p:spPr>
        <p:txBody>
          <a:bodyPr wrap="none" anchor="ctr" lIns="0" tIns="0" rIns="0" bIns="0">
            <a:noAutofit/>
          </a:bodyPr>
          <a:lstStyle/>
          <a:p>
            <a:pPr algn="l">
              <a:lnSpc>
                <a:spcPts val="2208"/>
              </a:lnSpc>
              <a:spcBef>
                <a:spcPts val="0"/>
              </a:spcBef>
              <a:spcAft>
                <a:spcPts val="0"/>
              </a:spcAft>
            </a:pPr>
            <a:r>
              <a:rPr sz="2208" b="0" i="0" u="none">
                <a:solidFill>
                  <a:srgbClr val="3B3535"/>
                </a:solidFill>
                <a:latin typeface="Arial"/>
              </a:rPr>
              <a:t>It renders as a card-per-row grid</a:t>
            </a:r>
          </a:p>
        </p:txBody>
      </p:sp>
      <p:sp>
        <p:nvSpPr>
          <p:cNvPr id="12" name="TextBox 11"/>
          <p:cNvSpPr txBox="1"/>
          <p:nvPr/>
        </p:nvSpPr>
        <p:spPr>
          <a:xfrm>
            <a:off x="670465" y="4101370"/>
            <a:ext cx="5211762" cy="750856"/>
          </a:xfrm>
          <a:prstGeom prst="rect">
            <a:avLst/>
          </a:prstGeom>
          <a:noFill/>
        </p:spPr>
        <p:txBody>
          <a:bodyPr wrap="square" anchor="ctr" lIns="0" tIns="0" rIns="0" bIns="0">
            <a:noAutofit/>
          </a:bodyPr>
          <a:lstStyle/>
          <a:p>
            <a:pPr algn="l">
              <a:lnSpc>
                <a:spcPts val="2208"/>
              </a:lnSpc>
              <a:spcBef>
                <a:spcPts val="0"/>
              </a:spcBef>
              <a:spcAft>
                <a:spcPts val="0"/>
              </a:spcAft>
            </a:pPr>
            <a:r>
              <a:rPr sz="2208" b="1" i="0" u="none">
                <a:solidFill>
                  <a:srgbClr val="1F1E1E"/>
                </a:solidFill>
                <a:latin typeface="Arial"/>
              </a:rPr>
              <a:t>The two columns should look different</a:t>
            </a:r>
          </a:p>
        </p:txBody>
      </p:sp>
      <p:sp>
        <p:nvSpPr>
          <p:cNvPr id="13" name="Rounded Rectangle 12"/>
          <p:cNvSpPr/>
          <p:nvPr/>
        </p:nvSpPr>
        <p:spPr>
          <a:xfrm>
            <a:off x="6184582" y="3949446"/>
            <a:ext cx="5334857" cy="902780"/>
          </a:xfrm>
          <a:prstGeom prst="roundRect">
            <a:avLst>
              <a:gd name="adj" fmla="val 1615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6403181" y="4101370"/>
            <a:ext cx="4990078" cy="750856"/>
          </a:xfrm>
          <a:prstGeom prst="rect">
            <a:avLst/>
          </a:prstGeom>
          <a:noFill/>
        </p:spPr>
        <p:txBody>
          <a:bodyPr wrap="square" anchor="ctr" lIns="0" tIns="0" rIns="0" bIns="0">
            <a:noAutofit/>
          </a:bodyPr>
          <a:lstStyle/>
          <a:p>
            <a:pPr algn="l">
              <a:lnSpc>
                <a:spcPts val="2208"/>
              </a:lnSpc>
              <a:spcBef>
                <a:spcPts val="0"/>
              </a:spcBef>
              <a:spcAft>
                <a:spcPts val="0"/>
              </a:spcAft>
            </a:pPr>
            <a:r>
              <a:rPr sz="2208" b="0" i="0" u="none">
                <a:solidFill>
                  <a:srgbClr val="3B3535"/>
                </a:solidFill>
                <a:latin typeface="Arial"/>
              </a:rPr>
              <a:t>Both columns share the same weight and width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1032693"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value-columns + image: the grid keeps its columns</a:t>
            </a:r>
          </a:p>
        </p:txBody>
      </p:sp>
      <p:sp>
        <p:nvSpPr>
          <p:cNvPr id="5" name="TextBox 4"/>
          <p:cNvSpPr txBox="1"/>
          <p:nvPr/>
        </p:nvSpPr>
        <p:spPr>
          <a:xfrm>
            <a:off x="670465" y="2187607"/>
            <a:ext cx="1088898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 table and a diagram on the same slide — neither one has to go.</a:t>
            </a:r>
          </a:p>
        </p:txBody>
      </p:sp>
      <p:sp>
        <p:nvSpPr>
          <p:cNvPr id="6" name="Rectangle 5"/>
          <p:cNvSpPr/>
          <p:nvPr/>
        </p:nvSpPr>
        <p:spPr>
          <a:xfrm>
            <a:off x="670465" y="2745391"/>
            <a:ext cx="5891974" cy="3198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3027140"/>
            <a:ext cx="5891974" cy="38100"/>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670465" y="2745391"/>
            <a:ext cx="1904524" cy="238411"/>
          </a:xfrm>
          <a:prstGeom prst="rect">
            <a:avLst/>
          </a:prstGeom>
          <a:noFill/>
        </p:spPr>
        <p:txBody>
          <a:bodyPr wrap="none" anchor="ctr" lIns="0" tIns="0" rIns="0" bIns="0">
            <a:noAutofit/>
          </a:bodyPr>
          <a:lstStyle/>
          <a:p>
            <a:pPr algn="l">
              <a:lnSpc>
                <a:spcPts val="1816"/>
              </a:lnSpc>
              <a:spcBef>
                <a:spcPts val="0"/>
              </a:spcBef>
              <a:spcAft>
                <a:spcPts val="0"/>
              </a:spcAft>
            </a:pPr>
            <a:r>
              <a:rPr sz="1816" b="1" i="0" u="none">
                <a:solidFill>
                  <a:srgbClr val="1F1E1E"/>
                </a:solidFill>
                <a:latin typeface="Arial"/>
              </a:rPr>
              <a:t>What changes</a:t>
            </a:r>
          </a:p>
        </p:txBody>
      </p:sp>
      <p:sp>
        <p:nvSpPr>
          <p:cNvPr id="9" name="TextBox 8"/>
          <p:cNvSpPr txBox="1"/>
          <p:nvPr/>
        </p:nvSpPr>
        <p:spPr>
          <a:xfrm>
            <a:off x="2685002" y="2745391"/>
            <a:ext cx="1904524" cy="238411"/>
          </a:xfrm>
          <a:prstGeom prst="rect">
            <a:avLst/>
          </a:prstGeom>
          <a:noFill/>
        </p:spPr>
        <p:txBody>
          <a:bodyPr wrap="none" anchor="ctr" lIns="0" tIns="0" rIns="0" bIns="0">
            <a:noAutofit/>
          </a:bodyPr>
          <a:lstStyle/>
          <a:p>
            <a:pPr algn="l">
              <a:lnSpc>
                <a:spcPts val="1816"/>
              </a:lnSpc>
              <a:spcBef>
                <a:spcPts val="0"/>
              </a:spcBef>
              <a:spcAft>
                <a:spcPts val="0"/>
              </a:spcAft>
            </a:pPr>
            <a:r>
              <a:rPr sz="1816" b="1" i="0" u="none">
                <a:solidFill>
                  <a:srgbClr val="1F1E1E"/>
                </a:solidFill>
                <a:latin typeface="Arial"/>
              </a:rPr>
              <a:t>Chatting</a:t>
            </a:r>
          </a:p>
        </p:txBody>
      </p:sp>
      <p:sp>
        <p:nvSpPr>
          <p:cNvPr id="10" name="TextBox 9"/>
          <p:cNvSpPr txBox="1"/>
          <p:nvPr/>
        </p:nvSpPr>
        <p:spPr>
          <a:xfrm>
            <a:off x="4699635" y="2745391"/>
            <a:ext cx="1900904" cy="238411"/>
          </a:xfrm>
          <a:prstGeom prst="rect">
            <a:avLst/>
          </a:prstGeom>
          <a:noFill/>
        </p:spPr>
        <p:txBody>
          <a:bodyPr wrap="none" anchor="ctr" lIns="0" tIns="0" rIns="0" bIns="0">
            <a:noAutofit/>
          </a:bodyPr>
          <a:lstStyle/>
          <a:p>
            <a:pPr algn="l">
              <a:lnSpc>
                <a:spcPts val="1816"/>
              </a:lnSpc>
              <a:spcBef>
                <a:spcPts val="0"/>
              </a:spcBef>
              <a:spcAft>
                <a:spcPts val="0"/>
              </a:spcAft>
            </a:pPr>
            <a:r>
              <a:rPr sz="1816" b="1" i="0" u="none">
                <a:solidFill>
                  <a:srgbClr val="1F1E1E"/>
                </a:solidFill>
                <a:latin typeface="Arial"/>
              </a:rPr>
              <a:t>Delegating</a:t>
            </a:r>
          </a:p>
        </p:txBody>
      </p:sp>
      <p:sp>
        <p:nvSpPr>
          <p:cNvPr id="11" name="TextBox 10"/>
          <p:cNvSpPr txBox="1"/>
          <p:nvPr/>
        </p:nvSpPr>
        <p:spPr>
          <a:xfrm>
            <a:off x="670465" y="3289744"/>
            <a:ext cx="1726107" cy="572167"/>
          </a:xfrm>
          <a:prstGeom prst="rect">
            <a:avLst/>
          </a:prstGeom>
          <a:noFill/>
        </p:spPr>
        <p:txBody>
          <a:bodyPr wrap="square" anchor="ctr" lIns="0" tIns="0" rIns="0" bIns="0">
            <a:noAutofit/>
          </a:bodyPr>
          <a:lstStyle/>
          <a:p>
            <a:pPr algn="l">
              <a:lnSpc>
                <a:spcPts val="1671"/>
              </a:lnSpc>
              <a:spcBef>
                <a:spcPts val="0"/>
              </a:spcBef>
              <a:spcAft>
                <a:spcPts val="0"/>
              </a:spcAft>
            </a:pPr>
            <a:r>
              <a:rPr sz="1671" b="1" i="0" u="none">
                <a:solidFill>
                  <a:srgbClr val="1F1E1E"/>
                </a:solidFill>
                <a:latin typeface="Arial"/>
              </a:rPr>
              <a:t>The way of working</a:t>
            </a:r>
          </a:p>
        </p:txBody>
      </p:sp>
      <p:sp>
        <p:nvSpPr>
          <p:cNvPr id="12" name="Rounded Rectangle 11"/>
          <p:cNvSpPr/>
          <p:nvPr/>
        </p:nvSpPr>
        <p:spPr>
          <a:xfrm>
            <a:off x="2681097" y="3176302"/>
            <a:ext cx="1874330" cy="685610"/>
          </a:xfrm>
          <a:prstGeom prst="roundRect">
            <a:avLst>
              <a:gd name="adj" fmla="val 1871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2847118" y="3289744"/>
            <a:ext cx="1557499" cy="572167"/>
          </a:xfrm>
          <a:prstGeom prst="rect">
            <a:avLst/>
          </a:prstGeom>
          <a:noFill/>
        </p:spPr>
        <p:txBody>
          <a:bodyPr wrap="square" anchor="ctr" lIns="0" tIns="0" rIns="0" bIns="0">
            <a:noAutofit/>
          </a:bodyPr>
          <a:lstStyle/>
          <a:p>
            <a:pPr algn="l">
              <a:lnSpc>
                <a:spcPts val="1671"/>
              </a:lnSpc>
              <a:spcBef>
                <a:spcPts val="0"/>
              </a:spcBef>
              <a:spcAft>
                <a:spcPts val="0"/>
              </a:spcAft>
            </a:pPr>
            <a:r>
              <a:rPr sz="1671" b="0" i="0" u="none">
                <a:solidFill>
                  <a:srgbClr val="3B3535"/>
                </a:solidFill>
                <a:latin typeface="Arial"/>
              </a:rPr>
              <a:t>One question at a time</a:t>
            </a:r>
          </a:p>
        </p:txBody>
      </p:sp>
      <p:sp>
        <p:nvSpPr>
          <p:cNvPr id="14" name="Rounded Rectangle 13"/>
          <p:cNvSpPr/>
          <p:nvPr/>
        </p:nvSpPr>
        <p:spPr>
          <a:xfrm>
            <a:off x="4691634" y="3176302"/>
            <a:ext cx="1870805" cy="685610"/>
          </a:xfrm>
          <a:prstGeom prst="roundRect">
            <a:avLst>
              <a:gd name="adj" fmla="val 1871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4857655" y="3289744"/>
            <a:ext cx="1557499" cy="572167"/>
          </a:xfrm>
          <a:prstGeom prst="rect">
            <a:avLst/>
          </a:prstGeom>
          <a:noFill/>
        </p:spPr>
        <p:txBody>
          <a:bodyPr wrap="square" anchor="ctr" lIns="0" tIns="0" rIns="0" bIns="0">
            <a:noAutofit/>
          </a:bodyPr>
          <a:lstStyle/>
          <a:p>
            <a:pPr algn="l">
              <a:lnSpc>
                <a:spcPts val="1671"/>
              </a:lnSpc>
              <a:spcBef>
                <a:spcPts val="0"/>
              </a:spcBef>
              <a:spcAft>
                <a:spcPts val="0"/>
              </a:spcAft>
            </a:pPr>
            <a:r>
              <a:rPr sz="1671" b="0" i="0" u="none">
                <a:solidFill>
                  <a:srgbClr val="3B3535"/>
                </a:solidFill>
                <a:latin typeface="Arial"/>
              </a:rPr>
              <a:t>One whole assignment</a:t>
            </a:r>
          </a:p>
        </p:txBody>
      </p:sp>
      <p:sp>
        <p:nvSpPr>
          <p:cNvPr id="16" name="TextBox 15"/>
          <p:cNvSpPr txBox="1"/>
          <p:nvPr/>
        </p:nvSpPr>
        <p:spPr>
          <a:xfrm>
            <a:off x="670465" y="4192905"/>
            <a:ext cx="1719929" cy="230124"/>
          </a:xfrm>
          <a:prstGeom prst="rect">
            <a:avLst/>
          </a:prstGeom>
          <a:noFill/>
        </p:spPr>
        <p:txBody>
          <a:bodyPr wrap="none" anchor="ctr" lIns="0" tIns="0" rIns="0" bIns="0">
            <a:noAutofit/>
          </a:bodyPr>
          <a:lstStyle/>
          <a:p>
            <a:pPr algn="l">
              <a:lnSpc>
                <a:spcPts val="1671"/>
              </a:lnSpc>
              <a:spcBef>
                <a:spcPts val="0"/>
              </a:spcBef>
              <a:spcAft>
                <a:spcPts val="0"/>
              </a:spcAft>
            </a:pPr>
            <a:r>
              <a:rPr sz="1671" b="1" i="0" u="none">
                <a:solidFill>
                  <a:srgbClr val="1F1E1E"/>
                </a:solidFill>
                <a:latin typeface="Arial"/>
              </a:rPr>
              <a:t>The steps</a:t>
            </a:r>
          </a:p>
        </p:txBody>
      </p:sp>
      <p:sp>
        <p:nvSpPr>
          <p:cNvPr id="17" name="Rounded Rectangle 16"/>
          <p:cNvSpPr/>
          <p:nvPr/>
        </p:nvSpPr>
        <p:spPr>
          <a:xfrm>
            <a:off x="2681097" y="3973068"/>
            <a:ext cx="1874330" cy="685610"/>
          </a:xfrm>
          <a:prstGeom prst="roundRect">
            <a:avLst>
              <a:gd name="adj" fmla="val 1871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2847118" y="4086511"/>
            <a:ext cx="1557499" cy="572167"/>
          </a:xfrm>
          <a:prstGeom prst="rect">
            <a:avLst/>
          </a:prstGeom>
          <a:noFill/>
        </p:spPr>
        <p:txBody>
          <a:bodyPr wrap="square" anchor="ctr" lIns="0" tIns="0" rIns="0" bIns="0">
            <a:noAutofit/>
          </a:bodyPr>
          <a:lstStyle/>
          <a:p>
            <a:pPr algn="l">
              <a:lnSpc>
                <a:spcPts val="1671"/>
              </a:lnSpc>
              <a:spcBef>
                <a:spcPts val="0"/>
              </a:spcBef>
              <a:spcAft>
                <a:spcPts val="0"/>
              </a:spcAft>
            </a:pPr>
            <a:r>
              <a:rPr sz="1671" b="0" i="0" u="none">
                <a:solidFill>
                  <a:srgbClr val="3B3535"/>
                </a:solidFill>
                <a:latin typeface="Arial"/>
              </a:rPr>
              <a:t>You supply them</a:t>
            </a:r>
          </a:p>
        </p:txBody>
      </p:sp>
      <p:sp>
        <p:nvSpPr>
          <p:cNvPr id="19" name="Rounded Rectangle 18"/>
          <p:cNvSpPr/>
          <p:nvPr/>
        </p:nvSpPr>
        <p:spPr>
          <a:xfrm>
            <a:off x="4691634" y="3973068"/>
            <a:ext cx="1870805" cy="685610"/>
          </a:xfrm>
          <a:prstGeom prst="roundRect">
            <a:avLst>
              <a:gd name="adj" fmla="val 1871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4857655" y="4086511"/>
            <a:ext cx="1557499" cy="572167"/>
          </a:xfrm>
          <a:prstGeom prst="rect">
            <a:avLst/>
          </a:prstGeom>
          <a:noFill/>
        </p:spPr>
        <p:txBody>
          <a:bodyPr wrap="square" anchor="ctr" lIns="0" tIns="0" rIns="0" bIns="0">
            <a:noAutofit/>
          </a:bodyPr>
          <a:lstStyle/>
          <a:p>
            <a:pPr algn="l">
              <a:lnSpc>
                <a:spcPts val="1671"/>
              </a:lnSpc>
              <a:spcBef>
                <a:spcPts val="0"/>
              </a:spcBef>
              <a:spcAft>
                <a:spcPts val="0"/>
              </a:spcAft>
            </a:pPr>
            <a:r>
              <a:rPr sz="1671" b="0" i="0" u="none">
                <a:solidFill>
                  <a:srgbClr val="3B3535"/>
                </a:solidFill>
                <a:latin typeface="Arial"/>
              </a:rPr>
              <a:t>It plans and runs them</a:t>
            </a:r>
          </a:p>
        </p:txBody>
      </p:sp>
      <p:sp>
        <p:nvSpPr>
          <p:cNvPr id="21" name="TextBox 20"/>
          <p:cNvSpPr txBox="1"/>
          <p:nvPr/>
        </p:nvSpPr>
        <p:spPr>
          <a:xfrm>
            <a:off x="670465" y="4989671"/>
            <a:ext cx="1719929" cy="230124"/>
          </a:xfrm>
          <a:prstGeom prst="rect">
            <a:avLst/>
          </a:prstGeom>
          <a:noFill/>
        </p:spPr>
        <p:txBody>
          <a:bodyPr wrap="none" anchor="ctr" lIns="0" tIns="0" rIns="0" bIns="0">
            <a:noAutofit/>
          </a:bodyPr>
          <a:lstStyle/>
          <a:p>
            <a:pPr algn="l">
              <a:lnSpc>
                <a:spcPts val="1671"/>
              </a:lnSpc>
              <a:spcBef>
                <a:spcPts val="0"/>
              </a:spcBef>
              <a:spcAft>
                <a:spcPts val="0"/>
              </a:spcAft>
            </a:pPr>
            <a:r>
              <a:rPr sz="1671" b="1" i="0" u="none">
                <a:solidFill>
                  <a:srgbClr val="1F1E1E"/>
                </a:solidFill>
                <a:latin typeface="Arial"/>
              </a:rPr>
              <a:t>The output</a:t>
            </a:r>
          </a:p>
        </p:txBody>
      </p:sp>
      <p:sp>
        <p:nvSpPr>
          <p:cNvPr id="22" name="Rounded Rectangle 21"/>
          <p:cNvSpPr/>
          <p:nvPr/>
        </p:nvSpPr>
        <p:spPr>
          <a:xfrm>
            <a:off x="2681097" y="4769739"/>
            <a:ext cx="1874330" cy="685610"/>
          </a:xfrm>
          <a:prstGeom prst="roundRect">
            <a:avLst>
              <a:gd name="adj" fmla="val 1871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2847118" y="4883182"/>
            <a:ext cx="1557499" cy="572167"/>
          </a:xfrm>
          <a:prstGeom prst="rect">
            <a:avLst/>
          </a:prstGeom>
          <a:noFill/>
        </p:spPr>
        <p:txBody>
          <a:bodyPr wrap="square" anchor="ctr" lIns="0" tIns="0" rIns="0" bIns="0">
            <a:noAutofit/>
          </a:bodyPr>
          <a:lstStyle/>
          <a:p>
            <a:pPr algn="l">
              <a:lnSpc>
                <a:spcPts val="1671"/>
              </a:lnSpc>
              <a:spcBef>
                <a:spcPts val="0"/>
              </a:spcBef>
              <a:spcAft>
                <a:spcPts val="0"/>
              </a:spcAft>
            </a:pPr>
            <a:r>
              <a:rPr sz="1671" b="0" i="0" u="none">
                <a:solidFill>
                  <a:srgbClr val="3B3535"/>
                </a:solidFill>
                <a:latin typeface="Arial"/>
              </a:rPr>
              <a:t>Text in the window</a:t>
            </a:r>
          </a:p>
        </p:txBody>
      </p:sp>
      <p:sp>
        <p:nvSpPr>
          <p:cNvPr id="24" name="Rounded Rectangle 23"/>
          <p:cNvSpPr/>
          <p:nvPr/>
        </p:nvSpPr>
        <p:spPr>
          <a:xfrm>
            <a:off x="4691634" y="4876228"/>
            <a:ext cx="1870805" cy="472630"/>
          </a:xfrm>
          <a:prstGeom prst="roundRect">
            <a:avLst>
              <a:gd name="adj" fmla="val 2714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4857655" y="4989671"/>
            <a:ext cx="1553813" cy="230124"/>
          </a:xfrm>
          <a:prstGeom prst="rect">
            <a:avLst/>
          </a:prstGeom>
          <a:noFill/>
        </p:spPr>
        <p:txBody>
          <a:bodyPr wrap="none" anchor="ctr" lIns="0" tIns="0" rIns="0" bIns="0">
            <a:noAutofit/>
          </a:bodyPr>
          <a:lstStyle/>
          <a:p>
            <a:pPr algn="l">
              <a:lnSpc>
                <a:spcPts val="1671"/>
              </a:lnSpc>
              <a:spcBef>
                <a:spcPts val="0"/>
              </a:spcBef>
              <a:spcAft>
                <a:spcPts val="0"/>
              </a:spcAft>
            </a:pPr>
            <a:r>
              <a:rPr sz="1671" b="0" i="0" u="none">
                <a:solidFill>
                  <a:srgbClr val="3B3535"/>
                </a:solidFill>
                <a:latin typeface="Arial"/>
              </a:rPr>
              <a:t>Files on disk</a:t>
            </a:r>
          </a:p>
        </p:txBody>
      </p:sp>
      <p:sp>
        <p:nvSpPr>
          <p:cNvPr id="26" name="TextBox 25"/>
          <p:cNvSpPr txBox="1"/>
          <p:nvPr/>
        </p:nvSpPr>
        <p:spPr>
          <a:xfrm>
            <a:off x="670465" y="5786342"/>
            <a:ext cx="1719929" cy="230124"/>
          </a:xfrm>
          <a:prstGeom prst="rect">
            <a:avLst/>
          </a:prstGeom>
          <a:noFill/>
        </p:spPr>
        <p:txBody>
          <a:bodyPr wrap="none" anchor="ctr" lIns="0" tIns="0" rIns="0" bIns="0">
            <a:noAutofit/>
          </a:bodyPr>
          <a:lstStyle/>
          <a:p>
            <a:pPr algn="l">
              <a:lnSpc>
                <a:spcPts val="1671"/>
              </a:lnSpc>
              <a:spcBef>
                <a:spcPts val="0"/>
              </a:spcBef>
              <a:spcAft>
                <a:spcPts val="0"/>
              </a:spcAft>
            </a:pPr>
            <a:r>
              <a:rPr sz="1671" b="1" i="0" u="none">
                <a:solidFill>
                  <a:srgbClr val="1F1E1E"/>
                </a:solidFill>
                <a:latin typeface="Arial"/>
              </a:rPr>
              <a:t>The human role</a:t>
            </a:r>
          </a:p>
        </p:txBody>
      </p:sp>
      <p:sp>
        <p:nvSpPr>
          <p:cNvPr id="27" name="Rounded Rectangle 26"/>
          <p:cNvSpPr/>
          <p:nvPr/>
        </p:nvSpPr>
        <p:spPr>
          <a:xfrm>
            <a:off x="2681097" y="5566410"/>
            <a:ext cx="1874330" cy="681990"/>
          </a:xfrm>
          <a:prstGeom prst="roundRect">
            <a:avLst>
              <a:gd name="adj" fmla="val 1881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2847118" y="5679853"/>
            <a:ext cx="1557499" cy="572167"/>
          </a:xfrm>
          <a:prstGeom prst="rect">
            <a:avLst/>
          </a:prstGeom>
          <a:noFill/>
        </p:spPr>
        <p:txBody>
          <a:bodyPr wrap="square" anchor="ctr" lIns="0" tIns="0" rIns="0" bIns="0">
            <a:noAutofit/>
          </a:bodyPr>
          <a:lstStyle/>
          <a:p>
            <a:pPr algn="l">
              <a:lnSpc>
                <a:spcPts val="1671"/>
              </a:lnSpc>
              <a:spcBef>
                <a:spcPts val="0"/>
              </a:spcBef>
              <a:spcAft>
                <a:spcPts val="0"/>
              </a:spcAft>
            </a:pPr>
            <a:r>
              <a:rPr sz="1671" b="0" i="0" u="none">
                <a:solidFill>
                  <a:srgbClr val="3B3535"/>
                </a:solidFill>
                <a:latin typeface="Arial"/>
              </a:rPr>
              <a:t>You write and wait</a:t>
            </a:r>
          </a:p>
        </p:txBody>
      </p:sp>
      <p:sp>
        <p:nvSpPr>
          <p:cNvPr id="29" name="Rounded Rectangle 28"/>
          <p:cNvSpPr/>
          <p:nvPr/>
        </p:nvSpPr>
        <p:spPr>
          <a:xfrm>
            <a:off x="4691634" y="5566410"/>
            <a:ext cx="1870805" cy="681990"/>
          </a:xfrm>
          <a:prstGeom prst="roundRect">
            <a:avLst>
              <a:gd name="adj" fmla="val 18815"/>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4857655" y="5679853"/>
            <a:ext cx="1584472" cy="572167"/>
          </a:xfrm>
          <a:prstGeom prst="rect">
            <a:avLst/>
          </a:prstGeom>
          <a:noFill/>
        </p:spPr>
        <p:txBody>
          <a:bodyPr wrap="square" anchor="ctr" lIns="0" tIns="0" rIns="0" bIns="0">
            <a:noAutofit/>
          </a:bodyPr>
          <a:lstStyle/>
          <a:p>
            <a:pPr algn="l">
              <a:lnSpc>
                <a:spcPts val="1671"/>
              </a:lnSpc>
              <a:spcBef>
                <a:spcPts val="0"/>
              </a:spcBef>
              <a:spcAft>
                <a:spcPts val="0"/>
              </a:spcAft>
            </a:pPr>
            <a:r>
              <a:rPr sz="1671" b="0" i="0" u="none">
                <a:solidFill>
                  <a:srgbClr val="3B3535"/>
                </a:solidFill>
                <a:latin typeface="Arial"/>
              </a:rPr>
              <a:t>You commission and review</a:t>
            </a:r>
          </a:p>
        </p:txBody>
      </p:sp>
      <p:sp>
        <p:nvSpPr>
          <p:cNvPr id="31" name="Rounded Rectangle 30"/>
          <p:cNvSpPr/>
          <p:nvPr/>
        </p:nvSpPr>
        <p:spPr>
          <a:xfrm>
            <a:off x="6989159" y="2745391"/>
            <a:ext cx="4532281" cy="3503009"/>
          </a:xfrm>
          <a:prstGeom prst="roundRect">
            <a:avLst>
              <a:gd name="adj" fmla="val 487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2" name="Picture 31" descr="image.png"/>
          <p:cNvPicPr>
            <a:picLocks noChangeAspect="1"/>
          </p:cNvPicPr>
          <p:nvPr/>
        </p:nvPicPr>
        <p:blipFill>
          <a:blip r:embed="rId2"/>
          <a:stretch>
            <a:fillRect/>
          </a:stretch>
        </p:blipFill>
        <p:spPr>
          <a:xfrm>
            <a:off x="6998780" y="3227642"/>
            <a:ext cx="4512945" cy="2538603"/>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value-columns + image: mirrored (image-left)</a:t>
            </a:r>
          </a:p>
        </p:txBody>
      </p:sp>
      <p:sp>
        <p:nvSpPr>
          <p:cNvPr id="5" name="Rectangle 4"/>
          <p:cNvSpPr/>
          <p:nvPr/>
        </p:nvSpPr>
        <p:spPr>
          <a:xfrm>
            <a:off x="5629466" y="1775555"/>
            <a:ext cx="5892070" cy="3706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5629466" y="2108073"/>
            <a:ext cx="5892070" cy="38100"/>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5629466" y="1775555"/>
            <a:ext cx="2900172" cy="276225"/>
          </a:xfrm>
          <a:prstGeom prst="rect">
            <a:avLst/>
          </a:prstGeom>
          <a:noFill/>
        </p:spPr>
        <p:txBody>
          <a:bodyPr wrap="none" anchor="ctr" lIns="0" tIns="0" rIns="0" bIns="0">
            <a:noAutofit/>
          </a:bodyPr>
          <a:lstStyle/>
          <a:p>
            <a:pPr algn="l">
              <a:lnSpc>
                <a:spcPts val="2112"/>
              </a:lnSpc>
              <a:spcBef>
                <a:spcPts val="0"/>
              </a:spcBef>
              <a:spcAft>
                <a:spcPts val="0"/>
              </a:spcAft>
            </a:pPr>
            <a:r>
              <a:rPr sz="2112" b="1" i="0" u="none">
                <a:solidFill>
                  <a:srgbClr val="1F1E1E"/>
                </a:solidFill>
                <a:latin typeface="Arial"/>
              </a:rPr>
              <a:t>Factor</a:t>
            </a:r>
          </a:p>
        </p:txBody>
      </p:sp>
      <p:sp>
        <p:nvSpPr>
          <p:cNvPr id="8" name="TextBox 7"/>
          <p:cNvSpPr txBox="1"/>
          <p:nvPr/>
        </p:nvSpPr>
        <p:spPr>
          <a:xfrm>
            <a:off x="8663178" y="1775555"/>
            <a:ext cx="2896457" cy="276225"/>
          </a:xfrm>
          <a:prstGeom prst="rect">
            <a:avLst/>
          </a:prstGeom>
          <a:noFill/>
        </p:spPr>
        <p:txBody>
          <a:bodyPr wrap="none" anchor="ctr" lIns="0" tIns="0" rIns="0" bIns="0">
            <a:noAutofit/>
          </a:bodyPr>
          <a:lstStyle/>
          <a:p>
            <a:pPr algn="l">
              <a:lnSpc>
                <a:spcPts val="2112"/>
              </a:lnSpc>
              <a:spcBef>
                <a:spcPts val="0"/>
              </a:spcBef>
              <a:spcAft>
                <a:spcPts val="0"/>
              </a:spcAft>
            </a:pPr>
            <a:r>
              <a:rPr sz="2112" b="1" i="0" u="none">
                <a:solidFill>
                  <a:srgbClr val="1F1E1E"/>
                </a:solidFill>
                <a:latin typeface="Arial"/>
              </a:rPr>
              <a:t>Mirrored</a:t>
            </a:r>
          </a:p>
        </p:txBody>
      </p:sp>
      <p:sp>
        <p:nvSpPr>
          <p:cNvPr id="9" name="TextBox 8"/>
          <p:cNvSpPr txBox="1"/>
          <p:nvPr/>
        </p:nvSpPr>
        <p:spPr>
          <a:xfrm>
            <a:off x="5629466" y="2529650"/>
            <a:ext cx="2714625" cy="266700"/>
          </a:xfrm>
          <a:prstGeom prst="rect">
            <a:avLst/>
          </a:prstGeom>
          <a:noFill/>
        </p:spPr>
        <p:txBody>
          <a:bodyPr wrap="none" anchor="ctr" lIns="0" tIns="0" rIns="0" bIns="0">
            <a:noAutofit/>
          </a:bodyPr>
          <a:lstStyle/>
          <a:p>
            <a:pPr algn="l">
              <a:lnSpc>
                <a:spcPts val="1943"/>
              </a:lnSpc>
              <a:spcBef>
                <a:spcPts val="0"/>
              </a:spcBef>
              <a:spcAft>
                <a:spcPts val="0"/>
              </a:spcAft>
            </a:pPr>
            <a:r>
              <a:rPr sz="1943" b="1" i="0" u="none">
                <a:solidFill>
                  <a:srgbClr val="1F1E1E"/>
                </a:solidFill>
                <a:latin typeface="Arial"/>
              </a:rPr>
              <a:t>Column widths</a:t>
            </a:r>
          </a:p>
        </p:txBody>
      </p:sp>
      <p:sp>
        <p:nvSpPr>
          <p:cNvPr id="10" name="Rounded Rectangle 9"/>
          <p:cNvSpPr/>
          <p:nvPr/>
        </p:nvSpPr>
        <p:spPr>
          <a:xfrm>
            <a:off x="8656320" y="2274856"/>
            <a:ext cx="2865215" cy="794480"/>
          </a:xfrm>
          <a:prstGeom prst="roundRect">
            <a:avLst>
              <a:gd name="adj" fmla="val 1615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8848725" y="2406301"/>
            <a:ext cx="2540528" cy="663035"/>
          </a:xfrm>
          <a:prstGeom prst="rect">
            <a:avLst/>
          </a:prstGeom>
          <a:noFill/>
        </p:spPr>
        <p:txBody>
          <a:bodyPr wrap="square" anchor="ctr" lIns="0" tIns="0" rIns="0" bIns="0">
            <a:noAutofit/>
          </a:bodyPr>
          <a:lstStyle/>
          <a:p>
            <a:pPr algn="l">
              <a:lnSpc>
                <a:spcPts val="1943"/>
              </a:lnSpc>
              <a:spcBef>
                <a:spcPts val="0"/>
              </a:spcBef>
              <a:spcAft>
                <a:spcPts val="0"/>
              </a:spcAft>
            </a:pPr>
            <a:r>
              <a:rPr sz="1943" b="0" i="0" u="none">
                <a:solidFill>
                  <a:srgbClr val="3B3535"/>
                </a:solidFill>
                <a:latin typeface="Arial"/>
              </a:rPr>
              <a:t>The grid keeps the wider track</a:t>
            </a:r>
          </a:p>
        </p:txBody>
      </p:sp>
      <p:sp>
        <p:nvSpPr>
          <p:cNvPr id="12" name="TextBox 11"/>
          <p:cNvSpPr txBox="1"/>
          <p:nvPr/>
        </p:nvSpPr>
        <p:spPr>
          <a:xfrm>
            <a:off x="5629466" y="3452812"/>
            <a:ext cx="2714625" cy="266700"/>
          </a:xfrm>
          <a:prstGeom prst="rect">
            <a:avLst/>
          </a:prstGeom>
          <a:noFill/>
        </p:spPr>
        <p:txBody>
          <a:bodyPr wrap="none" anchor="ctr" lIns="0" tIns="0" rIns="0" bIns="0">
            <a:noAutofit/>
          </a:bodyPr>
          <a:lstStyle/>
          <a:p>
            <a:pPr algn="l">
              <a:lnSpc>
                <a:spcPts val="1943"/>
              </a:lnSpc>
              <a:spcBef>
                <a:spcPts val="0"/>
              </a:spcBef>
              <a:spcAft>
                <a:spcPts val="0"/>
              </a:spcAft>
            </a:pPr>
            <a:r>
              <a:rPr sz="1943" b="1" i="0" u="none">
                <a:solidFill>
                  <a:srgbClr val="1F1E1E"/>
                </a:solidFill>
                <a:latin typeface="Arial"/>
              </a:rPr>
              <a:t>Reading order</a:t>
            </a:r>
          </a:p>
        </p:txBody>
      </p:sp>
      <p:sp>
        <p:nvSpPr>
          <p:cNvPr id="13" name="Rounded Rectangle 12"/>
          <p:cNvSpPr/>
          <p:nvPr/>
        </p:nvSpPr>
        <p:spPr>
          <a:xfrm>
            <a:off x="8656320" y="3198019"/>
            <a:ext cx="2865215" cy="794480"/>
          </a:xfrm>
          <a:prstGeom prst="roundRect">
            <a:avLst>
              <a:gd name="adj" fmla="val 1615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8848725" y="3329464"/>
            <a:ext cx="2540528" cy="663035"/>
          </a:xfrm>
          <a:prstGeom prst="rect">
            <a:avLst/>
          </a:prstGeom>
          <a:noFill/>
        </p:spPr>
        <p:txBody>
          <a:bodyPr wrap="square" anchor="ctr" lIns="0" tIns="0" rIns="0" bIns="0">
            <a:noAutofit/>
          </a:bodyPr>
          <a:lstStyle/>
          <a:p>
            <a:pPr algn="l">
              <a:lnSpc>
                <a:spcPts val="1943"/>
              </a:lnSpc>
              <a:spcBef>
                <a:spcPts val="0"/>
              </a:spcBef>
              <a:spcAft>
                <a:spcPts val="0"/>
              </a:spcAft>
            </a:pPr>
            <a:r>
              <a:rPr sz="1943" b="0" i="0" u="none">
                <a:solidFill>
                  <a:srgbClr val="3B3535"/>
                </a:solidFill>
                <a:latin typeface="Arial"/>
              </a:rPr>
              <a:t>Grid then image, unchanged</a:t>
            </a:r>
          </a:p>
        </p:txBody>
      </p:sp>
      <p:sp>
        <p:nvSpPr>
          <p:cNvPr id="15" name="TextBox 14"/>
          <p:cNvSpPr txBox="1"/>
          <p:nvPr/>
        </p:nvSpPr>
        <p:spPr>
          <a:xfrm>
            <a:off x="5629466" y="4252627"/>
            <a:ext cx="2714625" cy="266700"/>
          </a:xfrm>
          <a:prstGeom prst="rect">
            <a:avLst/>
          </a:prstGeom>
          <a:noFill/>
        </p:spPr>
        <p:txBody>
          <a:bodyPr wrap="none" anchor="ctr" lIns="0" tIns="0" rIns="0" bIns="0">
            <a:noAutofit/>
          </a:bodyPr>
          <a:lstStyle/>
          <a:p>
            <a:pPr algn="l">
              <a:lnSpc>
                <a:spcPts val="1943"/>
              </a:lnSpc>
              <a:spcBef>
                <a:spcPts val="0"/>
              </a:spcBef>
              <a:spcAft>
                <a:spcPts val="0"/>
              </a:spcAft>
            </a:pPr>
            <a:r>
              <a:rPr sz="1943" b="1" i="0" u="none">
                <a:solidFill>
                  <a:srgbClr val="1F1E1E"/>
                </a:solidFill>
                <a:latin typeface="Arial"/>
              </a:rPr>
              <a:t>Cell alignment</a:t>
            </a:r>
          </a:p>
        </p:txBody>
      </p:sp>
      <p:sp>
        <p:nvSpPr>
          <p:cNvPr id="16" name="Rounded Rectangle 15"/>
          <p:cNvSpPr/>
          <p:nvPr/>
        </p:nvSpPr>
        <p:spPr>
          <a:xfrm>
            <a:off x="8656320" y="4121182"/>
            <a:ext cx="2865215" cy="547688"/>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8848725" y="4252627"/>
            <a:ext cx="2522315" cy="266700"/>
          </a:xfrm>
          <a:prstGeom prst="rect">
            <a:avLst/>
          </a:prstGeom>
          <a:noFill/>
        </p:spPr>
        <p:txBody>
          <a:bodyPr wrap="none" anchor="ctr" lIns="0" tIns="0" rIns="0" bIns="0">
            <a:noAutofit/>
          </a:bodyPr>
          <a:lstStyle/>
          <a:p>
            <a:pPr algn="l">
              <a:lnSpc>
                <a:spcPts val="1943"/>
              </a:lnSpc>
              <a:spcBef>
                <a:spcPts val="0"/>
              </a:spcBef>
              <a:spcAft>
                <a:spcPts val="0"/>
              </a:spcAft>
            </a:pPr>
            <a:r>
              <a:rPr sz="1943" b="0" i="0" u="none">
                <a:solidFill>
                  <a:srgbClr val="3B3535"/>
                </a:solidFill>
                <a:latin typeface="Arial"/>
              </a:rPr>
              <a:t>Still left-aligned</a:t>
            </a:r>
          </a:p>
        </p:txBody>
      </p:sp>
      <p:sp>
        <p:nvSpPr>
          <p:cNvPr id="18" name="Rounded Rectangle 17"/>
          <p:cNvSpPr/>
          <p:nvPr/>
        </p:nvSpPr>
        <p:spPr>
          <a:xfrm>
            <a:off x="670465" y="1775555"/>
            <a:ext cx="4532281" cy="4472845"/>
          </a:xfrm>
          <a:prstGeom prst="roundRect">
            <a:avLst>
              <a:gd name="adj" fmla="val 3816"/>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9" name="Picture 18" descr="image.png"/>
          <p:cNvPicPr>
            <a:picLocks noChangeAspect="1"/>
          </p:cNvPicPr>
          <p:nvPr/>
        </p:nvPicPr>
        <p:blipFill>
          <a:blip r:embed="rId2"/>
          <a:stretch>
            <a:fillRect/>
          </a:stretch>
        </p:blipFill>
        <p:spPr>
          <a:xfrm>
            <a:off x="680180" y="2742628"/>
            <a:ext cx="4512945" cy="2538603"/>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pros-cons: upside versus downside</a:t>
            </a:r>
          </a:p>
        </p:txBody>
      </p:sp>
      <p:sp>
        <p:nvSpPr>
          <p:cNvPr id="5" name="Rounded Rectangle 4"/>
          <p:cNvSpPr/>
          <p:nvPr/>
        </p:nvSpPr>
        <p:spPr>
          <a:xfrm>
            <a:off x="670465" y="1775555"/>
            <a:ext cx="5251704" cy="4472845"/>
          </a:xfrm>
          <a:prstGeom prst="roundRect">
            <a:avLst>
              <a:gd name="adj" fmla="val 5451"/>
            </a:avLst>
          </a:prstGeom>
          <a:solidFill>
            <a:srgbClr val="B8E6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92600" y="2120646"/>
            <a:ext cx="690372" cy="690372"/>
          </a:xfrm>
          <a:prstGeom prst="rect">
            <a:avLst/>
          </a:prstGeom>
        </p:spPr>
      </p:pic>
      <p:sp>
        <p:nvSpPr>
          <p:cNvPr id="7" name="TextBox 6"/>
          <p:cNvSpPr txBox="1"/>
          <p:nvPr/>
        </p:nvSpPr>
        <p:spPr>
          <a:xfrm>
            <a:off x="992600" y="2945035"/>
            <a:ext cx="4645628" cy="395573"/>
          </a:xfrm>
          <a:prstGeom prst="rect">
            <a:avLst/>
          </a:prstGeom>
          <a:noFill/>
        </p:spPr>
        <p:txBody>
          <a:bodyPr wrap="none" anchor="ctr" lIns="0" tIns="0" rIns="0" bIns="0">
            <a:noAutofit/>
          </a:bodyPr>
          <a:lstStyle/>
          <a:p>
            <a:pPr algn="l">
              <a:lnSpc>
                <a:spcPts val="2797"/>
              </a:lnSpc>
              <a:spcBef>
                <a:spcPts val="0"/>
              </a:spcBef>
              <a:spcAft>
                <a:spcPts val="0"/>
              </a:spcAft>
            </a:pPr>
            <a:r>
              <a:rPr sz="2797" b="1" i="0" u="none">
                <a:solidFill>
                  <a:srgbClr val="1F1E1E"/>
                </a:solidFill>
                <a:latin typeface="Arial"/>
              </a:rPr>
              <a:t>Ventajas</a:t>
            </a:r>
          </a:p>
        </p:txBody>
      </p:sp>
      <p:sp>
        <p:nvSpPr>
          <p:cNvPr id="8" name="Oval 7"/>
          <p:cNvSpPr/>
          <p:nvPr/>
        </p:nvSpPr>
        <p:spPr>
          <a:xfrm>
            <a:off x="1053560" y="3641884"/>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1314640" y="3507772"/>
            <a:ext cx="4368724" cy="1053941"/>
          </a:xfrm>
          <a:prstGeom prst="rect">
            <a:avLst/>
          </a:prstGeom>
          <a:noFill/>
        </p:spPr>
        <p:txBody>
          <a:bodyPr wrap="square" anchor="ctr" lIns="0" tIns="0" rIns="0" bIns="0">
            <a:noAutofit/>
          </a:bodyPr>
          <a:lstStyle/>
          <a:p>
            <a:pPr algn="l">
              <a:lnSpc>
                <a:spcPts val="2816"/>
              </a:lnSpc>
              <a:spcBef>
                <a:spcPts val="0"/>
              </a:spcBef>
              <a:spcAft>
                <a:spcPts val="0"/>
              </a:spcAft>
            </a:pPr>
            <a:r>
              <a:rPr sz="2166" b="0" i="0" u="none">
                <a:solidFill>
                  <a:srgbClr val="1F1E1E"/>
                </a:solidFill>
                <a:latin typeface="Arial"/>
              </a:rPr>
              <a:t>The pro column uses the blue tint with a check</a:t>
            </a:r>
          </a:p>
        </p:txBody>
      </p:sp>
      <p:sp>
        <p:nvSpPr>
          <p:cNvPr id="10" name="Oval 9"/>
          <p:cNvSpPr/>
          <p:nvPr/>
        </p:nvSpPr>
        <p:spPr>
          <a:xfrm>
            <a:off x="1053560" y="4497705"/>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1314640" y="4363593"/>
            <a:ext cx="4368724" cy="1053941"/>
          </a:xfrm>
          <a:prstGeom prst="rect">
            <a:avLst/>
          </a:prstGeom>
          <a:noFill/>
        </p:spPr>
        <p:txBody>
          <a:bodyPr wrap="square" anchor="ctr" lIns="0" tIns="0" rIns="0" bIns="0">
            <a:noAutofit/>
          </a:bodyPr>
          <a:lstStyle/>
          <a:p>
            <a:pPr algn="l">
              <a:lnSpc>
                <a:spcPts val="2816"/>
              </a:lnSpc>
              <a:spcBef>
                <a:spcPts val="0"/>
              </a:spcBef>
              <a:spcAft>
                <a:spcPts val="0"/>
              </a:spcAft>
            </a:pPr>
            <a:r>
              <a:rPr sz="2166" b="0" i="0" u="none">
                <a:solidFill>
                  <a:srgbClr val="1F1E1E"/>
                </a:solidFill>
                <a:latin typeface="Arial"/>
              </a:rPr>
              <a:t>Best for a decision framed as a trade-off</a:t>
            </a:r>
          </a:p>
        </p:txBody>
      </p:sp>
      <p:sp>
        <p:nvSpPr>
          <p:cNvPr id="12" name="Oval 11"/>
          <p:cNvSpPr/>
          <p:nvPr/>
        </p:nvSpPr>
        <p:spPr>
          <a:xfrm>
            <a:off x="1053560" y="5353621"/>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1314640" y="5219414"/>
            <a:ext cx="4323493" cy="314611"/>
          </a:xfrm>
          <a:prstGeom prst="rect">
            <a:avLst/>
          </a:prstGeom>
          <a:noFill/>
        </p:spPr>
        <p:txBody>
          <a:bodyPr wrap="none" anchor="ctr" lIns="0" tIns="0" rIns="0" bIns="0">
            <a:noAutofit/>
          </a:bodyPr>
          <a:lstStyle/>
          <a:p>
            <a:pPr algn="l">
              <a:lnSpc>
                <a:spcPts val="2816"/>
              </a:lnSpc>
              <a:spcBef>
                <a:spcPts val="0"/>
              </a:spcBef>
              <a:spcAft>
                <a:spcPts val="0"/>
              </a:spcAft>
            </a:pPr>
            <a:r>
              <a:rPr sz="2166" b="0" i="0" u="none">
                <a:solidFill>
                  <a:srgbClr val="1F1E1E"/>
                </a:solidFill>
                <a:latin typeface="Arial"/>
              </a:rPr>
              <a:t>Each line is one short point</a:t>
            </a:r>
          </a:p>
        </p:txBody>
      </p:sp>
      <p:sp>
        <p:nvSpPr>
          <p:cNvPr id="14" name="Rounded Rectangle 13"/>
          <p:cNvSpPr/>
          <p:nvPr/>
        </p:nvSpPr>
        <p:spPr>
          <a:xfrm>
            <a:off x="6267260" y="1775555"/>
            <a:ext cx="5251799" cy="4472845"/>
          </a:xfrm>
          <a:prstGeom prst="roundRect">
            <a:avLst>
              <a:gd name="adj" fmla="val 5451"/>
            </a:avLst>
          </a:prstGeom>
          <a:solidFill>
            <a:srgbClr val="F7BBC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3"/>
          <a:stretch>
            <a:fillRect/>
          </a:stretch>
        </p:blipFill>
        <p:spPr>
          <a:xfrm>
            <a:off x="6589300" y="2120646"/>
            <a:ext cx="690372" cy="690372"/>
          </a:xfrm>
          <a:prstGeom prst="rect">
            <a:avLst/>
          </a:prstGeom>
        </p:spPr>
      </p:pic>
      <p:sp>
        <p:nvSpPr>
          <p:cNvPr id="16" name="TextBox 15"/>
          <p:cNvSpPr txBox="1"/>
          <p:nvPr/>
        </p:nvSpPr>
        <p:spPr>
          <a:xfrm>
            <a:off x="6589300" y="2945035"/>
            <a:ext cx="4645724" cy="395573"/>
          </a:xfrm>
          <a:prstGeom prst="rect">
            <a:avLst/>
          </a:prstGeom>
          <a:noFill/>
        </p:spPr>
        <p:txBody>
          <a:bodyPr wrap="none" anchor="ctr" lIns="0" tIns="0" rIns="0" bIns="0">
            <a:noAutofit/>
          </a:bodyPr>
          <a:lstStyle/>
          <a:p>
            <a:pPr algn="l">
              <a:lnSpc>
                <a:spcPts val="2797"/>
              </a:lnSpc>
              <a:spcBef>
                <a:spcPts val="0"/>
              </a:spcBef>
              <a:spcAft>
                <a:spcPts val="0"/>
              </a:spcAft>
            </a:pPr>
            <a:r>
              <a:rPr sz="2797" b="1" i="0" u="none">
                <a:solidFill>
                  <a:srgbClr val="1F1E1E"/>
                </a:solidFill>
                <a:latin typeface="Arial"/>
              </a:rPr>
              <a:t>Riesgos</a:t>
            </a:r>
          </a:p>
        </p:txBody>
      </p:sp>
      <p:sp>
        <p:nvSpPr>
          <p:cNvPr id="17" name="Oval 16"/>
          <p:cNvSpPr/>
          <p:nvPr/>
        </p:nvSpPr>
        <p:spPr>
          <a:xfrm>
            <a:off x="6650260" y="3641884"/>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6911435" y="3507772"/>
            <a:ext cx="4368917" cy="1053941"/>
          </a:xfrm>
          <a:prstGeom prst="rect">
            <a:avLst/>
          </a:prstGeom>
          <a:noFill/>
        </p:spPr>
        <p:txBody>
          <a:bodyPr wrap="square" anchor="ctr" lIns="0" tIns="0" rIns="0" bIns="0">
            <a:noAutofit/>
          </a:bodyPr>
          <a:lstStyle/>
          <a:p>
            <a:pPr algn="l">
              <a:lnSpc>
                <a:spcPts val="2816"/>
              </a:lnSpc>
              <a:spcBef>
                <a:spcPts val="0"/>
              </a:spcBef>
              <a:spcAft>
                <a:spcPts val="0"/>
              </a:spcAft>
            </a:pPr>
            <a:r>
              <a:rPr sz="2166" b="0" i="0" u="none">
                <a:solidFill>
                  <a:srgbClr val="1F1E1E"/>
                </a:solidFill>
                <a:latin typeface="Arial"/>
              </a:rPr>
              <a:t>The con column uses the pink tint with a mark</a:t>
            </a:r>
          </a:p>
        </p:txBody>
      </p:sp>
      <p:sp>
        <p:nvSpPr>
          <p:cNvPr id="19" name="Oval 18"/>
          <p:cNvSpPr/>
          <p:nvPr/>
        </p:nvSpPr>
        <p:spPr>
          <a:xfrm>
            <a:off x="6650260" y="4497705"/>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6911435" y="4363593"/>
            <a:ext cx="4368917" cy="1053941"/>
          </a:xfrm>
          <a:prstGeom prst="rect">
            <a:avLst/>
          </a:prstGeom>
          <a:noFill/>
        </p:spPr>
        <p:txBody>
          <a:bodyPr wrap="square" anchor="ctr" lIns="0" tIns="0" rIns="0" bIns="0">
            <a:noAutofit/>
          </a:bodyPr>
          <a:lstStyle/>
          <a:p>
            <a:pPr algn="l">
              <a:lnSpc>
                <a:spcPts val="2816"/>
              </a:lnSpc>
              <a:spcBef>
                <a:spcPts val="0"/>
              </a:spcBef>
              <a:spcAft>
                <a:spcPts val="0"/>
              </a:spcAft>
            </a:pPr>
            <a:r>
              <a:rPr sz="2166" b="0" i="0" u="none">
                <a:solidFill>
                  <a:srgbClr val="1F1E1E"/>
                </a:solidFill>
                <a:latin typeface="Arial"/>
              </a:rPr>
              <a:t>Author-directed: two labeled groups</a:t>
            </a:r>
          </a:p>
        </p:txBody>
      </p:sp>
      <p:sp>
        <p:nvSpPr>
          <p:cNvPr id="21" name="Oval 20"/>
          <p:cNvSpPr/>
          <p:nvPr/>
        </p:nvSpPr>
        <p:spPr>
          <a:xfrm>
            <a:off x="6650260" y="5353621"/>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6911435" y="5219414"/>
            <a:ext cx="4368917" cy="699802"/>
          </a:xfrm>
          <a:prstGeom prst="rect">
            <a:avLst/>
          </a:prstGeom>
          <a:noFill/>
        </p:spPr>
        <p:txBody>
          <a:bodyPr wrap="square" anchor="ctr" lIns="0" tIns="0" rIns="0" bIns="0">
            <a:noAutofit/>
          </a:bodyPr>
          <a:lstStyle/>
          <a:p>
            <a:pPr algn="l">
              <a:lnSpc>
                <a:spcPts val="2816"/>
              </a:lnSpc>
              <a:spcBef>
                <a:spcPts val="0"/>
              </a:spcBef>
              <a:spcAft>
                <a:spcPts val="0"/>
              </a:spcAft>
            </a:pPr>
            <a:r>
              <a:rPr sz="2166" b="0" i="0" u="none">
                <a:solidFill>
                  <a:srgbClr val="1F1E1E"/>
                </a:solidFill>
                <a:latin typeface="Arial"/>
              </a:rPr>
              <a:t>Not for a general A-versus-B comparison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597372"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229438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ORDERED &amp; COMPARISON</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pros-cons: uneven, longer lists</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The count is the point of the slide, so the rules stack instead of running together.</a:t>
            </a:r>
          </a:p>
        </p:txBody>
      </p:sp>
      <p:sp>
        <p:nvSpPr>
          <p:cNvPr id="6" name="Rounded Rectangle 5"/>
          <p:cNvSpPr/>
          <p:nvPr/>
        </p:nvSpPr>
        <p:spPr>
          <a:xfrm>
            <a:off x="670465" y="2192369"/>
            <a:ext cx="5255514" cy="4056031"/>
          </a:xfrm>
          <a:prstGeom prst="roundRect">
            <a:avLst>
              <a:gd name="adj" fmla="val 6011"/>
            </a:avLst>
          </a:prstGeom>
          <a:solidFill>
            <a:srgbClr val="B8E6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985171" y="2529650"/>
            <a:ext cx="674560" cy="674560"/>
          </a:xfrm>
          <a:prstGeom prst="rect">
            <a:avLst/>
          </a:prstGeom>
        </p:spPr>
      </p:pic>
      <p:sp>
        <p:nvSpPr>
          <p:cNvPr id="8" name="TextBox 7"/>
          <p:cNvSpPr txBox="1"/>
          <p:nvPr/>
        </p:nvSpPr>
        <p:spPr>
          <a:xfrm>
            <a:off x="985171" y="3335084"/>
            <a:ext cx="4664202" cy="386524"/>
          </a:xfrm>
          <a:prstGeom prst="rect">
            <a:avLst/>
          </a:prstGeom>
          <a:noFill/>
        </p:spPr>
        <p:txBody>
          <a:bodyPr wrap="none" anchor="ctr" lIns="0" tIns="0" rIns="0" bIns="0">
            <a:noAutofit/>
          </a:bodyPr>
          <a:lstStyle/>
          <a:p>
            <a:pPr algn="l">
              <a:lnSpc>
                <a:spcPts val="2738"/>
              </a:lnSpc>
              <a:spcBef>
                <a:spcPts val="0"/>
              </a:spcBef>
              <a:spcAft>
                <a:spcPts val="0"/>
              </a:spcAft>
            </a:pPr>
            <a:r>
              <a:rPr sz="2738" b="1" i="0" u="none">
                <a:solidFill>
                  <a:srgbClr val="1F1E1E"/>
                </a:solidFill>
                <a:latin typeface="Arial"/>
              </a:rPr>
              <a:t>Qué hacer</a:t>
            </a:r>
          </a:p>
        </p:txBody>
      </p:sp>
      <p:sp>
        <p:nvSpPr>
          <p:cNvPr id="9" name="Oval 8"/>
          <p:cNvSpPr/>
          <p:nvPr/>
        </p:nvSpPr>
        <p:spPr>
          <a:xfrm>
            <a:off x="1046131" y="4006882"/>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1299877" y="3884962"/>
            <a:ext cx="4349496" cy="272320"/>
          </a:xfrm>
          <a:prstGeom prst="rect">
            <a:avLst/>
          </a:prstGeom>
          <a:noFill/>
        </p:spPr>
        <p:txBody>
          <a:bodyPr wrap="none" anchor="ctr" lIns="0" tIns="0" rIns="0" bIns="0">
            <a:noAutofit/>
          </a:bodyPr>
          <a:lstStyle/>
          <a:p>
            <a:pPr algn="l">
              <a:lnSpc>
                <a:spcPts val="2526"/>
              </a:lnSpc>
              <a:spcBef>
                <a:spcPts val="0"/>
              </a:spcBef>
              <a:spcAft>
                <a:spcPts val="0"/>
              </a:spcAft>
            </a:pPr>
            <a:r>
              <a:rPr sz="1943" b="0" i="0" u="none">
                <a:solidFill>
                  <a:srgbClr val="1F1E1E"/>
                </a:solidFill>
                <a:latin typeface="Arial"/>
              </a:rPr>
              <a:t>Split before you explore the data</a:t>
            </a:r>
          </a:p>
        </p:txBody>
      </p:sp>
      <p:sp>
        <p:nvSpPr>
          <p:cNvPr id="11" name="Oval 10"/>
          <p:cNvSpPr/>
          <p:nvPr/>
        </p:nvSpPr>
        <p:spPr>
          <a:xfrm>
            <a:off x="1046131" y="4440650"/>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299877" y="4318826"/>
            <a:ext cx="4349496" cy="272320"/>
          </a:xfrm>
          <a:prstGeom prst="rect">
            <a:avLst/>
          </a:prstGeom>
          <a:noFill/>
        </p:spPr>
        <p:txBody>
          <a:bodyPr wrap="none" anchor="ctr" lIns="0" tIns="0" rIns="0" bIns="0">
            <a:noAutofit/>
          </a:bodyPr>
          <a:lstStyle/>
          <a:p>
            <a:pPr algn="l">
              <a:lnSpc>
                <a:spcPts val="2526"/>
              </a:lnSpc>
              <a:spcBef>
                <a:spcPts val="0"/>
              </a:spcBef>
              <a:spcAft>
                <a:spcPts val="0"/>
              </a:spcAft>
            </a:pPr>
            <a:r>
              <a:rPr sz="1943" b="0" i="0" u="none">
                <a:solidFill>
                  <a:srgbClr val="1F1E1E"/>
                </a:solidFill>
                <a:latin typeface="Arial"/>
              </a:rPr>
              <a:t>Split by group, never by row</a:t>
            </a:r>
          </a:p>
        </p:txBody>
      </p:sp>
      <p:sp>
        <p:nvSpPr>
          <p:cNvPr id="13" name="Oval 12"/>
          <p:cNvSpPr/>
          <p:nvPr/>
        </p:nvSpPr>
        <p:spPr>
          <a:xfrm>
            <a:off x="1046131" y="4874514"/>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299877" y="4752594"/>
            <a:ext cx="4349496" cy="272320"/>
          </a:xfrm>
          <a:prstGeom prst="rect">
            <a:avLst/>
          </a:prstGeom>
          <a:noFill/>
        </p:spPr>
        <p:txBody>
          <a:bodyPr wrap="none" anchor="ctr" lIns="0" tIns="0" rIns="0" bIns="0">
            <a:noAutofit/>
          </a:bodyPr>
          <a:lstStyle/>
          <a:p>
            <a:pPr algn="l">
              <a:lnSpc>
                <a:spcPts val="2526"/>
              </a:lnSpc>
              <a:spcBef>
                <a:spcPts val="0"/>
              </a:spcBef>
              <a:spcAft>
                <a:spcPts val="0"/>
              </a:spcAft>
            </a:pPr>
            <a:r>
              <a:rPr sz="1943" b="0" i="0" u="none">
                <a:solidFill>
                  <a:srgbClr val="1F1E1E"/>
                </a:solidFill>
                <a:latin typeface="Arial"/>
              </a:rPr>
              <a:t>Fix the seed and store the split</a:t>
            </a:r>
          </a:p>
        </p:txBody>
      </p:sp>
      <p:sp>
        <p:nvSpPr>
          <p:cNvPr id="15" name="Oval 14"/>
          <p:cNvSpPr/>
          <p:nvPr/>
        </p:nvSpPr>
        <p:spPr>
          <a:xfrm>
            <a:off x="1046131" y="5308378"/>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1299877" y="5186458"/>
            <a:ext cx="4349496" cy="272320"/>
          </a:xfrm>
          <a:prstGeom prst="rect">
            <a:avLst/>
          </a:prstGeom>
          <a:noFill/>
        </p:spPr>
        <p:txBody>
          <a:bodyPr wrap="none" anchor="ctr" lIns="0" tIns="0" rIns="0" bIns="0">
            <a:noAutofit/>
          </a:bodyPr>
          <a:lstStyle/>
          <a:p>
            <a:pPr algn="l">
              <a:lnSpc>
                <a:spcPts val="2526"/>
              </a:lnSpc>
              <a:spcBef>
                <a:spcPts val="0"/>
              </a:spcBef>
              <a:spcAft>
                <a:spcPts val="0"/>
              </a:spcAft>
            </a:pPr>
            <a:r>
              <a:rPr sz="1943" b="0" i="0" u="none">
                <a:solidFill>
                  <a:srgbClr val="1F1E1E"/>
                </a:solidFill>
                <a:latin typeface="Arial"/>
              </a:rPr>
              <a:t>Augment the training set only</a:t>
            </a:r>
          </a:p>
        </p:txBody>
      </p:sp>
      <p:sp>
        <p:nvSpPr>
          <p:cNvPr id="17" name="Oval 16"/>
          <p:cNvSpPr/>
          <p:nvPr/>
        </p:nvSpPr>
        <p:spPr>
          <a:xfrm>
            <a:off x="1046131" y="5742242"/>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1299877" y="5620321"/>
            <a:ext cx="4349496" cy="272320"/>
          </a:xfrm>
          <a:prstGeom prst="rect">
            <a:avLst/>
          </a:prstGeom>
          <a:noFill/>
        </p:spPr>
        <p:txBody>
          <a:bodyPr wrap="none" anchor="ctr" lIns="0" tIns="0" rIns="0" bIns="0">
            <a:noAutofit/>
          </a:bodyPr>
          <a:lstStyle/>
          <a:p>
            <a:pPr algn="l">
              <a:lnSpc>
                <a:spcPts val="2526"/>
              </a:lnSpc>
              <a:spcBef>
                <a:spcPts val="0"/>
              </a:spcBef>
              <a:spcAft>
                <a:spcPts val="0"/>
              </a:spcAft>
            </a:pPr>
            <a:r>
              <a:rPr sz="1943" b="0" i="0" u="none">
                <a:solidFill>
                  <a:srgbClr val="1F1E1E"/>
                </a:solidFill>
                <a:latin typeface="Arial"/>
              </a:rPr>
              <a:t>Write down what you decided and why</a:t>
            </a:r>
          </a:p>
        </p:txBody>
      </p:sp>
      <p:sp>
        <p:nvSpPr>
          <p:cNvPr id="19" name="Rounded Rectangle 18"/>
          <p:cNvSpPr/>
          <p:nvPr/>
        </p:nvSpPr>
        <p:spPr>
          <a:xfrm>
            <a:off x="6263259" y="2192369"/>
            <a:ext cx="5255704" cy="4056031"/>
          </a:xfrm>
          <a:prstGeom prst="roundRect">
            <a:avLst>
              <a:gd name="adj" fmla="val 6011"/>
            </a:avLst>
          </a:prstGeom>
          <a:solidFill>
            <a:srgbClr val="F7BBC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0" name="Picture 19" descr="image.png"/>
          <p:cNvPicPr>
            <a:picLocks noChangeAspect="1"/>
          </p:cNvPicPr>
          <p:nvPr/>
        </p:nvPicPr>
        <p:blipFill>
          <a:blip r:embed="rId3"/>
          <a:stretch>
            <a:fillRect/>
          </a:stretch>
        </p:blipFill>
        <p:spPr>
          <a:xfrm>
            <a:off x="6577965" y="2529650"/>
            <a:ext cx="674560" cy="674560"/>
          </a:xfrm>
          <a:prstGeom prst="rect">
            <a:avLst/>
          </a:prstGeom>
        </p:spPr>
      </p:pic>
      <p:sp>
        <p:nvSpPr>
          <p:cNvPr id="21" name="TextBox 20"/>
          <p:cNvSpPr txBox="1"/>
          <p:nvPr/>
        </p:nvSpPr>
        <p:spPr>
          <a:xfrm>
            <a:off x="6577965" y="3335084"/>
            <a:ext cx="4664392" cy="386524"/>
          </a:xfrm>
          <a:prstGeom prst="rect">
            <a:avLst/>
          </a:prstGeom>
          <a:noFill/>
        </p:spPr>
        <p:txBody>
          <a:bodyPr wrap="none" anchor="ctr" lIns="0" tIns="0" rIns="0" bIns="0">
            <a:noAutofit/>
          </a:bodyPr>
          <a:lstStyle/>
          <a:p>
            <a:pPr algn="l">
              <a:lnSpc>
                <a:spcPts val="2738"/>
              </a:lnSpc>
              <a:spcBef>
                <a:spcPts val="0"/>
              </a:spcBef>
              <a:spcAft>
                <a:spcPts val="0"/>
              </a:spcAft>
            </a:pPr>
            <a:r>
              <a:rPr sz="2738" b="1" i="0" u="none">
                <a:solidFill>
                  <a:srgbClr val="1F1E1E"/>
                </a:solidFill>
                <a:latin typeface="Arial"/>
              </a:rPr>
              <a:t>Qué no hacer</a:t>
            </a:r>
          </a:p>
        </p:txBody>
      </p:sp>
      <p:sp>
        <p:nvSpPr>
          <p:cNvPr id="22" name="Oval 21"/>
          <p:cNvSpPr/>
          <p:nvPr/>
        </p:nvSpPr>
        <p:spPr>
          <a:xfrm>
            <a:off x="6638925" y="4019550"/>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6892671" y="3884962"/>
            <a:ext cx="4349686" cy="307467"/>
          </a:xfrm>
          <a:prstGeom prst="rect">
            <a:avLst/>
          </a:prstGeom>
          <a:noFill/>
        </p:spPr>
        <p:txBody>
          <a:bodyPr wrap="none" anchor="ctr" lIns="0" tIns="0" rIns="0" bIns="0">
            <a:noAutofit/>
          </a:bodyPr>
          <a:lstStyle/>
          <a:p>
            <a:pPr algn="l">
              <a:lnSpc>
                <a:spcPts val="2756"/>
              </a:lnSpc>
              <a:spcBef>
                <a:spcPts val="0"/>
              </a:spcBef>
              <a:spcAft>
                <a:spcPts val="0"/>
              </a:spcAft>
            </a:pPr>
            <a:r>
              <a:rPr sz="2120" b="0" i="0" u="none">
                <a:solidFill>
                  <a:srgbClr val="1F1E1E"/>
                </a:solidFill>
                <a:latin typeface="Arial"/>
              </a:rPr>
              <a:t>Tune against the test set</a:t>
            </a:r>
          </a:p>
        </p:txBody>
      </p:sp>
      <p:sp>
        <p:nvSpPr>
          <p:cNvPr id="24" name="Oval 23"/>
          <p:cNvSpPr/>
          <p:nvPr/>
        </p:nvSpPr>
        <p:spPr>
          <a:xfrm>
            <a:off x="6638925" y="4505134"/>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6892671" y="4370546"/>
            <a:ext cx="4395310" cy="1038511"/>
          </a:xfrm>
          <a:prstGeom prst="rect">
            <a:avLst/>
          </a:prstGeom>
          <a:noFill/>
        </p:spPr>
        <p:txBody>
          <a:bodyPr wrap="square" anchor="ctr" lIns="0" tIns="0" rIns="0" bIns="0">
            <a:noAutofit/>
          </a:bodyPr>
          <a:lstStyle/>
          <a:p>
            <a:pPr algn="l">
              <a:lnSpc>
                <a:spcPts val="2756"/>
              </a:lnSpc>
              <a:spcBef>
                <a:spcPts val="0"/>
              </a:spcBef>
              <a:spcAft>
                <a:spcPts val="0"/>
              </a:spcAft>
            </a:pPr>
            <a:r>
              <a:rPr sz="2120" b="0" i="0" u="none">
                <a:solidFill>
                  <a:srgbClr val="1F1E1E"/>
                </a:solidFill>
                <a:latin typeface="Arial"/>
              </a:rPr>
              <a:t>Re-split because the number came out wrong</a:t>
            </a:r>
          </a:p>
        </p:txBody>
      </p:sp>
      <p:sp>
        <p:nvSpPr>
          <p:cNvPr id="26" name="Oval 25"/>
          <p:cNvSpPr/>
          <p:nvPr/>
        </p:nvSpPr>
        <p:spPr>
          <a:xfrm>
            <a:off x="6638925" y="5341430"/>
            <a:ext cx="121920" cy="121920"/>
          </a:xfrm>
          <a:prstGeom prst="ellipse">
            <a:avLst/>
          </a:prstGeom>
          <a:solidFill>
            <a:srgbClr val="1F1E1E">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6892671" y="5206746"/>
            <a:ext cx="4349686" cy="307467"/>
          </a:xfrm>
          <a:prstGeom prst="rect">
            <a:avLst/>
          </a:prstGeom>
          <a:noFill/>
        </p:spPr>
        <p:txBody>
          <a:bodyPr wrap="none" anchor="ctr" lIns="0" tIns="0" rIns="0" bIns="0">
            <a:noAutofit/>
          </a:bodyPr>
          <a:lstStyle/>
          <a:p>
            <a:pPr algn="l">
              <a:lnSpc>
                <a:spcPts val="2756"/>
              </a:lnSpc>
              <a:spcBef>
                <a:spcPts val="0"/>
              </a:spcBef>
              <a:spcAft>
                <a:spcPts val="0"/>
              </a:spcAft>
            </a:pPr>
            <a:r>
              <a:rPr sz="2120" b="0" i="0" u="none">
                <a:solidFill>
                  <a:srgbClr val="1F1E1E"/>
                </a:solidFill>
                <a:latin typeface="Arial"/>
              </a:rPr>
              <a:t>Trust the library's default cut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770317"/>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01</a:t>
            </a:r>
          </a:p>
        </p:txBody>
      </p:sp>
      <p:sp>
        <p:nvSpPr>
          <p:cNvPr id="3" name="TextBox 2"/>
          <p:cNvSpPr txBox="1"/>
          <p:nvPr/>
        </p:nvSpPr>
        <p:spPr>
          <a:xfrm>
            <a:off x="1328738" y="1675067"/>
            <a:ext cx="2910459"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Frames &amp; openers</a:t>
            </a:r>
          </a:p>
        </p:txBody>
      </p:sp>
      <p:sp>
        <p:nvSpPr>
          <p:cNvPr id="4" name="TextBox 3"/>
          <p:cNvSpPr txBox="1"/>
          <p:nvPr/>
        </p:nvSpPr>
        <p:spPr>
          <a:xfrm>
            <a:off x="670465" y="2292096"/>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02</a:t>
            </a:r>
          </a:p>
        </p:txBody>
      </p:sp>
      <p:sp>
        <p:nvSpPr>
          <p:cNvPr id="5" name="TextBox 4"/>
          <p:cNvSpPr txBox="1"/>
          <p:nvPr/>
        </p:nvSpPr>
        <p:spPr>
          <a:xfrm>
            <a:off x="1328738" y="2196846"/>
            <a:ext cx="3568922"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Statement &amp; emphasis</a:t>
            </a:r>
          </a:p>
        </p:txBody>
      </p:sp>
      <p:sp>
        <p:nvSpPr>
          <p:cNvPr id="6" name="TextBox 5"/>
          <p:cNvSpPr txBox="1"/>
          <p:nvPr/>
        </p:nvSpPr>
        <p:spPr>
          <a:xfrm>
            <a:off x="670465" y="2813876"/>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03</a:t>
            </a:r>
          </a:p>
        </p:txBody>
      </p:sp>
      <p:sp>
        <p:nvSpPr>
          <p:cNvPr id="7" name="TextBox 6"/>
          <p:cNvSpPr txBox="1"/>
          <p:nvPr/>
        </p:nvSpPr>
        <p:spPr>
          <a:xfrm>
            <a:off x="1328738" y="2718626"/>
            <a:ext cx="2233136"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Enumerations</a:t>
            </a:r>
          </a:p>
        </p:txBody>
      </p:sp>
      <p:sp>
        <p:nvSpPr>
          <p:cNvPr id="8" name="TextBox 7"/>
          <p:cNvSpPr txBox="1"/>
          <p:nvPr/>
        </p:nvSpPr>
        <p:spPr>
          <a:xfrm>
            <a:off x="670465" y="3335655"/>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04</a:t>
            </a:r>
          </a:p>
        </p:txBody>
      </p:sp>
      <p:sp>
        <p:nvSpPr>
          <p:cNvPr id="9" name="TextBox 8"/>
          <p:cNvSpPr txBox="1"/>
          <p:nvPr/>
        </p:nvSpPr>
        <p:spPr>
          <a:xfrm>
            <a:off x="1328738" y="3240405"/>
            <a:ext cx="3605212"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Ordered &amp; comparison</a:t>
            </a:r>
          </a:p>
        </p:txBody>
      </p:sp>
      <p:sp>
        <p:nvSpPr>
          <p:cNvPr id="10" name="TextBox 9"/>
          <p:cNvSpPr txBox="1"/>
          <p:nvPr/>
        </p:nvSpPr>
        <p:spPr>
          <a:xfrm>
            <a:off x="670465" y="3857434"/>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A1B2E"/>
                </a:solidFill>
                <a:latin typeface="Courier New"/>
              </a:rPr>
              <a:t>05</a:t>
            </a:r>
          </a:p>
        </p:txBody>
      </p:sp>
      <p:sp>
        <p:nvSpPr>
          <p:cNvPr id="11" name="TextBox 10"/>
          <p:cNvSpPr txBox="1"/>
          <p:nvPr/>
        </p:nvSpPr>
        <p:spPr>
          <a:xfrm>
            <a:off x="1328738" y="3762184"/>
            <a:ext cx="2099405"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Visual &amp; data</a:t>
            </a:r>
          </a:p>
        </p:txBody>
      </p:sp>
      <p:sp>
        <p:nvSpPr>
          <p:cNvPr id="12" name="TextBox 11"/>
          <p:cNvSpPr txBox="1"/>
          <p:nvPr/>
        </p:nvSpPr>
        <p:spPr>
          <a:xfrm>
            <a:off x="670465" y="4379309"/>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06</a:t>
            </a:r>
          </a:p>
        </p:txBody>
      </p:sp>
      <p:sp>
        <p:nvSpPr>
          <p:cNvPr id="13" name="TextBox 12"/>
          <p:cNvSpPr txBox="1"/>
          <p:nvPr/>
        </p:nvSpPr>
        <p:spPr>
          <a:xfrm>
            <a:off x="1328738" y="4284059"/>
            <a:ext cx="2653760"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Interactive (quiz)</a:t>
            </a:r>
          </a:p>
        </p:txBody>
      </p:sp>
      <p:sp>
        <p:nvSpPr>
          <p:cNvPr id="14" name="TextBox 13"/>
          <p:cNvSpPr txBox="1"/>
          <p:nvPr/>
        </p:nvSpPr>
        <p:spPr>
          <a:xfrm>
            <a:off x="670465" y="4901089"/>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07</a:t>
            </a:r>
          </a:p>
        </p:txBody>
      </p:sp>
      <p:sp>
        <p:nvSpPr>
          <p:cNvPr id="15" name="TextBox 14"/>
          <p:cNvSpPr txBox="1"/>
          <p:nvPr/>
        </p:nvSpPr>
        <p:spPr>
          <a:xfrm>
            <a:off x="1328738" y="4805839"/>
            <a:ext cx="1245108"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Closing</a:t>
            </a:r>
          </a:p>
        </p:txBody>
      </p:sp>
      <p:sp>
        <p:nvSpPr>
          <p:cNvPr id="16" name="TextBox 15"/>
          <p:cNvSpPr txBox="1"/>
          <p:nvPr/>
        </p:nvSpPr>
        <p:spPr>
          <a:xfrm>
            <a:off x="9965341" y="2263807"/>
            <a:ext cx="1594104" cy="1514475"/>
          </a:xfrm>
          <a:prstGeom prst="rect">
            <a:avLst/>
          </a:prstGeom>
          <a:noFill/>
        </p:spPr>
        <p:txBody>
          <a:bodyPr wrap="none" anchor="ctr" lIns="0" tIns="0" rIns="0" bIns="0">
            <a:noAutofit/>
          </a:bodyPr>
          <a:lstStyle/>
          <a:p>
            <a:pPr algn="r">
              <a:lnSpc>
                <a:spcPts val="8976"/>
              </a:lnSpc>
              <a:spcBef>
                <a:spcPts val="0"/>
              </a:spcBef>
              <a:spcAft>
                <a:spcPts val="0"/>
              </a:spcAft>
            </a:pPr>
            <a:r>
              <a:rPr sz="10560" b="1" i="0" u="none" spc="-212">
                <a:solidFill>
                  <a:srgbClr val="DA1B2E"/>
                </a:solidFill>
                <a:latin typeface="Courier New"/>
              </a:rPr>
              <a:t>05</a:t>
            </a:r>
          </a:p>
        </p:txBody>
      </p:sp>
      <p:sp>
        <p:nvSpPr>
          <p:cNvPr id="17" name="TextBox 16"/>
          <p:cNvSpPr txBox="1"/>
          <p:nvPr/>
        </p:nvSpPr>
        <p:spPr>
          <a:xfrm>
            <a:off x="7932992" y="3760565"/>
            <a:ext cx="3626453" cy="657225"/>
          </a:xfrm>
          <a:prstGeom prst="rect">
            <a:avLst/>
          </a:prstGeom>
          <a:noFill/>
        </p:spPr>
        <p:txBody>
          <a:bodyPr wrap="none" anchor="ctr" lIns="0" tIns="0" rIns="0" bIns="0">
            <a:noAutofit/>
          </a:bodyPr>
          <a:lstStyle/>
          <a:p>
            <a:pPr algn="r">
              <a:lnSpc>
                <a:spcPts val="4838"/>
              </a:lnSpc>
              <a:spcBef>
                <a:spcPts val="0"/>
              </a:spcBef>
              <a:spcAft>
                <a:spcPts val="0"/>
              </a:spcAft>
            </a:pPr>
            <a:r>
              <a:rPr sz="4608" b="1" i="0" u="none" spc="-46">
                <a:solidFill>
                  <a:srgbClr val="1F1E1E"/>
                </a:solidFill>
                <a:latin typeface="Arial"/>
              </a:rPr>
              <a:t>Visual &amp; data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stat: two to four standalone numbers</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Each number is a value with a short caption beneath it:</a:t>
            </a:r>
          </a:p>
        </p:txBody>
      </p:sp>
      <p:sp>
        <p:nvSpPr>
          <p:cNvPr id="6" name="Rounded Rectangle 5"/>
          <p:cNvSpPr/>
          <p:nvPr/>
        </p:nvSpPr>
        <p:spPr>
          <a:xfrm>
            <a:off x="670465" y="2192369"/>
            <a:ext cx="3421285" cy="2544699"/>
          </a:xfrm>
          <a:prstGeom prst="roundRect">
            <a:avLst>
              <a:gd name="adj" fmla="val 958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3073" y="2510409"/>
            <a:ext cx="2874169"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2–4</a:t>
            </a:r>
          </a:p>
        </p:txBody>
      </p:sp>
      <p:sp>
        <p:nvSpPr>
          <p:cNvPr id="8" name="TextBox 7"/>
          <p:cNvSpPr txBox="1"/>
          <p:nvPr/>
        </p:nvSpPr>
        <p:spPr>
          <a:xfrm>
            <a:off x="963073" y="3420999"/>
            <a:ext cx="2897660" cy="925735"/>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the number of metrics a stat slide holds</a:t>
            </a:r>
          </a:p>
        </p:txBody>
      </p:sp>
      <p:sp>
        <p:nvSpPr>
          <p:cNvPr id="9" name="Rounded Rectangle 8"/>
          <p:cNvSpPr/>
          <p:nvPr/>
        </p:nvSpPr>
        <p:spPr>
          <a:xfrm>
            <a:off x="4384358" y="2192369"/>
            <a:ext cx="3421285" cy="2544699"/>
          </a:xfrm>
          <a:prstGeom prst="roundRect">
            <a:avLst>
              <a:gd name="adj" fmla="val 958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4676966" y="2510409"/>
            <a:ext cx="2874169"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1</a:t>
            </a:r>
          </a:p>
        </p:txBody>
      </p:sp>
      <p:sp>
        <p:nvSpPr>
          <p:cNvPr id="11" name="TextBox 10"/>
          <p:cNvSpPr txBox="1"/>
          <p:nvPr/>
        </p:nvSpPr>
        <p:spPr>
          <a:xfrm>
            <a:off x="4676966" y="3420999"/>
            <a:ext cx="2897660" cy="950309"/>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caption line per value, baselines aligned across the row</a:t>
            </a:r>
          </a:p>
        </p:txBody>
      </p:sp>
      <p:sp>
        <p:nvSpPr>
          <p:cNvPr id="12" name="Rounded Rectangle 11"/>
          <p:cNvSpPr/>
          <p:nvPr/>
        </p:nvSpPr>
        <p:spPr>
          <a:xfrm>
            <a:off x="8098155" y="2192369"/>
            <a:ext cx="3421285" cy="2544699"/>
          </a:xfrm>
          <a:prstGeom prst="roundRect">
            <a:avLst>
              <a:gd name="adj" fmla="val 958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8390763" y="2510409"/>
            <a:ext cx="2874169"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0</a:t>
            </a:r>
          </a:p>
        </p:txBody>
      </p:sp>
      <p:sp>
        <p:nvSpPr>
          <p:cNvPr id="14" name="TextBox 13"/>
          <p:cNvSpPr txBox="1"/>
          <p:nvPr/>
        </p:nvSpPr>
        <p:spPr>
          <a:xfrm>
            <a:off x="8390763" y="3420999"/>
            <a:ext cx="2897660" cy="950309"/>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bullets — the numbers themselves are the payload</a:t>
            </a:r>
          </a:p>
        </p:txBody>
      </p:sp>
      <p:sp>
        <p:nvSpPr>
          <p:cNvPr id="15" name="Rounded Rectangle 14"/>
          <p:cNvSpPr/>
          <p:nvPr/>
        </p:nvSpPr>
        <p:spPr>
          <a:xfrm>
            <a:off x="670465" y="5736622"/>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Rectangle 15"/>
          <p:cNvSpPr/>
          <p:nvPr/>
        </p:nvSpPr>
        <p:spPr>
          <a:xfrm>
            <a:off x="670465" y="5736622"/>
            <a:ext cx="57150" cy="511778"/>
          </a:xfrm>
          <a:prstGeom prst="rect">
            <a:avLst/>
          </a:prstGeom>
          <a:solidFill>
            <a:srgbClr val="6E666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7" name="Picture 16" descr="image.png"/>
          <p:cNvPicPr>
            <a:picLocks noChangeAspect="1"/>
          </p:cNvPicPr>
          <p:nvPr/>
        </p:nvPicPr>
        <p:blipFill>
          <a:blip r:embed="rId2"/>
          <a:stretch>
            <a:fillRect/>
          </a:stretch>
        </p:blipFill>
        <p:spPr>
          <a:xfrm>
            <a:off x="886016" y="5882735"/>
            <a:ext cx="243745" cy="243745"/>
          </a:xfrm>
          <a:prstGeom prst="rect">
            <a:avLst/>
          </a:prstGeom>
        </p:spPr>
      </p:pic>
      <p:sp>
        <p:nvSpPr>
          <p:cNvPr id="18" name="TextBox 17"/>
          <p:cNvSpPr txBox="1"/>
          <p:nvPr/>
        </p:nvSpPr>
        <p:spPr>
          <a:xfrm>
            <a:off x="1251680" y="5877496"/>
            <a:ext cx="3905250"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1F1E1E"/>
                </a:solidFill>
                <a:latin typeface="Arial"/>
              </a:rPr>
              <a:t>A hero single metric goes on big-number instead.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stat: two numbers (the low edge)</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Each number is a value with a short caption beneath it:</a:t>
            </a:r>
          </a:p>
        </p:txBody>
      </p:sp>
      <p:sp>
        <p:nvSpPr>
          <p:cNvPr id="6" name="Rounded Rectangle 5"/>
          <p:cNvSpPr/>
          <p:nvPr/>
        </p:nvSpPr>
        <p:spPr>
          <a:xfrm>
            <a:off x="670465" y="2192369"/>
            <a:ext cx="5278184" cy="2224659"/>
          </a:xfrm>
          <a:prstGeom prst="roundRect">
            <a:avLst>
              <a:gd name="adj" fmla="val 1096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3073" y="2510409"/>
            <a:ext cx="4731068"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2–4</a:t>
            </a:r>
          </a:p>
        </p:txBody>
      </p:sp>
      <p:sp>
        <p:nvSpPr>
          <p:cNvPr id="8" name="TextBox 7"/>
          <p:cNvSpPr txBox="1"/>
          <p:nvPr/>
        </p:nvSpPr>
        <p:spPr>
          <a:xfrm>
            <a:off x="963073" y="3420999"/>
            <a:ext cx="4731068" cy="285750"/>
          </a:xfrm>
          <a:prstGeom prst="rect">
            <a:avLst/>
          </a:prstGeom>
          <a:noFill/>
        </p:spPr>
        <p:txBody>
          <a:bodyPr wrap="none" anchor="ctr" lIns="0" tIns="0" rIns="0" bIns="0">
            <a:noAutofit/>
          </a:bodyPr>
          <a:lstStyle/>
          <a:p>
            <a:pPr algn="l">
              <a:lnSpc>
                <a:spcPts val="2520"/>
              </a:lnSpc>
              <a:spcBef>
                <a:spcPts val="0"/>
              </a:spcBef>
              <a:spcAft>
                <a:spcPts val="0"/>
              </a:spcAft>
            </a:pPr>
            <a:r>
              <a:rPr sz="2016" b="0" i="0" u="none">
                <a:solidFill>
                  <a:srgbClr val="3B3535"/>
                </a:solidFill>
                <a:latin typeface="Arial"/>
              </a:rPr>
              <a:t>the number of metrics a stat slide holds</a:t>
            </a:r>
          </a:p>
        </p:txBody>
      </p:sp>
      <p:sp>
        <p:nvSpPr>
          <p:cNvPr id="9" name="Rounded Rectangle 8"/>
          <p:cNvSpPr/>
          <p:nvPr/>
        </p:nvSpPr>
        <p:spPr>
          <a:xfrm>
            <a:off x="6241256" y="2192369"/>
            <a:ext cx="5278184" cy="2224659"/>
          </a:xfrm>
          <a:prstGeom prst="roundRect">
            <a:avLst>
              <a:gd name="adj" fmla="val 1096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6533864" y="2510409"/>
            <a:ext cx="4731068"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1</a:t>
            </a:r>
          </a:p>
        </p:txBody>
      </p:sp>
      <p:sp>
        <p:nvSpPr>
          <p:cNvPr id="11" name="TextBox 10"/>
          <p:cNvSpPr txBox="1"/>
          <p:nvPr/>
        </p:nvSpPr>
        <p:spPr>
          <a:xfrm>
            <a:off x="6533864" y="3420999"/>
            <a:ext cx="4782412" cy="630269"/>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caption line per value, baselines aligned across the row</a:t>
            </a:r>
          </a:p>
        </p:txBody>
      </p:sp>
      <p:sp>
        <p:nvSpPr>
          <p:cNvPr id="12" name="Rounded Rectangle 11"/>
          <p:cNvSpPr/>
          <p:nvPr/>
        </p:nvSpPr>
        <p:spPr>
          <a:xfrm>
            <a:off x="670465" y="5736622"/>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ectangle 12"/>
          <p:cNvSpPr/>
          <p:nvPr/>
        </p:nvSpPr>
        <p:spPr>
          <a:xfrm>
            <a:off x="670465" y="5736622"/>
            <a:ext cx="57150" cy="511778"/>
          </a:xfrm>
          <a:prstGeom prst="rect">
            <a:avLst/>
          </a:prstGeom>
          <a:solidFill>
            <a:srgbClr val="6E666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2"/>
          <a:stretch>
            <a:fillRect/>
          </a:stretch>
        </p:blipFill>
        <p:spPr>
          <a:xfrm>
            <a:off x="886016" y="5882735"/>
            <a:ext cx="243745" cy="243745"/>
          </a:xfrm>
          <a:prstGeom prst="rect">
            <a:avLst/>
          </a:prstGeom>
        </p:spPr>
      </p:pic>
      <p:sp>
        <p:nvSpPr>
          <p:cNvPr id="15" name="TextBox 14"/>
          <p:cNvSpPr txBox="1"/>
          <p:nvPr/>
        </p:nvSpPr>
        <p:spPr>
          <a:xfrm>
            <a:off x="1251680" y="5877496"/>
            <a:ext cx="3905250"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1F1E1E"/>
                </a:solidFill>
                <a:latin typeface="Arial"/>
              </a:rPr>
              <a:t>A hero single metric goes on big-number instead.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stat: four numbers (the high edge)</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Each number is a value with a short caption beneath it:</a:t>
            </a:r>
          </a:p>
        </p:txBody>
      </p:sp>
      <p:sp>
        <p:nvSpPr>
          <p:cNvPr id="6" name="Rounded Rectangle 5"/>
          <p:cNvSpPr/>
          <p:nvPr/>
        </p:nvSpPr>
        <p:spPr>
          <a:xfrm>
            <a:off x="670465" y="2192369"/>
            <a:ext cx="2492692" cy="2864644"/>
          </a:xfrm>
          <a:prstGeom prst="roundRect">
            <a:avLst>
              <a:gd name="adj" fmla="val 978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3073" y="2510409"/>
            <a:ext cx="1945672"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2–4</a:t>
            </a:r>
          </a:p>
        </p:txBody>
      </p:sp>
      <p:sp>
        <p:nvSpPr>
          <p:cNvPr id="8" name="TextBox 7"/>
          <p:cNvSpPr txBox="1"/>
          <p:nvPr/>
        </p:nvSpPr>
        <p:spPr>
          <a:xfrm>
            <a:off x="963073" y="3420999"/>
            <a:ext cx="1955235" cy="1245775"/>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the number of metrics a stat slide holds</a:t>
            </a:r>
          </a:p>
        </p:txBody>
      </p:sp>
      <p:sp>
        <p:nvSpPr>
          <p:cNvPr id="9" name="Rounded Rectangle 8"/>
          <p:cNvSpPr/>
          <p:nvPr/>
        </p:nvSpPr>
        <p:spPr>
          <a:xfrm>
            <a:off x="3455765" y="2192369"/>
            <a:ext cx="2492883" cy="2864644"/>
          </a:xfrm>
          <a:prstGeom prst="roundRect">
            <a:avLst>
              <a:gd name="adj" fmla="val 978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TextBox 9"/>
          <p:cNvSpPr txBox="1"/>
          <p:nvPr/>
        </p:nvSpPr>
        <p:spPr>
          <a:xfrm>
            <a:off x="3748373" y="2510409"/>
            <a:ext cx="1945767"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1</a:t>
            </a:r>
          </a:p>
        </p:txBody>
      </p:sp>
      <p:sp>
        <p:nvSpPr>
          <p:cNvPr id="11" name="TextBox 10"/>
          <p:cNvSpPr txBox="1"/>
          <p:nvPr/>
        </p:nvSpPr>
        <p:spPr>
          <a:xfrm>
            <a:off x="3748373" y="3420999"/>
            <a:ext cx="1955332" cy="1270254"/>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caption line per value, baselines aligned across the row</a:t>
            </a:r>
          </a:p>
        </p:txBody>
      </p:sp>
      <p:sp>
        <p:nvSpPr>
          <p:cNvPr id="12" name="Rounded Rectangle 11"/>
          <p:cNvSpPr/>
          <p:nvPr/>
        </p:nvSpPr>
        <p:spPr>
          <a:xfrm>
            <a:off x="6241256" y="2192369"/>
            <a:ext cx="2492692" cy="2864644"/>
          </a:xfrm>
          <a:prstGeom prst="roundRect">
            <a:avLst>
              <a:gd name="adj" fmla="val 978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6533864" y="2510409"/>
            <a:ext cx="1945672"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0</a:t>
            </a:r>
          </a:p>
        </p:txBody>
      </p:sp>
      <p:sp>
        <p:nvSpPr>
          <p:cNvPr id="14" name="TextBox 13"/>
          <p:cNvSpPr txBox="1"/>
          <p:nvPr/>
        </p:nvSpPr>
        <p:spPr>
          <a:xfrm>
            <a:off x="6533864" y="3420999"/>
            <a:ext cx="1955235" cy="1270254"/>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bullets — the numbers themselves are the payload</a:t>
            </a:r>
          </a:p>
        </p:txBody>
      </p:sp>
      <p:sp>
        <p:nvSpPr>
          <p:cNvPr id="15" name="Rounded Rectangle 14"/>
          <p:cNvSpPr/>
          <p:nvPr/>
        </p:nvSpPr>
        <p:spPr>
          <a:xfrm>
            <a:off x="9026557" y="2192369"/>
            <a:ext cx="2492883" cy="2864644"/>
          </a:xfrm>
          <a:prstGeom prst="roundRect">
            <a:avLst>
              <a:gd name="adj" fmla="val 978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9319165" y="2510409"/>
            <a:ext cx="1945767" cy="819150"/>
          </a:xfrm>
          <a:prstGeom prst="rect">
            <a:avLst/>
          </a:prstGeom>
          <a:noFill/>
        </p:spPr>
        <p:txBody>
          <a:bodyPr wrap="none" anchor="ctr" lIns="0" tIns="0" rIns="0" bIns="0">
            <a:noAutofit/>
          </a:bodyPr>
          <a:lstStyle/>
          <a:p>
            <a:pPr algn="l">
              <a:lnSpc>
                <a:spcPts val="5760"/>
              </a:lnSpc>
              <a:spcBef>
                <a:spcPts val="0"/>
              </a:spcBef>
              <a:spcAft>
                <a:spcPts val="0"/>
              </a:spcAft>
            </a:pPr>
            <a:r>
              <a:rPr sz="5760" b="1" i="0" u="none" spc="-116">
                <a:solidFill>
                  <a:srgbClr val="DA1B2E"/>
                </a:solidFill>
                <a:latin typeface="Arial"/>
              </a:rPr>
              <a:t>4×</a:t>
            </a:r>
          </a:p>
        </p:txBody>
      </p:sp>
      <p:sp>
        <p:nvSpPr>
          <p:cNvPr id="17" name="TextBox 16"/>
          <p:cNvSpPr txBox="1"/>
          <p:nvPr/>
        </p:nvSpPr>
        <p:spPr>
          <a:xfrm>
            <a:off x="9319165" y="3420999"/>
            <a:ext cx="1955332" cy="1245775"/>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the fourth slot, wrapping to a second row</a:t>
            </a:r>
          </a:p>
        </p:txBody>
      </p:sp>
      <p:sp>
        <p:nvSpPr>
          <p:cNvPr id="18" name="Rounded Rectangle 17"/>
          <p:cNvSpPr/>
          <p:nvPr/>
        </p:nvSpPr>
        <p:spPr>
          <a:xfrm>
            <a:off x="670465" y="5736622"/>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Rectangle 18"/>
          <p:cNvSpPr/>
          <p:nvPr/>
        </p:nvSpPr>
        <p:spPr>
          <a:xfrm>
            <a:off x="670465" y="5736622"/>
            <a:ext cx="57150" cy="511778"/>
          </a:xfrm>
          <a:prstGeom prst="rect">
            <a:avLst/>
          </a:prstGeom>
          <a:solidFill>
            <a:srgbClr val="6E666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0" name="Picture 19" descr="image.png"/>
          <p:cNvPicPr>
            <a:picLocks noChangeAspect="1"/>
          </p:cNvPicPr>
          <p:nvPr/>
        </p:nvPicPr>
        <p:blipFill>
          <a:blip r:embed="rId2"/>
          <a:stretch>
            <a:fillRect/>
          </a:stretch>
        </p:blipFill>
        <p:spPr>
          <a:xfrm>
            <a:off x="886016" y="5882735"/>
            <a:ext cx="243745" cy="243745"/>
          </a:xfrm>
          <a:prstGeom prst="rect">
            <a:avLst/>
          </a:prstGeom>
        </p:spPr>
      </p:pic>
      <p:sp>
        <p:nvSpPr>
          <p:cNvPr id="21" name="TextBox 20"/>
          <p:cNvSpPr txBox="1"/>
          <p:nvPr/>
        </p:nvSpPr>
        <p:spPr>
          <a:xfrm>
            <a:off x="1251680" y="5877496"/>
            <a:ext cx="3905250"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1F1E1E"/>
                </a:solidFill>
                <a:latin typeface="Arial"/>
              </a:rPr>
              <a:t>A hero single metric goes on big-number instead.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content-image: text beside an image</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Each fact leads with a bold label the renderer bolds for you:</a:t>
            </a:r>
          </a:p>
        </p:txBody>
      </p:sp>
      <p:sp>
        <p:nvSpPr>
          <p:cNvPr id="6" name="Oval 5"/>
          <p:cNvSpPr/>
          <p:nvPr/>
        </p:nvSpPr>
        <p:spPr>
          <a:xfrm>
            <a:off x="670465" y="2350770"/>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3073" y="2260092"/>
            <a:ext cx="5010381" cy="1135285"/>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One image</a:t>
            </a:r>
            <a:r>
              <a:rPr sz="2400" b="0" i="0" u="none">
                <a:solidFill>
                  <a:srgbClr val="3B3535"/>
                </a:solidFill>
                <a:latin typeface="Arial"/>
              </a:rPr>
              <a:t>: supports one to three short facts.</a:t>
            </a:r>
          </a:p>
        </p:txBody>
      </p:sp>
      <p:sp>
        <p:nvSpPr>
          <p:cNvPr id="8" name="Oval 7"/>
          <p:cNvSpPr/>
          <p:nvPr/>
        </p:nvSpPr>
        <p:spPr>
          <a:xfrm>
            <a:off x="670465" y="3289459"/>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963073" y="3198781"/>
            <a:ext cx="5010381" cy="1135285"/>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Aspect preserved</a:t>
            </a:r>
            <a:r>
              <a:rPr sz="2400" b="0" i="0" u="none">
                <a:solidFill>
                  <a:srgbClr val="3B3535"/>
                </a:solidFill>
                <a:latin typeface="Arial"/>
              </a:rPr>
              <a:t>: the image is never cropped or forced into a box.</a:t>
            </a:r>
          </a:p>
        </p:txBody>
      </p:sp>
      <p:sp>
        <p:nvSpPr>
          <p:cNvPr id="10" name="Oval 9"/>
          <p:cNvSpPr/>
          <p:nvPr/>
        </p:nvSpPr>
        <p:spPr>
          <a:xfrm>
            <a:off x="670465" y="4228052"/>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963073" y="4137470"/>
            <a:ext cx="5010381" cy="773240"/>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Three layouts</a:t>
            </a:r>
            <a:r>
              <a:rPr sz="2400" b="0" i="0" u="none">
                <a:solidFill>
                  <a:srgbClr val="3B3535"/>
                </a:solidFill>
                <a:latin typeface="Arial"/>
              </a:rPr>
              <a:t>: text-left, shown here, plus image-left and image-top.</a:t>
            </a:r>
          </a:p>
        </p:txBody>
      </p:sp>
      <p:sp>
        <p:nvSpPr>
          <p:cNvPr id="12" name="Rounded Rectangle 11"/>
          <p:cNvSpPr/>
          <p:nvPr/>
        </p:nvSpPr>
        <p:spPr>
          <a:xfrm>
            <a:off x="670465" y="5736622"/>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ectangle 12"/>
          <p:cNvSpPr/>
          <p:nvPr/>
        </p:nvSpPr>
        <p:spPr>
          <a:xfrm>
            <a:off x="670465" y="5736622"/>
            <a:ext cx="57150" cy="511778"/>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2"/>
          <a:stretch>
            <a:fillRect/>
          </a:stretch>
        </p:blipFill>
        <p:spPr>
          <a:xfrm>
            <a:off x="886016" y="5882735"/>
            <a:ext cx="243745" cy="243745"/>
          </a:xfrm>
          <a:prstGeom prst="rect">
            <a:avLst/>
          </a:prstGeom>
        </p:spPr>
      </p:pic>
      <p:sp>
        <p:nvSpPr>
          <p:cNvPr id="15" name="TextBox 14"/>
          <p:cNvSpPr txBox="1"/>
          <p:nvPr/>
        </p:nvSpPr>
        <p:spPr>
          <a:xfrm>
            <a:off x="1251680" y="5877496"/>
            <a:ext cx="5635942"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Never cropped</a:t>
            </a:r>
            <a:r>
              <a:rPr sz="1402" b="0" i="0" u="none">
                <a:solidFill>
                  <a:srgbClr val="1F1E1E"/>
                </a:solidFill>
                <a:latin typeface="Arial"/>
              </a:rPr>
              <a:t>: the tall portrait must show its full height, edge to edge.</a:t>
            </a:r>
          </a:p>
        </p:txBody>
      </p:sp>
      <p:sp>
        <p:nvSpPr>
          <p:cNvPr id="16" name="Rounded Rectangle 15"/>
          <p:cNvSpPr/>
          <p:nvPr/>
        </p:nvSpPr>
        <p:spPr>
          <a:xfrm>
            <a:off x="6309265" y="2192369"/>
            <a:ext cx="5212270" cy="3251644"/>
          </a:xfrm>
          <a:prstGeom prst="roundRect">
            <a:avLst>
              <a:gd name="adj" fmla="val 524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7" name="Picture 16" descr="image.png"/>
          <p:cNvPicPr>
            <a:picLocks noChangeAspect="1"/>
          </p:cNvPicPr>
          <p:nvPr/>
        </p:nvPicPr>
        <p:blipFill>
          <a:blip r:embed="rId3"/>
          <a:stretch>
            <a:fillRect/>
          </a:stretch>
        </p:blipFill>
        <p:spPr>
          <a:xfrm>
            <a:off x="7703153" y="2201894"/>
            <a:ext cx="2424398" cy="3232594"/>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content-image: image-left mirrors the columns</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Same slide, image first — the enumeration is untouched:</a:t>
            </a:r>
          </a:p>
        </p:txBody>
      </p:sp>
      <p:sp>
        <p:nvSpPr>
          <p:cNvPr id="6" name="Oval 5"/>
          <p:cNvSpPr/>
          <p:nvPr/>
        </p:nvSpPr>
        <p:spPr>
          <a:xfrm>
            <a:off x="6309265" y="2903792"/>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6601873" y="2813113"/>
            <a:ext cx="5010381" cy="1135285"/>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Columns swap</a:t>
            </a:r>
            <a:r>
              <a:rPr sz="2400" b="0" i="0" u="none">
                <a:solidFill>
                  <a:srgbClr val="3B3535"/>
                </a:solidFill>
                <a:latin typeface="Arial"/>
              </a:rPr>
              <a:t>: the image takes the left half, the text the right.</a:t>
            </a:r>
          </a:p>
        </p:txBody>
      </p:sp>
      <p:sp>
        <p:nvSpPr>
          <p:cNvPr id="8" name="Oval 7"/>
          <p:cNvSpPr/>
          <p:nvPr/>
        </p:nvSpPr>
        <p:spPr>
          <a:xfrm>
            <a:off x="6309265" y="3842480"/>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6601873" y="3751802"/>
            <a:ext cx="5010381" cy="1531525"/>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Enumeration unchanged</a:t>
            </a:r>
            <a:r>
              <a:rPr sz="2400" b="0" i="0" u="none">
                <a:solidFill>
                  <a:srgbClr val="3B3535"/>
                </a:solidFill>
                <a:latin typeface="Arial"/>
              </a:rPr>
              <a:t>: facts keep their order, left-edge dots and left alignment.</a:t>
            </a:r>
          </a:p>
        </p:txBody>
      </p:sp>
      <p:sp>
        <p:nvSpPr>
          <p:cNvPr id="10" name="Oval 9"/>
          <p:cNvSpPr/>
          <p:nvPr/>
        </p:nvSpPr>
        <p:spPr>
          <a:xfrm>
            <a:off x="6309265" y="5177314"/>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6601873" y="5086636"/>
            <a:ext cx="5010381" cy="1169480"/>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Never cropped</a:t>
            </a:r>
            <a:r>
              <a:rPr sz="2400" b="0" i="0" u="none">
                <a:solidFill>
                  <a:srgbClr val="3B3535"/>
                </a:solidFill>
                <a:latin typeface="Arial"/>
              </a:rPr>
              <a:t>: aspect is preserved here exactly as in text-left.</a:t>
            </a:r>
          </a:p>
        </p:txBody>
      </p:sp>
      <p:sp>
        <p:nvSpPr>
          <p:cNvPr id="12" name="Rounded Rectangle 11"/>
          <p:cNvSpPr/>
          <p:nvPr/>
        </p:nvSpPr>
        <p:spPr>
          <a:xfrm>
            <a:off x="670465" y="2745391"/>
            <a:ext cx="5212080" cy="3503009"/>
          </a:xfrm>
          <a:prstGeom prst="roundRect">
            <a:avLst>
              <a:gd name="adj" fmla="val 487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image.png"/>
          <p:cNvPicPr>
            <a:picLocks noChangeAspect="1"/>
          </p:cNvPicPr>
          <p:nvPr/>
        </p:nvPicPr>
        <p:blipFill>
          <a:blip r:embed="rId2"/>
          <a:stretch>
            <a:fillRect/>
          </a:stretch>
        </p:blipFill>
        <p:spPr>
          <a:xfrm>
            <a:off x="679990" y="3036379"/>
            <a:ext cx="5192935" cy="2921032"/>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content-image: image-top layout for short text</a:t>
            </a:r>
          </a:p>
        </p:txBody>
      </p:sp>
      <p:sp>
        <p:nvSpPr>
          <p:cNvPr id="5" name="Rounded Rectangle 4"/>
          <p:cNvSpPr/>
          <p:nvPr/>
        </p:nvSpPr>
        <p:spPr>
          <a:xfrm>
            <a:off x="670465" y="5046916"/>
            <a:ext cx="10851070" cy="1201484"/>
          </a:xfrm>
          <a:prstGeom prst="roundRect">
            <a:avLst>
              <a:gd name="adj" fmla="val 811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0465" y="5046916"/>
            <a:ext cx="66675" cy="1201484"/>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80884" y="5297424"/>
            <a:ext cx="10468089" cy="773240"/>
          </a:xfrm>
          <a:prstGeom prst="rect">
            <a:avLst/>
          </a:prstGeom>
          <a:noFill/>
        </p:spPr>
        <p:txBody>
          <a:bodyPr wrap="square" anchor="ctr" lIns="0" tIns="0" rIns="0" bIns="0">
            <a:noAutofit/>
          </a:bodyPr>
          <a:lstStyle/>
          <a:p>
            <a:pPr algn="l">
              <a:lnSpc>
                <a:spcPts val="3120"/>
              </a:lnSpc>
              <a:spcBef>
                <a:spcPts val="0"/>
              </a:spcBef>
              <a:spcAft>
                <a:spcPts val="0"/>
              </a:spcAft>
            </a:pPr>
            <a:r>
              <a:rPr sz="2400" b="0" i="0" u="none">
                <a:solidFill>
                  <a:srgbClr val="3B3535"/>
                </a:solidFill>
                <a:latin typeface="Arial"/>
              </a:rPr>
              <a:t>When the text is just a line, the image-top layout lets the image dominate the slide.</a:t>
            </a:r>
          </a:p>
        </p:txBody>
      </p:sp>
      <p:sp>
        <p:nvSpPr>
          <p:cNvPr id="8" name="Rounded Rectangle 7"/>
          <p:cNvSpPr/>
          <p:nvPr/>
        </p:nvSpPr>
        <p:spPr>
          <a:xfrm>
            <a:off x="670465" y="2328577"/>
            <a:ext cx="10851070" cy="2425732"/>
          </a:xfrm>
          <a:prstGeom prst="roundRect">
            <a:avLst>
              <a:gd name="adj" fmla="val 7036"/>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9" name="Picture 8" descr="image.png"/>
          <p:cNvPicPr>
            <a:picLocks noChangeAspect="1"/>
          </p:cNvPicPr>
          <p:nvPr/>
        </p:nvPicPr>
        <p:blipFill>
          <a:blip r:embed="rId2"/>
          <a:stretch>
            <a:fillRect/>
          </a:stretch>
        </p:blipFill>
        <p:spPr>
          <a:xfrm>
            <a:off x="3956780" y="2338102"/>
            <a:ext cx="4278535" cy="2406682"/>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image-full: one image, edge to edge</a:t>
            </a:r>
          </a:p>
        </p:txBody>
      </p:sp>
      <p:pic>
        <p:nvPicPr>
          <p:cNvPr id="5" name="Picture 4" descr="image.png"/>
          <p:cNvPicPr>
            <a:picLocks noChangeAspect="1"/>
          </p:cNvPicPr>
          <p:nvPr/>
        </p:nvPicPr>
        <p:blipFill>
          <a:blip r:embed="rId2"/>
          <a:stretch>
            <a:fillRect/>
          </a:stretch>
        </p:blipFill>
        <p:spPr>
          <a:xfrm>
            <a:off x="0" y="1678019"/>
            <a:ext cx="12192000" cy="5179981"/>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483804"/>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image-full: with a line of framing above the image</a:t>
            </a:r>
          </a:p>
        </p:txBody>
      </p:sp>
      <p:sp>
        <p:nvSpPr>
          <p:cNvPr id="5" name="TextBox 4"/>
          <p:cNvSpPr txBox="1"/>
          <p:nvPr/>
        </p:nvSpPr>
        <p:spPr>
          <a:xfrm>
            <a:off x="670465" y="2138934"/>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An optional lead sits under the title; the image still takes everything below it.</a:t>
            </a:r>
          </a:p>
        </p:txBody>
      </p:sp>
      <p:pic>
        <p:nvPicPr>
          <p:cNvPr id="6" name="Picture 5" descr="image.png"/>
          <p:cNvPicPr>
            <a:picLocks noChangeAspect="1"/>
          </p:cNvPicPr>
          <p:nvPr/>
        </p:nvPicPr>
        <p:blipFill>
          <a:blip r:embed="rId2"/>
          <a:stretch>
            <a:fillRect/>
          </a:stretch>
        </p:blipFill>
        <p:spPr>
          <a:xfrm>
            <a:off x="0" y="2599277"/>
            <a:ext cx="12192000" cy="4258723"/>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content-image: the empty-text-column guard</a:t>
            </a:r>
          </a:p>
        </p:txBody>
      </p:sp>
      <p:sp>
        <p:nvSpPr>
          <p:cNvPr id="5" name="Rounded Rectangle 4"/>
          <p:cNvSpPr/>
          <p:nvPr/>
        </p:nvSpPr>
        <p:spPr>
          <a:xfrm>
            <a:off x="670465" y="5524214"/>
            <a:ext cx="10851070" cy="724186"/>
          </a:xfrm>
          <a:prstGeom prst="roundRect">
            <a:avLst>
              <a:gd name="adj" fmla="val 1346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0465" y="5524214"/>
            <a:ext cx="57150" cy="724186"/>
          </a:xfrm>
          <a:prstGeom prst="rect">
            <a:avLst/>
          </a:prstGeom>
          <a:solidFill>
            <a:srgbClr val="6E666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886016" y="5670328"/>
            <a:ext cx="243745" cy="243745"/>
          </a:xfrm>
          <a:prstGeom prst="rect">
            <a:avLst/>
          </a:prstGeom>
        </p:spPr>
      </p:pic>
      <p:sp>
        <p:nvSpPr>
          <p:cNvPr id="8" name="TextBox 7"/>
          <p:cNvSpPr txBox="1"/>
          <p:nvPr/>
        </p:nvSpPr>
        <p:spPr>
          <a:xfrm>
            <a:off x="1251680" y="5665184"/>
            <a:ext cx="10282273" cy="461391"/>
          </a:xfrm>
          <a:prstGeom prst="rect">
            <a:avLst/>
          </a:prstGeom>
          <a:noFill/>
        </p:spPr>
        <p:txBody>
          <a:bodyPr wrap="square" anchor="ctr" lIns="0" tIns="0" rIns="0" bIns="0">
            <a:noAutofit/>
          </a:bodyPr>
          <a:lstStyle/>
          <a:p>
            <a:pPr algn="l">
              <a:lnSpc>
                <a:spcPts val="1892"/>
              </a:lnSpc>
              <a:spcBef>
                <a:spcPts val="0"/>
              </a:spcBef>
              <a:spcAft>
                <a:spcPts val="0"/>
              </a:spcAft>
            </a:pPr>
            <a:r>
              <a:rPr sz="1402" b="1" i="0" u="none">
                <a:solidFill>
                  <a:srgbClr val="1F1E1E"/>
                </a:solidFill>
                <a:latin typeface="Arial"/>
              </a:rPr>
              <a:t>Guard, not a shape to author</a:t>
            </a:r>
            <a:r>
              <a:rPr sz="1402" b="0" i="0" u="none">
                <a:solidFill>
                  <a:srgbClr val="1F1E1E"/>
                </a:solidFill>
                <a:latin typeface="Arial"/>
              </a:rPr>
              <a:t>: a bare image here still drops the text column instead of projecting an empty one — new models use image-full.</a:t>
            </a:r>
          </a:p>
        </p:txBody>
      </p:sp>
      <p:sp>
        <p:nvSpPr>
          <p:cNvPr id="9" name="Rounded Rectangle 8"/>
          <p:cNvSpPr/>
          <p:nvPr/>
        </p:nvSpPr>
        <p:spPr>
          <a:xfrm>
            <a:off x="670465" y="1775555"/>
            <a:ext cx="10851070" cy="3456051"/>
          </a:xfrm>
          <a:prstGeom prst="roundRect">
            <a:avLst>
              <a:gd name="adj" fmla="val 4938"/>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3040856" y="1785080"/>
            <a:ext cx="6110288" cy="3437001"/>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figures: a set where each item has its own image</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Three or more figure cards, each an image with a label and a line:</a:t>
            </a:r>
          </a:p>
        </p:txBody>
      </p:sp>
      <p:sp>
        <p:nvSpPr>
          <p:cNvPr id="6" name="Rounded Rectangle 5"/>
          <p:cNvSpPr/>
          <p:nvPr/>
        </p:nvSpPr>
        <p:spPr>
          <a:xfrm>
            <a:off x="670465" y="2745391"/>
            <a:ext cx="3437477" cy="1941957"/>
          </a:xfrm>
          <a:prstGeom prst="roundRect">
            <a:avLst>
              <a:gd name="adj" fmla="val 878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679990" y="2754916"/>
            <a:ext cx="3418332" cy="1922907"/>
          </a:xfrm>
          <a:prstGeom prst="rect">
            <a:avLst/>
          </a:prstGeom>
        </p:spPr>
      </p:pic>
      <p:sp>
        <p:nvSpPr>
          <p:cNvPr id="8" name="TextBox 7"/>
          <p:cNvSpPr txBox="1"/>
          <p:nvPr/>
        </p:nvSpPr>
        <p:spPr>
          <a:xfrm>
            <a:off x="670465" y="4863274"/>
            <a:ext cx="3475577" cy="352425"/>
          </a:xfrm>
          <a:prstGeom prst="rect">
            <a:avLst/>
          </a:prstGeom>
          <a:noFill/>
        </p:spPr>
        <p:txBody>
          <a:bodyPr wrap="none" anchor="ctr" lIns="0" tIns="0" rIns="0" bIns="0">
            <a:noAutofit/>
          </a:bodyPr>
          <a:lstStyle/>
          <a:p>
            <a:pPr algn="l">
              <a:lnSpc>
                <a:spcPts val="2496"/>
              </a:lnSpc>
              <a:spcBef>
                <a:spcPts val="0"/>
              </a:spcBef>
              <a:spcAft>
                <a:spcPts val="0"/>
              </a:spcAft>
            </a:pPr>
            <a:r>
              <a:rPr sz="2496" b="1" i="0" u="none">
                <a:solidFill>
                  <a:srgbClr val="1F1E1E"/>
                </a:solidFill>
                <a:latin typeface="Arial"/>
              </a:rPr>
              <a:t>Image per item</a:t>
            </a:r>
          </a:p>
        </p:txBody>
      </p:sp>
      <p:sp>
        <p:nvSpPr>
          <p:cNvPr id="9" name="TextBox 8"/>
          <p:cNvSpPr txBox="1"/>
          <p:nvPr/>
        </p:nvSpPr>
        <p:spPr>
          <a:xfrm>
            <a:off x="670465" y="5330762"/>
            <a:ext cx="3508089" cy="630365"/>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This is what separates figures from concept-breakdown.</a:t>
            </a:r>
          </a:p>
        </p:txBody>
      </p:sp>
      <p:sp>
        <p:nvSpPr>
          <p:cNvPr id="10" name="Rounded Rectangle 9"/>
          <p:cNvSpPr/>
          <p:nvPr/>
        </p:nvSpPr>
        <p:spPr>
          <a:xfrm>
            <a:off x="4376166" y="2745391"/>
            <a:ext cx="3437477" cy="1941957"/>
          </a:xfrm>
          <a:prstGeom prst="roundRect">
            <a:avLst>
              <a:gd name="adj" fmla="val 878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4385691" y="2754916"/>
            <a:ext cx="3418332" cy="1922907"/>
          </a:xfrm>
          <a:prstGeom prst="rect">
            <a:avLst/>
          </a:prstGeom>
        </p:spPr>
      </p:pic>
      <p:sp>
        <p:nvSpPr>
          <p:cNvPr id="12" name="TextBox 11"/>
          <p:cNvSpPr txBox="1"/>
          <p:nvPr/>
        </p:nvSpPr>
        <p:spPr>
          <a:xfrm>
            <a:off x="4376166" y="4863274"/>
            <a:ext cx="3475577" cy="352425"/>
          </a:xfrm>
          <a:prstGeom prst="rect">
            <a:avLst/>
          </a:prstGeom>
          <a:noFill/>
        </p:spPr>
        <p:txBody>
          <a:bodyPr wrap="none" anchor="ctr" lIns="0" tIns="0" rIns="0" bIns="0">
            <a:noAutofit/>
          </a:bodyPr>
          <a:lstStyle/>
          <a:p>
            <a:pPr algn="l">
              <a:lnSpc>
                <a:spcPts val="2496"/>
              </a:lnSpc>
              <a:spcBef>
                <a:spcPts val="0"/>
              </a:spcBef>
              <a:spcAft>
                <a:spcPts val="0"/>
              </a:spcAft>
            </a:pPr>
            <a:r>
              <a:rPr sz="2496" b="1" i="0" u="none">
                <a:solidFill>
                  <a:srgbClr val="1F1E1E"/>
                </a:solidFill>
                <a:latin typeface="Arial"/>
              </a:rPr>
              <a:t>Uniform crop</a:t>
            </a:r>
          </a:p>
        </p:txBody>
      </p:sp>
      <p:sp>
        <p:nvSpPr>
          <p:cNvPr id="13" name="TextBox 12"/>
          <p:cNvSpPr txBox="1"/>
          <p:nvPr/>
        </p:nvSpPr>
        <p:spPr>
          <a:xfrm>
            <a:off x="4376166" y="5330762"/>
            <a:ext cx="3508089" cy="630365"/>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Every figure shares the same size and alignment.</a:t>
            </a:r>
          </a:p>
        </p:txBody>
      </p:sp>
      <p:sp>
        <p:nvSpPr>
          <p:cNvPr id="14" name="Rounded Rectangle 13"/>
          <p:cNvSpPr/>
          <p:nvPr/>
        </p:nvSpPr>
        <p:spPr>
          <a:xfrm>
            <a:off x="8081772" y="2745391"/>
            <a:ext cx="3437668" cy="1941957"/>
          </a:xfrm>
          <a:prstGeom prst="roundRect">
            <a:avLst>
              <a:gd name="adj" fmla="val 878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2"/>
          <a:stretch>
            <a:fillRect/>
          </a:stretch>
        </p:blipFill>
        <p:spPr>
          <a:xfrm>
            <a:off x="8091488" y="2754916"/>
            <a:ext cx="3418332" cy="1922907"/>
          </a:xfrm>
          <a:prstGeom prst="rect">
            <a:avLst/>
          </a:prstGeom>
        </p:spPr>
      </p:pic>
      <p:sp>
        <p:nvSpPr>
          <p:cNvPr id="16" name="TextBox 15"/>
          <p:cNvSpPr txBox="1"/>
          <p:nvPr/>
        </p:nvSpPr>
        <p:spPr>
          <a:xfrm>
            <a:off x="8081772" y="4863274"/>
            <a:ext cx="3475768" cy="352425"/>
          </a:xfrm>
          <a:prstGeom prst="rect">
            <a:avLst/>
          </a:prstGeom>
          <a:noFill/>
        </p:spPr>
        <p:txBody>
          <a:bodyPr wrap="none" anchor="ctr" lIns="0" tIns="0" rIns="0" bIns="0">
            <a:noAutofit/>
          </a:bodyPr>
          <a:lstStyle/>
          <a:p>
            <a:pPr algn="l">
              <a:lnSpc>
                <a:spcPts val="2496"/>
              </a:lnSpc>
              <a:spcBef>
                <a:spcPts val="0"/>
              </a:spcBef>
              <a:spcAft>
                <a:spcPts val="0"/>
              </a:spcAft>
            </a:pPr>
            <a:r>
              <a:rPr sz="2496" b="1" i="0" u="none">
                <a:solidFill>
                  <a:srgbClr val="1F1E1E"/>
                </a:solidFill>
                <a:latin typeface="Arial"/>
              </a:rPr>
              <a:t>Label and line</a:t>
            </a:r>
          </a:p>
        </p:txBody>
      </p:sp>
      <p:sp>
        <p:nvSpPr>
          <p:cNvPr id="17" name="TextBox 16"/>
          <p:cNvSpPr txBox="1"/>
          <p:nvPr/>
        </p:nvSpPr>
        <p:spPr>
          <a:xfrm>
            <a:off x="8081772" y="5330762"/>
            <a:ext cx="3508283" cy="630365"/>
          </a:xfrm>
          <a:prstGeom prst="rect">
            <a:avLst/>
          </a:prstGeom>
          <a:noFill/>
        </p:spPr>
        <p:txBody>
          <a:bodyPr wrap="square" anchor="ctr" lIns="0" tIns="0" rIns="0" bIns="0">
            <a:noAutofit/>
          </a:bodyPr>
          <a:lstStyle/>
          <a:p>
            <a:pPr algn="l">
              <a:lnSpc>
                <a:spcPts val="2520"/>
              </a:lnSpc>
              <a:spcBef>
                <a:spcPts val="0"/>
              </a:spcBef>
              <a:spcAft>
                <a:spcPts val="0"/>
              </a:spcAft>
            </a:pPr>
            <a:r>
              <a:rPr sz="2016" b="0" i="0" u="none">
                <a:solidFill>
                  <a:srgbClr val="3B3535"/>
                </a:solidFill>
                <a:latin typeface="Arial"/>
              </a:rPr>
              <a:t>A short caption sits under each image.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image-grid: four or more images as one composite</a:t>
            </a:r>
          </a:p>
        </p:txBody>
      </p:sp>
      <p:sp>
        <p:nvSpPr>
          <p:cNvPr id="5" name="Rounded Rectangle 4"/>
          <p:cNvSpPr/>
          <p:nvPr/>
        </p:nvSpPr>
        <p:spPr>
          <a:xfrm>
            <a:off x="670465" y="2328577"/>
            <a:ext cx="3565112" cy="2008251"/>
          </a:xfrm>
          <a:prstGeom prst="roundRect">
            <a:avLst>
              <a:gd name="adj" fmla="val 849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673894" y="2331910"/>
            <a:ext cx="3558350" cy="2001583"/>
          </a:xfrm>
          <a:prstGeom prst="rect">
            <a:avLst/>
          </a:prstGeom>
        </p:spPr>
      </p:pic>
      <p:sp>
        <p:nvSpPr>
          <p:cNvPr id="7" name="Rounded Rectangle 6"/>
          <p:cNvSpPr/>
          <p:nvPr/>
        </p:nvSpPr>
        <p:spPr>
          <a:xfrm>
            <a:off x="4312348" y="2328577"/>
            <a:ext cx="3565112" cy="2008251"/>
          </a:xfrm>
          <a:prstGeom prst="roundRect">
            <a:avLst>
              <a:gd name="adj" fmla="val 849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2"/>
          <a:stretch>
            <a:fillRect/>
          </a:stretch>
        </p:blipFill>
        <p:spPr>
          <a:xfrm>
            <a:off x="4315778" y="2331910"/>
            <a:ext cx="3558350" cy="2001583"/>
          </a:xfrm>
          <a:prstGeom prst="rect">
            <a:avLst/>
          </a:prstGeom>
        </p:spPr>
      </p:pic>
      <p:sp>
        <p:nvSpPr>
          <p:cNvPr id="9" name="Rounded Rectangle 8"/>
          <p:cNvSpPr/>
          <p:nvPr/>
        </p:nvSpPr>
        <p:spPr>
          <a:xfrm>
            <a:off x="7954328" y="2328577"/>
            <a:ext cx="3565112" cy="2008251"/>
          </a:xfrm>
          <a:prstGeom prst="roundRect">
            <a:avLst>
              <a:gd name="adj" fmla="val 8499"/>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2"/>
          <a:stretch>
            <a:fillRect/>
          </a:stretch>
        </p:blipFill>
        <p:spPr>
          <a:xfrm>
            <a:off x="7957661" y="2331910"/>
            <a:ext cx="3558350" cy="2001583"/>
          </a:xfrm>
          <a:prstGeom prst="rect">
            <a:avLst/>
          </a:prstGeom>
        </p:spPr>
      </p:pic>
      <p:sp>
        <p:nvSpPr>
          <p:cNvPr id="11" name="Rounded Rectangle 10"/>
          <p:cNvSpPr/>
          <p:nvPr/>
        </p:nvSpPr>
        <p:spPr>
          <a:xfrm>
            <a:off x="670465" y="4413599"/>
            <a:ext cx="3565112" cy="1834801"/>
          </a:xfrm>
          <a:prstGeom prst="roundRect">
            <a:avLst>
              <a:gd name="adj" fmla="val 930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2" name="Picture 11" descr="image.png"/>
          <p:cNvPicPr>
            <a:picLocks noChangeAspect="1"/>
          </p:cNvPicPr>
          <p:nvPr/>
        </p:nvPicPr>
        <p:blipFill>
          <a:blip r:embed="rId3"/>
          <a:stretch>
            <a:fillRect/>
          </a:stretch>
        </p:blipFill>
        <p:spPr>
          <a:xfrm>
            <a:off x="673894" y="4416933"/>
            <a:ext cx="3558350" cy="1831467"/>
          </a:xfrm>
          <a:prstGeom prst="rect">
            <a:avLst/>
          </a:prstGeom>
        </p:spPr>
      </p:pic>
      <p:sp>
        <p:nvSpPr>
          <p:cNvPr id="13" name="Rounded Rectangle 12"/>
          <p:cNvSpPr/>
          <p:nvPr/>
        </p:nvSpPr>
        <p:spPr>
          <a:xfrm>
            <a:off x="4312348" y="4413599"/>
            <a:ext cx="3565112" cy="1834801"/>
          </a:xfrm>
          <a:prstGeom prst="roundRect">
            <a:avLst>
              <a:gd name="adj" fmla="val 930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3"/>
          <a:stretch>
            <a:fillRect/>
          </a:stretch>
        </p:blipFill>
        <p:spPr>
          <a:xfrm>
            <a:off x="4315778" y="4416933"/>
            <a:ext cx="3558350" cy="1831467"/>
          </a:xfrm>
          <a:prstGeom prst="rect">
            <a:avLst/>
          </a:prstGeom>
        </p:spPr>
      </p:pic>
      <p:sp>
        <p:nvSpPr>
          <p:cNvPr id="15" name="Rounded Rectangle 14"/>
          <p:cNvSpPr/>
          <p:nvPr/>
        </p:nvSpPr>
        <p:spPr>
          <a:xfrm>
            <a:off x="7954328" y="4413599"/>
            <a:ext cx="3565112" cy="1834801"/>
          </a:xfrm>
          <a:prstGeom prst="roundRect">
            <a:avLst>
              <a:gd name="adj" fmla="val 930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6" name="Picture 15" descr="image.png"/>
          <p:cNvPicPr>
            <a:picLocks noChangeAspect="1"/>
          </p:cNvPicPr>
          <p:nvPr/>
        </p:nvPicPr>
        <p:blipFill>
          <a:blip r:embed="rId3"/>
          <a:stretch>
            <a:fillRect/>
          </a:stretch>
        </p:blipFill>
        <p:spPr>
          <a:xfrm>
            <a:off x="7957661" y="4416933"/>
            <a:ext cx="3558350" cy="1831467"/>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content+cards+image: cards beside one image</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 short lead sits above the cards (regression guard for the lead field).</a:t>
            </a:r>
          </a:p>
        </p:txBody>
      </p:sp>
      <p:sp>
        <p:nvSpPr>
          <p:cNvPr id="6" name="Rounded Rectangle 5"/>
          <p:cNvSpPr/>
          <p:nvPr/>
        </p:nvSpPr>
        <p:spPr>
          <a:xfrm>
            <a:off x="670465" y="2745391"/>
            <a:ext cx="5457920" cy="1649730"/>
          </a:xfrm>
          <a:prstGeom prst="roundRect">
            <a:avLst>
              <a:gd name="adj" fmla="val 1478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930878" y="3005804"/>
            <a:ext cx="591884" cy="591884"/>
          </a:xfrm>
          <a:prstGeom prst="rect">
            <a:avLst/>
          </a:prstGeom>
        </p:spPr>
      </p:pic>
      <p:sp>
        <p:nvSpPr>
          <p:cNvPr id="8" name="TextBox 7"/>
          <p:cNvSpPr txBox="1"/>
          <p:nvPr/>
        </p:nvSpPr>
        <p:spPr>
          <a:xfrm>
            <a:off x="1688402" y="2996565"/>
            <a:ext cx="4217670" cy="388525"/>
          </a:xfrm>
          <a:prstGeom prst="rect">
            <a:avLst/>
          </a:prstGeom>
          <a:noFill/>
        </p:spPr>
        <p:txBody>
          <a:bodyPr wrap="none" anchor="ctr" lIns="0" tIns="0" rIns="0" bIns="0">
            <a:noAutofit/>
          </a:bodyPr>
          <a:lstStyle/>
          <a:p>
            <a:pPr algn="l">
              <a:lnSpc>
                <a:spcPts val="2970"/>
              </a:lnSpc>
              <a:spcBef>
                <a:spcPts val="0"/>
              </a:spcBef>
              <a:spcAft>
                <a:spcPts val="0"/>
              </a:spcAft>
            </a:pPr>
            <a:r>
              <a:rPr sz="2700" b="1" i="0" u="none">
                <a:solidFill>
                  <a:srgbClr val="1F1E1E"/>
                </a:solidFill>
                <a:latin typeface="Arial"/>
              </a:rPr>
              <a:t>Cards on one side</a:t>
            </a:r>
          </a:p>
        </p:txBody>
      </p:sp>
      <p:sp>
        <p:nvSpPr>
          <p:cNvPr id="9" name="TextBox 8"/>
          <p:cNvSpPr txBox="1"/>
          <p:nvPr/>
        </p:nvSpPr>
        <p:spPr>
          <a:xfrm>
            <a:off x="1688402" y="3461099"/>
            <a:ext cx="4261314" cy="665893"/>
          </a:xfrm>
          <a:prstGeom prst="rect">
            <a:avLst/>
          </a:prstGeom>
          <a:noFill/>
        </p:spPr>
        <p:txBody>
          <a:bodyPr wrap="square" anchor="ctr" lIns="0" tIns="0" rIns="0" bIns="0">
            <a:noAutofit/>
          </a:bodyPr>
          <a:lstStyle/>
          <a:p>
            <a:pPr algn="l">
              <a:lnSpc>
                <a:spcPts val="2724"/>
              </a:lnSpc>
              <a:spcBef>
                <a:spcPts val="0"/>
              </a:spcBef>
              <a:spcAft>
                <a:spcPts val="0"/>
              </a:spcAft>
            </a:pPr>
            <a:r>
              <a:rPr sz="2095" b="0" i="0" u="none">
                <a:solidFill>
                  <a:srgbClr val="3B3535"/>
                </a:solidFill>
                <a:latin typeface="Arial"/>
              </a:rPr>
              <a:t>A labeled set fills one half of the slide.</a:t>
            </a:r>
          </a:p>
        </p:txBody>
      </p:sp>
      <p:sp>
        <p:nvSpPr>
          <p:cNvPr id="10" name="Rounded Rectangle 9"/>
          <p:cNvSpPr/>
          <p:nvPr/>
        </p:nvSpPr>
        <p:spPr>
          <a:xfrm>
            <a:off x="670465" y="4608195"/>
            <a:ext cx="5457920" cy="1640205"/>
          </a:xfrm>
          <a:prstGeom prst="roundRect">
            <a:avLst>
              <a:gd name="adj" fmla="val 14866"/>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930878" y="4868608"/>
            <a:ext cx="591884" cy="591884"/>
          </a:xfrm>
          <a:prstGeom prst="rect">
            <a:avLst/>
          </a:prstGeom>
        </p:spPr>
      </p:pic>
      <p:sp>
        <p:nvSpPr>
          <p:cNvPr id="12" name="TextBox 11"/>
          <p:cNvSpPr txBox="1"/>
          <p:nvPr/>
        </p:nvSpPr>
        <p:spPr>
          <a:xfrm>
            <a:off x="1688402" y="4859369"/>
            <a:ext cx="4217670" cy="388430"/>
          </a:xfrm>
          <a:prstGeom prst="rect">
            <a:avLst/>
          </a:prstGeom>
          <a:noFill/>
        </p:spPr>
        <p:txBody>
          <a:bodyPr wrap="none" anchor="ctr" lIns="0" tIns="0" rIns="0" bIns="0">
            <a:noAutofit/>
          </a:bodyPr>
          <a:lstStyle/>
          <a:p>
            <a:pPr algn="l">
              <a:lnSpc>
                <a:spcPts val="2970"/>
              </a:lnSpc>
              <a:spcBef>
                <a:spcPts val="0"/>
              </a:spcBef>
              <a:spcAft>
                <a:spcPts val="0"/>
              </a:spcAft>
            </a:pPr>
            <a:r>
              <a:rPr sz="2700" b="1" i="0" u="none">
                <a:solidFill>
                  <a:srgbClr val="1F1E1E"/>
                </a:solidFill>
                <a:latin typeface="Arial"/>
              </a:rPr>
              <a:t>Image on the other</a:t>
            </a:r>
          </a:p>
        </p:txBody>
      </p:sp>
      <p:sp>
        <p:nvSpPr>
          <p:cNvPr id="13" name="TextBox 12"/>
          <p:cNvSpPr txBox="1"/>
          <p:nvPr/>
        </p:nvSpPr>
        <p:spPr>
          <a:xfrm>
            <a:off x="1688402" y="5323808"/>
            <a:ext cx="4261314" cy="665893"/>
          </a:xfrm>
          <a:prstGeom prst="rect">
            <a:avLst/>
          </a:prstGeom>
          <a:noFill/>
        </p:spPr>
        <p:txBody>
          <a:bodyPr wrap="square" anchor="ctr" lIns="0" tIns="0" rIns="0" bIns="0">
            <a:noAutofit/>
          </a:bodyPr>
          <a:lstStyle/>
          <a:p>
            <a:pPr algn="l">
              <a:lnSpc>
                <a:spcPts val="2724"/>
              </a:lnSpc>
              <a:spcBef>
                <a:spcPts val="0"/>
              </a:spcBef>
              <a:spcAft>
                <a:spcPts val="0"/>
              </a:spcAft>
            </a:pPr>
            <a:r>
              <a:rPr sz="2095" b="0" i="0" u="none">
                <a:solidFill>
                  <a:srgbClr val="3B3535"/>
                </a:solidFill>
                <a:latin typeface="Arial"/>
              </a:rPr>
              <a:t>A single supporting visual fills the rest.</a:t>
            </a:r>
          </a:p>
        </p:txBody>
      </p:sp>
      <p:sp>
        <p:nvSpPr>
          <p:cNvPr id="14" name="Rounded Rectangle 13"/>
          <p:cNvSpPr/>
          <p:nvPr/>
        </p:nvSpPr>
        <p:spPr>
          <a:xfrm>
            <a:off x="6557486" y="2745391"/>
            <a:ext cx="4964049" cy="3503009"/>
          </a:xfrm>
          <a:prstGeom prst="roundRect">
            <a:avLst>
              <a:gd name="adj" fmla="val 487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4"/>
          <a:stretch>
            <a:fillRect/>
          </a:stretch>
        </p:blipFill>
        <p:spPr>
          <a:xfrm>
            <a:off x="6567202" y="3106198"/>
            <a:ext cx="4944713" cy="278149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content+cards+image: image-left mirrors the columns</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Same slide, image first — the cards are untouched:</a:t>
            </a:r>
          </a:p>
        </p:txBody>
      </p:sp>
      <p:sp>
        <p:nvSpPr>
          <p:cNvPr id="6" name="Rounded Rectangle 5"/>
          <p:cNvSpPr/>
          <p:nvPr/>
        </p:nvSpPr>
        <p:spPr>
          <a:xfrm>
            <a:off x="6061043" y="2745391"/>
            <a:ext cx="5457444" cy="913257"/>
          </a:xfrm>
          <a:prstGeom prst="roundRect">
            <a:avLst>
              <a:gd name="adj" fmla="val 2670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6243447" y="2927890"/>
            <a:ext cx="414623" cy="414623"/>
          </a:xfrm>
          <a:prstGeom prst="rect">
            <a:avLst/>
          </a:prstGeom>
        </p:spPr>
      </p:pic>
      <p:sp>
        <p:nvSpPr>
          <p:cNvPr id="8" name="TextBox 7"/>
          <p:cNvSpPr txBox="1"/>
          <p:nvPr/>
        </p:nvSpPr>
        <p:spPr>
          <a:xfrm>
            <a:off x="6774085" y="2921413"/>
            <a:ext cx="4600099" cy="272129"/>
          </a:xfrm>
          <a:prstGeom prst="rect">
            <a:avLst/>
          </a:prstGeom>
          <a:noFill/>
        </p:spPr>
        <p:txBody>
          <a:bodyPr wrap="none" anchor="ctr" lIns="0" tIns="0" rIns="0" bIns="0">
            <a:noAutofit/>
          </a:bodyPr>
          <a:lstStyle/>
          <a:p>
            <a:pPr algn="l">
              <a:lnSpc>
                <a:spcPts val="2082"/>
              </a:lnSpc>
              <a:spcBef>
                <a:spcPts val="0"/>
              </a:spcBef>
              <a:spcAft>
                <a:spcPts val="0"/>
              </a:spcAft>
            </a:pPr>
            <a:r>
              <a:rPr sz="1893" b="1" i="0" u="none">
                <a:solidFill>
                  <a:srgbClr val="1F1E1E"/>
                </a:solidFill>
                <a:latin typeface="Arial"/>
              </a:rPr>
              <a:t>Columns swap</a:t>
            </a:r>
          </a:p>
        </p:txBody>
      </p:sp>
      <p:sp>
        <p:nvSpPr>
          <p:cNvPr id="9" name="TextBox 8"/>
          <p:cNvSpPr txBox="1"/>
          <p:nvPr/>
        </p:nvSpPr>
        <p:spPr>
          <a:xfrm>
            <a:off x="6774085" y="3246692"/>
            <a:ext cx="4600099" cy="207359"/>
          </a:xfrm>
          <a:prstGeom prst="rect">
            <a:avLst/>
          </a:prstGeom>
          <a:noFill/>
        </p:spPr>
        <p:txBody>
          <a:bodyPr wrap="none" anchor="ctr" lIns="0" tIns="0" rIns="0" bIns="0">
            <a:noAutofit/>
          </a:bodyPr>
          <a:lstStyle/>
          <a:p>
            <a:pPr algn="l">
              <a:lnSpc>
                <a:spcPts val="1909"/>
              </a:lnSpc>
              <a:spcBef>
                <a:spcPts val="0"/>
              </a:spcBef>
              <a:spcAft>
                <a:spcPts val="0"/>
              </a:spcAft>
            </a:pPr>
            <a:r>
              <a:rPr sz="1469" b="0" i="0" u="none">
                <a:solidFill>
                  <a:srgbClr val="3B3535"/>
                </a:solidFill>
                <a:latin typeface="Arial"/>
              </a:rPr>
              <a:t>the image takes the left column, the cards the right.</a:t>
            </a:r>
          </a:p>
        </p:txBody>
      </p:sp>
      <p:sp>
        <p:nvSpPr>
          <p:cNvPr id="10" name="Rounded Rectangle 9"/>
          <p:cNvSpPr/>
          <p:nvPr/>
        </p:nvSpPr>
        <p:spPr>
          <a:xfrm>
            <a:off x="6061043" y="3807904"/>
            <a:ext cx="5457444" cy="1155668"/>
          </a:xfrm>
          <a:prstGeom prst="roundRect">
            <a:avLst>
              <a:gd name="adj" fmla="val 2109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6243447" y="3990308"/>
            <a:ext cx="414623" cy="414623"/>
          </a:xfrm>
          <a:prstGeom prst="rect">
            <a:avLst/>
          </a:prstGeom>
        </p:spPr>
      </p:pic>
      <p:sp>
        <p:nvSpPr>
          <p:cNvPr id="12" name="TextBox 11"/>
          <p:cNvSpPr txBox="1"/>
          <p:nvPr/>
        </p:nvSpPr>
        <p:spPr>
          <a:xfrm>
            <a:off x="6774085" y="3983831"/>
            <a:ext cx="4600099" cy="272129"/>
          </a:xfrm>
          <a:prstGeom prst="rect">
            <a:avLst/>
          </a:prstGeom>
          <a:noFill/>
        </p:spPr>
        <p:txBody>
          <a:bodyPr wrap="none" anchor="ctr" lIns="0" tIns="0" rIns="0" bIns="0">
            <a:noAutofit/>
          </a:bodyPr>
          <a:lstStyle/>
          <a:p>
            <a:pPr algn="l">
              <a:lnSpc>
                <a:spcPts val="2082"/>
              </a:lnSpc>
              <a:spcBef>
                <a:spcPts val="0"/>
              </a:spcBef>
              <a:spcAft>
                <a:spcPts val="0"/>
              </a:spcAft>
            </a:pPr>
            <a:r>
              <a:rPr sz="1893" b="1" i="0" u="none">
                <a:solidFill>
                  <a:srgbClr val="1F1E1E"/>
                </a:solidFill>
                <a:latin typeface="Arial"/>
              </a:rPr>
              <a:t>Cards unchanged</a:t>
            </a:r>
          </a:p>
        </p:txBody>
      </p:sp>
      <p:sp>
        <p:nvSpPr>
          <p:cNvPr id="13" name="TextBox 12"/>
          <p:cNvSpPr txBox="1"/>
          <p:nvPr/>
        </p:nvSpPr>
        <p:spPr>
          <a:xfrm>
            <a:off x="6774085" y="4309205"/>
            <a:ext cx="4649479" cy="449770"/>
          </a:xfrm>
          <a:prstGeom prst="rect">
            <a:avLst/>
          </a:prstGeom>
          <a:noFill/>
        </p:spPr>
        <p:txBody>
          <a:bodyPr wrap="square" anchor="ctr" lIns="0" tIns="0" rIns="0" bIns="0">
            <a:noAutofit/>
          </a:bodyPr>
          <a:lstStyle/>
          <a:p>
            <a:pPr algn="l">
              <a:lnSpc>
                <a:spcPts val="1909"/>
              </a:lnSpc>
              <a:spcBef>
                <a:spcPts val="0"/>
              </a:spcBef>
              <a:spcAft>
                <a:spcPts val="0"/>
              </a:spcAft>
            </a:pPr>
            <a:r>
              <a:rPr sz="1469" b="0" i="0" u="none">
                <a:solidFill>
                  <a:srgbClr val="3B3535"/>
                </a:solidFill>
                <a:latin typeface="Arial"/>
              </a:rPr>
              <a:t>they keep their order, their icons and their left alignment.</a:t>
            </a:r>
          </a:p>
        </p:txBody>
      </p:sp>
      <p:sp>
        <p:nvSpPr>
          <p:cNvPr id="14" name="Rounded Rectangle 13"/>
          <p:cNvSpPr/>
          <p:nvPr/>
        </p:nvSpPr>
        <p:spPr>
          <a:xfrm>
            <a:off x="6061043" y="5112734"/>
            <a:ext cx="5457444" cy="913257"/>
          </a:xfrm>
          <a:prstGeom prst="roundRect">
            <a:avLst>
              <a:gd name="adj" fmla="val 2670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4"/>
          <a:stretch>
            <a:fillRect/>
          </a:stretch>
        </p:blipFill>
        <p:spPr>
          <a:xfrm>
            <a:off x="6243447" y="5295233"/>
            <a:ext cx="414623" cy="414623"/>
          </a:xfrm>
          <a:prstGeom prst="rect">
            <a:avLst/>
          </a:prstGeom>
        </p:spPr>
      </p:pic>
      <p:sp>
        <p:nvSpPr>
          <p:cNvPr id="16" name="TextBox 15"/>
          <p:cNvSpPr txBox="1"/>
          <p:nvPr/>
        </p:nvSpPr>
        <p:spPr>
          <a:xfrm>
            <a:off x="6774085" y="5288756"/>
            <a:ext cx="4600099" cy="272129"/>
          </a:xfrm>
          <a:prstGeom prst="rect">
            <a:avLst/>
          </a:prstGeom>
          <a:noFill/>
        </p:spPr>
        <p:txBody>
          <a:bodyPr wrap="none" anchor="ctr" lIns="0" tIns="0" rIns="0" bIns="0">
            <a:noAutofit/>
          </a:bodyPr>
          <a:lstStyle/>
          <a:p>
            <a:pPr algn="l">
              <a:lnSpc>
                <a:spcPts val="2082"/>
              </a:lnSpc>
              <a:spcBef>
                <a:spcPts val="0"/>
              </a:spcBef>
              <a:spcAft>
                <a:spcPts val="0"/>
              </a:spcAft>
            </a:pPr>
            <a:r>
              <a:rPr sz="1893" b="1" i="0" u="none">
                <a:solidFill>
                  <a:srgbClr val="1F1E1E"/>
                </a:solidFill>
                <a:latin typeface="Arial"/>
              </a:rPr>
              <a:t>Widths stay put</a:t>
            </a:r>
          </a:p>
        </p:txBody>
      </p:sp>
      <p:sp>
        <p:nvSpPr>
          <p:cNvPr id="17" name="TextBox 16"/>
          <p:cNvSpPr txBox="1"/>
          <p:nvPr/>
        </p:nvSpPr>
        <p:spPr>
          <a:xfrm>
            <a:off x="6774085" y="5614035"/>
            <a:ext cx="4600099" cy="207359"/>
          </a:xfrm>
          <a:prstGeom prst="rect">
            <a:avLst/>
          </a:prstGeom>
          <a:noFill/>
        </p:spPr>
        <p:txBody>
          <a:bodyPr wrap="none" anchor="ctr" lIns="0" tIns="0" rIns="0" bIns="0">
            <a:noAutofit/>
          </a:bodyPr>
          <a:lstStyle/>
          <a:p>
            <a:pPr algn="l">
              <a:lnSpc>
                <a:spcPts val="1909"/>
              </a:lnSpc>
              <a:spcBef>
                <a:spcPts val="0"/>
              </a:spcBef>
              <a:spcAft>
                <a:spcPts val="0"/>
              </a:spcAft>
            </a:pPr>
            <a:r>
              <a:rPr sz="1469" b="0" i="0" u="none">
                <a:solidFill>
                  <a:srgbClr val="3B3535"/>
                </a:solidFill>
                <a:latin typeface="Arial"/>
              </a:rPr>
              <a:t>the wider grid track remains the cards', not the image's.</a:t>
            </a:r>
          </a:p>
        </p:txBody>
      </p:sp>
      <p:sp>
        <p:nvSpPr>
          <p:cNvPr id="18" name="Rounded Rectangle 17"/>
          <p:cNvSpPr/>
          <p:nvPr/>
        </p:nvSpPr>
        <p:spPr>
          <a:xfrm>
            <a:off x="670465" y="2745391"/>
            <a:ext cx="4963858" cy="3503009"/>
          </a:xfrm>
          <a:prstGeom prst="roundRect">
            <a:avLst>
              <a:gd name="adj" fmla="val 487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9" name="Picture 18" descr="image.png"/>
          <p:cNvPicPr>
            <a:picLocks noChangeAspect="1"/>
          </p:cNvPicPr>
          <p:nvPr/>
        </p:nvPicPr>
        <p:blipFill>
          <a:blip r:embed="rId5"/>
          <a:stretch>
            <a:fillRect/>
          </a:stretch>
        </p:blipFill>
        <p:spPr>
          <a:xfrm>
            <a:off x="679990" y="3106198"/>
            <a:ext cx="4944713" cy="278149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code-example: a readable code surface</a:t>
            </a:r>
          </a:p>
        </p:txBody>
      </p:sp>
      <p:sp>
        <p:nvSpPr>
          <p:cNvPr id="5" name="TextBox 4"/>
          <p:cNvSpPr txBox="1"/>
          <p:nvPr/>
        </p:nvSpPr>
        <p:spPr>
          <a:xfrm>
            <a:off x="670465" y="3049238"/>
            <a:ext cx="5209539" cy="1165765"/>
          </a:xfrm>
          <a:prstGeom prst="rect">
            <a:avLst/>
          </a:prstGeom>
          <a:noFill/>
        </p:spPr>
        <p:txBody>
          <a:bodyPr wrap="square" anchor="ctr" lIns="0" tIns="0" rIns="0" bIns="0">
            <a:noAutofit/>
          </a:bodyPr>
          <a:lstStyle/>
          <a:p>
            <a:pPr algn="l">
              <a:lnSpc>
                <a:spcPts val="3240"/>
              </a:lnSpc>
              <a:spcBef>
                <a:spcPts val="0"/>
              </a:spcBef>
              <a:spcAft>
                <a:spcPts val="0"/>
              </a:spcAft>
            </a:pPr>
            <a:r>
              <a:rPr sz="2400" b="0" i="0" u="none">
                <a:solidFill>
                  <a:srgbClr val="3B3535"/>
                </a:solidFill>
                <a:latin typeface="Arial"/>
              </a:rPr>
              <a:t>The code sits on a monospace surface with syntax colors.</a:t>
            </a:r>
          </a:p>
        </p:txBody>
      </p:sp>
      <p:sp>
        <p:nvSpPr>
          <p:cNvPr id="6" name="TextBox 5"/>
          <p:cNvSpPr txBox="1"/>
          <p:nvPr/>
        </p:nvSpPr>
        <p:spPr>
          <a:xfrm>
            <a:off x="670465" y="4042505"/>
            <a:ext cx="5209539" cy="964692"/>
          </a:xfrm>
          <a:prstGeom prst="rect">
            <a:avLst/>
          </a:prstGeom>
          <a:noFill/>
        </p:spPr>
        <p:txBody>
          <a:bodyPr wrap="square" anchor="ctr" lIns="0" tIns="0" rIns="0" bIns="0">
            <a:noAutofit/>
          </a:bodyPr>
          <a:lstStyle/>
          <a:p>
            <a:pPr algn="l">
              <a:lnSpc>
                <a:spcPts val="3240"/>
              </a:lnSpc>
              <a:spcBef>
                <a:spcPts val="0"/>
              </a:spcBef>
              <a:spcAft>
                <a:spcPts val="0"/>
              </a:spcAft>
            </a:pPr>
            <a:r>
              <a:rPr sz="2400" b="0" i="0" u="none">
                <a:solidFill>
                  <a:srgbClr val="3B3535"/>
                </a:solidFill>
                <a:latin typeface="Arial"/>
              </a:rPr>
              <a:t>A short explanation column reads alongside it.</a:t>
            </a:r>
          </a:p>
        </p:txBody>
      </p:sp>
      <p:sp>
        <p:nvSpPr>
          <p:cNvPr id="7" name="Rounded Rectangle 6"/>
          <p:cNvSpPr/>
          <p:nvPr/>
        </p:nvSpPr>
        <p:spPr>
          <a:xfrm>
            <a:off x="6149912" y="1775555"/>
            <a:ext cx="5369528" cy="4472845"/>
          </a:xfrm>
          <a:prstGeom prst="roundRect">
            <a:avLst>
              <a:gd name="adj" fmla="val 4361"/>
            </a:avLst>
          </a:prstGeom>
          <a:solidFill>
            <a:srgbClr val="1E1E1E"/>
          </a:solidFill>
          <a:ln w="9525">
            <a:solidFill>
              <a:srgbClr val="3C3C4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Rectangle 7"/>
          <p:cNvSpPr/>
          <p:nvPr/>
        </p:nvSpPr>
        <p:spPr>
          <a:xfrm>
            <a:off x="6159436" y="1785080"/>
            <a:ext cx="5350478" cy="289655"/>
          </a:xfrm>
          <a:prstGeom prst="rect">
            <a:avLst/>
          </a:prstGeom>
          <a:solidFill>
            <a:srgbClr val="2525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Rectangle 8"/>
          <p:cNvSpPr/>
          <p:nvPr/>
        </p:nvSpPr>
        <p:spPr>
          <a:xfrm>
            <a:off x="6159436" y="2065210"/>
            <a:ext cx="5350478" cy="9525"/>
          </a:xfrm>
          <a:prstGeom prst="rect">
            <a:avLst/>
          </a:prstGeom>
          <a:solidFill>
            <a:srgbClr val="3C3C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Oval 9"/>
          <p:cNvSpPr/>
          <p:nvPr/>
        </p:nvSpPr>
        <p:spPr>
          <a:xfrm>
            <a:off x="6305264" y="1879854"/>
            <a:ext cx="90297" cy="90297"/>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Oval 10"/>
          <p:cNvSpPr/>
          <p:nvPr/>
        </p:nvSpPr>
        <p:spPr>
          <a:xfrm>
            <a:off x="6483096" y="1879854"/>
            <a:ext cx="90297" cy="90297"/>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Oval 11"/>
          <p:cNvSpPr/>
          <p:nvPr/>
        </p:nvSpPr>
        <p:spPr>
          <a:xfrm>
            <a:off x="6660928" y="1879854"/>
            <a:ext cx="90297" cy="90297"/>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10800588" y="1848422"/>
            <a:ext cx="601599" cy="152400"/>
          </a:xfrm>
          <a:prstGeom prst="rect">
            <a:avLst/>
          </a:prstGeom>
          <a:noFill/>
        </p:spPr>
        <p:txBody>
          <a:bodyPr wrap="none" anchor="ctr" lIns="0" tIns="0" rIns="0" bIns="0">
            <a:noAutofit/>
          </a:bodyPr>
          <a:lstStyle/>
          <a:p>
            <a:pPr algn="l">
              <a:lnSpc>
                <a:spcPts val="1057"/>
              </a:lnSpc>
              <a:spcBef>
                <a:spcPts val="0"/>
              </a:spcBef>
              <a:spcAft>
                <a:spcPts val="0"/>
              </a:spcAft>
            </a:pPr>
            <a:r>
              <a:rPr sz="1057" b="0" i="0" u="none" spc="106">
                <a:solidFill>
                  <a:srgbClr val="8A8A94"/>
                </a:solidFill>
                <a:latin typeface="Courier New"/>
              </a:rPr>
              <a:t>PYTHON</a:t>
            </a:r>
          </a:p>
        </p:txBody>
      </p:sp>
      <p:sp>
        <p:nvSpPr>
          <p:cNvPr id="14" name="TextBox 13"/>
          <p:cNvSpPr txBox="1"/>
          <p:nvPr/>
        </p:nvSpPr>
        <p:spPr>
          <a:xfrm>
            <a:off x="6452044" y="2380964"/>
            <a:ext cx="4855888" cy="3593592"/>
          </a:xfrm>
          <a:prstGeom prst="rect">
            <a:avLst/>
          </a:prstGeom>
          <a:noFill/>
        </p:spPr>
        <p:txBody>
          <a:bodyPr wrap="square" anchor="ctr" lIns="0" tIns="0" rIns="0" bIns="0">
            <a:noAutofit/>
          </a:bodyPr>
          <a:lstStyle/>
          <a:p>
            <a:pPr algn="l">
              <a:lnSpc>
                <a:spcPts val="2871"/>
              </a:lnSpc>
              <a:spcBef>
                <a:spcPts val="0"/>
              </a:spcBef>
              <a:spcAft>
                <a:spcPts val="0"/>
              </a:spcAft>
            </a:pPr>
            <a:r>
              <a:rPr sz="1914" b="0" i="0" u="none">
                <a:solidFill>
                  <a:srgbClr val="D4D4D4"/>
                </a:solidFill>
                <a:latin typeface="Courier New"/>
              </a:rPr>
              <a:t>client.messages.create(</a:t>
            </a:r>
          </a:p>
          <a:p>
            <a:pPr algn="l">
              <a:lnSpc>
                <a:spcPts val="2871"/>
              </a:lnSpc>
              <a:spcBef>
                <a:spcPts val="0"/>
              </a:spcBef>
              <a:spcAft>
                <a:spcPts val="0"/>
              </a:spcAft>
            </a:pPr>
            <a:r>
              <a:rPr sz="1914" b="0" i="0" u="none">
                <a:solidFill>
                  <a:srgbClr val="D4D4D4"/>
                </a:solidFill>
                <a:latin typeface="Courier New"/>
              </a:rPr>
              <a:t>  model=</a:t>
            </a:r>
            <a:r>
              <a:rPr sz="1914" b="0" i="0" u="none">
                <a:solidFill>
                  <a:srgbClr val="CE9178"/>
                </a:solidFill>
                <a:latin typeface="Courier New"/>
              </a:rPr>
              <a:t>"claude-opus-4-8"</a:t>
            </a:r>
            <a:r>
              <a:rPr sz="1914" b="0" i="0" u="none">
                <a:solidFill>
                  <a:srgbClr val="D4D4D4"/>
                </a:solidFill>
                <a:latin typeface="Courier New"/>
              </a:rPr>
              <a:t>,</a:t>
            </a:r>
          </a:p>
          <a:p>
            <a:pPr algn="l">
              <a:lnSpc>
                <a:spcPts val="2871"/>
              </a:lnSpc>
              <a:spcBef>
                <a:spcPts val="0"/>
              </a:spcBef>
              <a:spcAft>
                <a:spcPts val="0"/>
              </a:spcAft>
            </a:pPr>
            <a:r>
              <a:rPr sz="1914" b="0" i="0" u="none">
                <a:solidFill>
                  <a:srgbClr val="D4D4D4"/>
                </a:solidFill>
                <a:latin typeface="Courier New"/>
              </a:rPr>
              <a:t>  system=[{</a:t>
            </a:r>
          </a:p>
          <a:p>
            <a:pPr algn="l">
              <a:lnSpc>
                <a:spcPts val="2871"/>
              </a:lnSpc>
              <a:spcBef>
                <a:spcPts val="0"/>
              </a:spcBef>
              <a:spcAft>
                <a:spcPts val="0"/>
              </a:spcAft>
            </a:pPr>
            <a:r>
              <a:rPr sz="1914" b="0" i="0" u="none">
                <a:solidFill>
                  <a:srgbClr val="D4D4D4"/>
                </a:solidFill>
                <a:latin typeface="Courier New"/>
              </a:rPr>
              <a:t>    </a:t>
            </a:r>
            <a:r>
              <a:rPr sz="1914" b="0" i="0" u="none">
                <a:solidFill>
                  <a:srgbClr val="CE9178"/>
                </a:solidFill>
                <a:latin typeface="Courier New"/>
              </a:rPr>
              <a:t>"type"</a:t>
            </a:r>
            <a:r>
              <a:rPr sz="1914" b="0" i="0" u="none">
                <a:solidFill>
                  <a:srgbClr val="D4D4D4"/>
                </a:solidFill>
                <a:latin typeface="Courier New"/>
              </a:rPr>
              <a:t>: </a:t>
            </a:r>
            <a:r>
              <a:rPr sz="1914" b="0" i="0" u="none">
                <a:solidFill>
                  <a:srgbClr val="CE9178"/>
                </a:solidFill>
                <a:latin typeface="Courier New"/>
              </a:rPr>
              <a:t>"text"</a:t>
            </a:r>
            <a:r>
              <a:rPr sz="1914" b="0" i="0" u="none">
                <a:solidFill>
                  <a:srgbClr val="D4D4D4"/>
                </a:solidFill>
                <a:latin typeface="Courier New"/>
              </a:rPr>
              <a:t>,</a:t>
            </a:r>
          </a:p>
          <a:p>
            <a:pPr algn="l">
              <a:lnSpc>
                <a:spcPts val="2871"/>
              </a:lnSpc>
              <a:spcBef>
                <a:spcPts val="0"/>
              </a:spcBef>
              <a:spcAft>
                <a:spcPts val="0"/>
              </a:spcAft>
            </a:pPr>
            <a:r>
              <a:rPr sz="1914" b="0" i="0" u="none">
                <a:solidFill>
                  <a:srgbClr val="D4D4D4"/>
                </a:solidFill>
                <a:latin typeface="Courier New"/>
              </a:rPr>
              <a:t>    </a:t>
            </a:r>
            <a:r>
              <a:rPr sz="1914" b="0" i="0" u="none">
                <a:solidFill>
                  <a:srgbClr val="CE9178"/>
                </a:solidFill>
                <a:latin typeface="Courier New"/>
              </a:rPr>
              <a:t>"text"</a:t>
            </a:r>
            <a:r>
              <a:rPr sz="1914" b="0" i="0" u="none">
                <a:solidFill>
                  <a:srgbClr val="D4D4D4"/>
                </a:solidFill>
                <a:latin typeface="Courier New"/>
              </a:rPr>
              <a:t>: SYSTEM_PROMPT,</a:t>
            </a:r>
          </a:p>
          <a:p>
            <a:pPr algn="l">
              <a:lnSpc>
                <a:spcPts val="2871"/>
              </a:lnSpc>
              <a:spcBef>
                <a:spcPts val="0"/>
              </a:spcBef>
              <a:spcAft>
                <a:spcPts val="0"/>
              </a:spcAft>
            </a:pPr>
            <a:r>
              <a:rPr sz="1914" b="0" i="0" u="none">
                <a:solidFill>
                  <a:srgbClr val="D4D4D4"/>
                </a:solidFill>
                <a:latin typeface="Courier New"/>
              </a:rPr>
              <a:t>    </a:t>
            </a:r>
            <a:r>
              <a:rPr sz="1914" b="0" i="0" u="none">
                <a:solidFill>
                  <a:srgbClr val="CE9178"/>
                </a:solidFill>
                <a:latin typeface="Courier New"/>
              </a:rPr>
              <a:t>"cache_control"</a:t>
            </a:r>
            <a:r>
              <a:rPr sz="1914" b="0" i="0" u="none">
                <a:solidFill>
                  <a:srgbClr val="D4D4D4"/>
                </a:solidFill>
                <a:latin typeface="Courier New"/>
              </a:rPr>
              <a:t>: {</a:t>
            </a:r>
            <a:r>
              <a:rPr sz="1914" b="0" i="0" u="none">
                <a:solidFill>
                  <a:srgbClr val="CE9178"/>
                </a:solidFill>
                <a:latin typeface="Courier New"/>
              </a:rPr>
              <a:t>"type"</a:t>
            </a:r>
            <a:r>
              <a:rPr sz="1914" b="0" i="0" u="none">
                <a:solidFill>
                  <a:srgbClr val="D4D4D4"/>
                </a:solidFill>
                <a:latin typeface="Courier New"/>
              </a:rPr>
              <a:t>: </a:t>
            </a:r>
            <a:r>
              <a:rPr sz="1914" b="0" i="0" u="none">
                <a:solidFill>
                  <a:srgbClr val="CE9178"/>
                </a:solidFill>
                <a:latin typeface="Courier New"/>
              </a:rPr>
              <a:t>"ephemeral"</a:t>
            </a:r>
            <a:r>
              <a:rPr sz="1914" b="0" i="0" u="none">
                <a:solidFill>
                  <a:srgbClr val="D4D4D4"/>
                </a:solidFill>
                <a:latin typeface="Courier New"/>
              </a:rPr>
              <a:t>}</a:t>
            </a:r>
          </a:p>
          <a:p>
            <a:pPr algn="l">
              <a:lnSpc>
                <a:spcPts val="2871"/>
              </a:lnSpc>
              <a:spcBef>
                <a:spcPts val="0"/>
              </a:spcBef>
              <a:spcAft>
                <a:spcPts val="0"/>
              </a:spcAft>
            </a:pPr>
            <a:r>
              <a:rPr sz="1914" b="0" i="0" u="none">
                <a:solidFill>
                  <a:srgbClr val="D4D4D4"/>
                </a:solidFill>
                <a:latin typeface="Courier New"/>
              </a:rPr>
              <a:t>  }],</a:t>
            </a:r>
          </a:p>
          <a:p>
            <a:pPr algn="l">
              <a:lnSpc>
                <a:spcPts val="2871"/>
              </a:lnSpc>
              <a:spcBef>
                <a:spcPts val="0"/>
              </a:spcBef>
              <a:spcAft>
                <a:spcPts val="0"/>
              </a:spcAft>
            </a:pPr>
            <a:r>
              <a:rPr sz="1914" b="0" i="0" u="none">
                <a:solidFill>
                  <a:srgbClr val="D4D4D4"/>
                </a:solidFill>
                <a:latin typeface="Courier New"/>
              </a:rPr>
              <a:t>  messages=msgs,</a:t>
            </a:r>
          </a:p>
          <a:p>
            <a:pPr algn="l">
              <a:lnSpc>
                <a:spcPts val="2871"/>
              </a:lnSpc>
              <a:spcBef>
                <a:spcPts val="0"/>
              </a:spcBef>
              <a:spcAft>
                <a:spcPts val="0"/>
              </a:spcAft>
            </a:pPr>
            <a:r>
              <a:rPr sz="1914" b="0" i="0" u="none">
                <a:solidFill>
                  <a:srgbClr val="D4D4D4"/>
                </a:solidFill>
                <a:latin typeface="Courier New"/>
              </a:rPr>
              <a: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code-example: code alone, another grammar, a long snippet</a:t>
            </a:r>
          </a:p>
        </p:txBody>
      </p:sp>
      <p:sp>
        <p:nvSpPr>
          <p:cNvPr id="5" name="Rounded Rectangle 4"/>
          <p:cNvSpPr/>
          <p:nvPr/>
        </p:nvSpPr>
        <p:spPr>
          <a:xfrm>
            <a:off x="670465" y="2328577"/>
            <a:ext cx="10848975" cy="3919823"/>
          </a:xfrm>
          <a:prstGeom prst="roundRect">
            <a:avLst>
              <a:gd name="adj" fmla="val 4976"/>
            </a:avLst>
          </a:prstGeom>
          <a:solidFill>
            <a:srgbClr val="1E1E1E"/>
          </a:solidFill>
          <a:ln w="9525">
            <a:solidFill>
              <a:srgbClr val="3C3C4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9990" y="2338102"/>
            <a:ext cx="10829925" cy="118300"/>
          </a:xfrm>
          <a:prstGeom prst="rect">
            <a:avLst/>
          </a:prstGeom>
          <a:solidFill>
            <a:srgbClr val="2525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9990" y="2446877"/>
            <a:ext cx="10829925" cy="9525"/>
          </a:xfrm>
          <a:prstGeom prst="rect">
            <a:avLst/>
          </a:prstGeom>
          <a:solidFill>
            <a:srgbClr val="3C3C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Oval 7"/>
          <p:cNvSpPr/>
          <p:nvPr/>
        </p:nvSpPr>
        <p:spPr>
          <a:xfrm>
            <a:off x="736664" y="2374868"/>
            <a:ext cx="35147" cy="35147"/>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Oval 8"/>
          <p:cNvSpPr/>
          <p:nvPr/>
        </p:nvSpPr>
        <p:spPr>
          <a:xfrm>
            <a:off x="805720" y="2374868"/>
            <a:ext cx="35147" cy="35147"/>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Oval 9"/>
          <p:cNvSpPr/>
          <p:nvPr/>
        </p:nvSpPr>
        <p:spPr>
          <a:xfrm>
            <a:off x="874776" y="2374868"/>
            <a:ext cx="35147" cy="35147"/>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11087672" y="2356866"/>
            <a:ext cx="403670" cy="66675"/>
          </a:xfrm>
          <a:prstGeom prst="rect">
            <a:avLst/>
          </a:prstGeom>
          <a:noFill/>
        </p:spPr>
        <p:txBody>
          <a:bodyPr wrap="none" anchor="ctr" lIns="0" tIns="0" rIns="0" bIns="0">
            <a:noAutofit/>
          </a:bodyPr>
          <a:lstStyle/>
          <a:p>
            <a:pPr algn="l">
              <a:lnSpc>
                <a:spcPts val="411"/>
              </a:lnSpc>
              <a:spcBef>
                <a:spcPts val="0"/>
              </a:spcBef>
              <a:spcAft>
                <a:spcPts val="0"/>
              </a:spcAft>
            </a:pPr>
            <a:r>
              <a:rPr sz="411" b="0" i="0" u="none" spc="41">
                <a:solidFill>
                  <a:srgbClr val="8A8A94"/>
                </a:solidFill>
                <a:latin typeface="Courier New"/>
              </a:rPr>
              <a:t>TYPESCRIPT</a:t>
            </a:r>
          </a:p>
        </p:txBody>
      </p:sp>
      <p:sp>
        <p:nvSpPr>
          <p:cNvPr id="12" name="TextBox 11"/>
          <p:cNvSpPr txBox="1"/>
          <p:nvPr/>
        </p:nvSpPr>
        <p:spPr>
          <a:xfrm>
            <a:off x="972598" y="2734151"/>
            <a:ext cx="10417430" cy="3240976"/>
          </a:xfrm>
          <a:prstGeom prst="rect">
            <a:avLst/>
          </a:prstGeom>
          <a:noFill/>
        </p:spPr>
        <p:txBody>
          <a:bodyPr wrap="square" anchor="ctr" lIns="0" tIns="0" rIns="0" bIns="0">
            <a:noAutofit/>
          </a:bodyPr>
          <a:lstStyle/>
          <a:p>
            <a:pPr algn="l">
              <a:lnSpc>
                <a:spcPts val="1117"/>
              </a:lnSpc>
              <a:spcBef>
                <a:spcPts val="0"/>
              </a:spcBef>
              <a:spcAft>
                <a:spcPts val="0"/>
              </a:spcAft>
            </a:pPr>
            <a:r>
              <a:rPr sz="745" b="0" i="0" u="none">
                <a:solidFill>
                  <a:srgbClr val="569CD6"/>
                </a:solidFill>
                <a:latin typeface="Courier New"/>
              </a:rPr>
              <a:t>type</a:t>
            </a:r>
            <a:r>
              <a:rPr sz="745" b="0" i="0" u="none">
                <a:solidFill>
                  <a:srgbClr val="D4D4D4"/>
                </a:solidFill>
                <a:latin typeface="Courier New"/>
              </a:rPr>
              <a:t> </a:t>
            </a:r>
            <a:r>
              <a:rPr sz="745" b="0" i="0" u="none">
                <a:solidFill>
                  <a:srgbClr val="4EC9B0"/>
                </a:solidFill>
                <a:latin typeface="Courier New"/>
              </a:rPr>
              <a:t>Cache</a:t>
            </a:r>
            <a:r>
              <a:rPr sz="745" b="0" i="0" u="none">
                <a:solidFill>
                  <a:srgbClr val="D4D4D4"/>
                </a:solidFill>
                <a:latin typeface="Courier New"/>
              </a:rPr>
              <a:t> = { </a:t>
            </a:r>
            <a:r>
              <a:rPr sz="745" b="0" i="0" u="none">
                <a:solidFill>
                  <a:srgbClr val="9CDCFE"/>
                </a:solidFill>
                <a:latin typeface="Courier New"/>
              </a:rPr>
              <a:t>key</a:t>
            </a:r>
            <a:r>
              <a:rPr sz="745" b="0" i="0" u="none">
                <a:solidFill>
                  <a:srgbClr val="D4D4D4"/>
                </a:solidFill>
                <a:latin typeface="Courier New"/>
              </a:rPr>
              <a:t>: </a:t>
            </a:r>
            <a:r>
              <a:rPr sz="745" b="0" i="0" u="none">
                <a:solidFill>
                  <a:srgbClr val="4EC9B0"/>
                </a:solidFill>
                <a:latin typeface="Courier New"/>
              </a:rPr>
              <a:t>string</a:t>
            </a:r>
            <a:r>
              <a:rPr sz="745" b="0" i="0" u="none">
                <a:solidFill>
                  <a:srgbClr val="D4D4D4"/>
                </a:solidFill>
                <a:latin typeface="Courier New"/>
              </a:rPr>
              <a:t>; </a:t>
            </a:r>
            <a:r>
              <a:rPr sz="745" b="0" i="0" u="none">
                <a:solidFill>
                  <a:srgbClr val="9CDCFE"/>
                </a:solidFill>
                <a:latin typeface="Courier New"/>
              </a:rPr>
              <a:t>ttl</a:t>
            </a:r>
            <a:r>
              <a:rPr sz="745" b="0" i="0" u="none">
                <a:solidFill>
                  <a:srgbClr val="D4D4D4"/>
                </a:solidFill>
                <a:latin typeface="Courier New"/>
              </a:rPr>
              <a:t>: </a:t>
            </a:r>
            <a:r>
              <a:rPr sz="745" b="0" i="0" u="none">
                <a:solidFill>
                  <a:srgbClr val="4EC9B0"/>
                </a:solidFill>
                <a:latin typeface="Courier New"/>
              </a:rPr>
              <a:t>number</a:t>
            </a:r>
            <a:r>
              <a:rPr sz="745" b="0" i="0" u="none">
                <a:solidFill>
                  <a:srgbClr val="D4D4D4"/>
                </a:solidFill>
                <a:latin typeface="Courier New"/>
              </a:rPr>
              <a:t> };</a:t>
            </a:r>
          </a:p>
          <a:p>
            <a:pPr algn="l">
              <a:lnSpc>
                <a:spcPts val="1117"/>
              </a:lnSpc>
              <a:spcBef>
                <a:spcPts val="0"/>
              </a:spcBef>
              <a:spcAft>
                <a:spcPts val="0"/>
              </a:spcAft>
            </a:pPr>
          </a:p>
          <a:p>
            <a:pPr algn="l">
              <a:lnSpc>
                <a:spcPts val="1117"/>
              </a:lnSpc>
              <a:spcBef>
                <a:spcPts val="0"/>
              </a:spcBef>
              <a:spcAft>
                <a:spcPts val="0"/>
              </a:spcAft>
            </a:pPr>
            <a:r>
              <a:rPr sz="745" b="0" i="0" u="none">
                <a:solidFill>
                  <a:srgbClr val="569CD6"/>
                </a:solidFill>
                <a:latin typeface="Courier New"/>
              </a:rPr>
              <a:t>export</a:t>
            </a:r>
            <a:r>
              <a:rPr sz="745" b="0" i="0" u="none">
                <a:solidFill>
                  <a:srgbClr val="D4D4D4"/>
                </a:solidFill>
                <a:latin typeface="Courier New"/>
              </a:rPr>
              <a:t> </a:t>
            </a:r>
            <a:r>
              <a:rPr sz="745" b="0" i="0" u="none">
                <a:solidFill>
                  <a:srgbClr val="569CD6"/>
                </a:solidFill>
                <a:latin typeface="Courier New"/>
              </a:rPr>
              <a:t>async</a:t>
            </a:r>
            <a:r>
              <a:rPr sz="745" b="0" i="0" u="none">
                <a:solidFill>
                  <a:srgbClr val="D4D4D4"/>
                </a:solidFill>
                <a:latin typeface="Courier New"/>
              </a:rPr>
              <a:t> </a:t>
            </a:r>
            <a:r>
              <a:rPr sz="745" b="0" i="0" u="none">
                <a:solidFill>
                  <a:srgbClr val="569CD6"/>
                </a:solidFill>
                <a:latin typeface="Courier New"/>
              </a:rPr>
              <a:t>function</a:t>
            </a:r>
            <a:r>
              <a:rPr sz="745" b="0" i="0" u="none">
                <a:solidFill>
                  <a:srgbClr val="D4D4D4"/>
                </a:solidFill>
                <a:latin typeface="Courier New"/>
              </a:rPr>
              <a:t> </a:t>
            </a:r>
            <a:r>
              <a:rPr sz="745" b="0" i="0" u="none">
                <a:solidFill>
                  <a:srgbClr val="DCDCAA"/>
                </a:solidFill>
                <a:latin typeface="Courier New"/>
              </a:rPr>
              <a:t>ask</a:t>
            </a:r>
            <a:r>
              <a:rPr sz="745" b="0" i="0" u="none">
                <a:solidFill>
                  <a:srgbClr val="D4D4D4"/>
                </a:solidFill>
                <a:latin typeface="Courier New"/>
              </a:rPr>
              <a:t>(</a:t>
            </a:r>
          </a:p>
          <a:p>
            <a:pPr algn="l">
              <a:lnSpc>
                <a:spcPts val="1117"/>
              </a:lnSpc>
              <a:spcBef>
                <a:spcPts val="0"/>
              </a:spcBef>
              <a:spcAft>
                <a:spcPts val="0"/>
              </a:spcAft>
            </a:pPr>
            <a:r>
              <a:rPr sz="745" b="0" i="0" u="none">
                <a:solidFill>
                  <a:srgbClr val="9CDCFE"/>
                </a:solidFill>
                <a:latin typeface="Courier New"/>
              </a:rPr>
              <a:t>  </a:t>
            </a:r>
            <a:r>
              <a:rPr sz="745" b="0" i="0" u="none">
                <a:solidFill>
                  <a:srgbClr val="9CDCFE"/>
                </a:solidFill>
                <a:latin typeface="Courier New"/>
              </a:rPr>
              <a:t>prompt</a:t>
            </a:r>
            <a:r>
              <a:rPr sz="745" b="0" i="0" u="none">
                <a:solidFill>
                  <a:srgbClr val="9CDCFE"/>
                </a:solidFill>
                <a:latin typeface="Courier New"/>
              </a:rPr>
              <a:t>: </a:t>
            </a:r>
            <a:r>
              <a:rPr sz="745" b="0" i="0" u="none">
                <a:solidFill>
                  <a:srgbClr val="4EC9B0"/>
                </a:solidFill>
                <a:latin typeface="Courier New"/>
              </a:rPr>
              <a:t>string</a:t>
            </a:r>
            <a:r>
              <a:rPr sz="745" b="0" i="0" u="none">
                <a:solidFill>
                  <a:srgbClr val="9CDCFE"/>
                </a:solidFill>
                <a:latin typeface="Courier New"/>
              </a:rPr>
              <a:t>,</a:t>
            </a:r>
          </a:p>
          <a:p>
            <a:pPr algn="l">
              <a:lnSpc>
                <a:spcPts val="1117"/>
              </a:lnSpc>
              <a:spcBef>
                <a:spcPts val="0"/>
              </a:spcBef>
              <a:spcAft>
                <a:spcPts val="0"/>
              </a:spcAft>
            </a:pPr>
            <a:r>
              <a:rPr sz="745" b="0" i="0" u="none">
                <a:solidFill>
                  <a:srgbClr val="9CDCFE"/>
                </a:solidFill>
                <a:latin typeface="Courier New"/>
              </a:rPr>
              <a:t>  </a:t>
            </a:r>
            <a:r>
              <a:rPr sz="745" b="0" i="0" u="none">
                <a:solidFill>
                  <a:srgbClr val="9CDCFE"/>
                </a:solidFill>
                <a:latin typeface="Courier New"/>
              </a:rPr>
              <a:t>opts</a:t>
            </a:r>
            <a:r>
              <a:rPr sz="745" b="0" i="0" u="none">
                <a:solidFill>
                  <a:srgbClr val="9CDCFE"/>
                </a:solidFill>
                <a:latin typeface="Courier New"/>
              </a:rPr>
              <a:t>: </a:t>
            </a:r>
            <a:r>
              <a:rPr sz="745" b="0" i="0" u="none">
                <a:solidFill>
                  <a:srgbClr val="4EC9B0"/>
                </a:solidFill>
                <a:latin typeface="Courier New"/>
              </a:rPr>
              <a:t>Partial</a:t>
            </a:r>
            <a:r>
              <a:rPr sz="745" b="0" i="0" u="none">
                <a:solidFill>
                  <a:srgbClr val="9CDCFE"/>
                </a:solidFill>
                <a:latin typeface="Courier New"/>
              </a:rPr>
              <a:t>&lt;</a:t>
            </a:r>
            <a:r>
              <a:rPr sz="745" b="0" i="0" u="none">
                <a:solidFill>
                  <a:srgbClr val="4EC9B0"/>
                </a:solidFill>
                <a:latin typeface="Courier New"/>
              </a:rPr>
              <a:t>Cache</a:t>
            </a:r>
            <a:r>
              <a:rPr sz="745" b="0" i="0" u="none">
                <a:solidFill>
                  <a:srgbClr val="9CDCFE"/>
                </a:solidFill>
                <a:latin typeface="Courier New"/>
              </a:rPr>
              <a:t>&gt; = {},</a:t>
            </a:r>
          </a:p>
          <a:p>
            <a:pPr algn="l">
              <a:lnSpc>
                <a:spcPts val="1117"/>
              </a:lnSpc>
              <a:spcBef>
                <a:spcPts val="0"/>
              </a:spcBef>
              <a:spcAft>
                <a:spcPts val="0"/>
              </a:spcAft>
            </a:pPr>
            <a:r>
              <a:rPr sz="745" b="0" i="0" u="none">
                <a:solidFill>
                  <a:srgbClr val="D4D4D4"/>
                </a:solidFill>
                <a:latin typeface="Courier New"/>
              </a:rPr>
              <a:t>): </a:t>
            </a:r>
            <a:r>
              <a:rPr sz="745" b="0" i="0" u="none">
                <a:solidFill>
                  <a:srgbClr val="4EC9B0"/>
                </a:solidFill>
                <a:latin typeface="Courier New"/>
              </a:rPr>
              <a:t>Promise</a:t>
            </a:r>
            <a:r>
              <a:rPr sz="745" b="0" i="0" u="none">
                <a:solidFill>
                  <a:srgbClr val="D4D4D4"/>
                </a:solidFill>
                <a:latin typeface="Courier New"/>
              </a:rPr>
              <a:t>&lt;</a:t>
            </a:r>
            <a:r>
              <a:rPr sz="745" b="0" i="0" u="none">
                <a:solidFill>
                  <a:srgbClr val="4EC9B0"/>
                </a:solidFill>
                <a:latin typeface="Courier New"/>
              </a:rPr>
              <a:t>string</a:t>
            </a:r>
            <a:r>
              <a:rPr sz="745" b="0" i="0" u="none">
                <a:solidFill>
                  <a:srgbClr val="D4D4D4"/>
                </a:solidFill>
                <a:latin typeface="Courier New"/>
              </a:rPr>
              <a:t>&gt; {</a:t>
            </a:r>
          </a:p>
          <a:p>
            <a:pPr algn="l">
              <a:lnSpc>
                <a:spcPts val="1117"/>
              </a:lnSpc>
              <a:spcBef>
                <a:spcPts val="0"/>
              </a:spcBef>
              <a:spcAft>
                <a:spcPts val="0"/>
              </a:spcAft>
            </a:pPr>
            <a:r>
              <a:rPr sz="745" b="0" i="0" u="none">
                <a:solidFill>
                  <a:srgbClr val="D4D4D4"/>
                </a:solidFill>
                <a:latin typeface="Courier New"/>
              </a:rPr>
              <a:t>  </a:t>
            </a:r>
            <a:r>
              <a:rPr sz="745" b="0" i="0" u="none">
                <a:solidFill>
                  <a:srgbClr val="569CD6"/>
                </a:solidFill>
                <a:latin typeface="Courier New"/>
              </a:rPr>
              <a:t>const</a:t>
            </a:r>
            <a:r>
              <a:rPr sz="745" b="0" i="0" u="none">
                <a:solidFill>
                  <a:srgbClr val="D4D4D4"/>
                </a:solidFill>
                <a:latin typeface="Courier New"/>
              </a:rPr>
              <a:t> t0 = performance.</a:t>
            </a:r>
            <a:r>
              <a:rPr sz="745" b="0" i="0" u="none">
                <a:solidFill>
                  <a:srgbClr val="DCDCAA"/>
                </a:solidFill>
                <a:latin typeface="Courier New"/>
              </a:rPr>
              <a:t>now</a:t>
            </a:r>
            <a:r>
              <a:rPr sz="745" b="0" i="0" u="none">
                <a:solidFill>
                  <a:srgbClr val="D4D4D4"/>
                </a:solidFill>
                <a:latin typeface="Courier New"/>
              </a:rPr>
              <a:t>();</a:t>
            </a:r>
          </a:p>
          <a:p>
            <a:pPr algn="l">
              <a:lnSpc>
                <a:spcPts val="1117"/>
              </a:lnSpc>
              <a:spcBef>
                <a:spcPts val="0"/>
              </a:spcBef>
              <a:spcAft>
                <a:spcPts val="0"/>
              </a:spcAft>
            </a:pPr>
            <a:r>
              <a:rPr sz="745" b="0" i="0" u="none">
                <a:solidFill>
                  <a:srgbClr val="D4D4D4"/>
                </a:solidFill>
                <a:latin typeface="Courier New"/>
              </a:rPr>
              <a:t>  </a:t>
            </a:r>
            <a:r>
              <a:rPr sz="745" b="0" i="1" u="none">
                <a:solidFill>
                  <a:srgbClr val="6A9955"/>
                </a:solidFill>
                <a:latin typeface="Courier New"/>
              </a:rPr>
              <a:t>// one retry: a 529 is the API saying "later", not "no"</a:t>
            </a:r>
          </a:p>
          <a:p>
            <a:pPr algn="l">
              <a:lnSpc>
                <a:spcPts val="1117"/>
              </a:lnSpc>
              <a:spcBef>
                <a:spcPts val="0"/>
              </a:spcBef>
              <a:spcAft>
                <a:spcPts val="0"/>
              </a:spcAft>
            </a:pPr>
            <a:r>
              <a:rPr sz="745" b="0" i="0" u="none">
                <a:solidFill>
                  <a:srgbClr val="D4D4D4"/>
                </a:solidFill>
                <a:latin typeface="Courier New"/>
              </a:rPr>
              <a:t>  </a:t>
            </a:r>
            <a:r>
              <a:rPr sz="745" b="0" i="0" u="none">
                <a:solidFill>
                  <a:srgbClr val="569CD6"/>
                </a:solidFill>
                <a:latin typeface="Courier New"/>
              </a:rPr>
              <a:t>for</a:t>
            </a:r>
            <a:r>
              <a:rPr sz="745" b="0" i="0" u="none">
                <a:solidFill>
                  <a:srgbClr val="D4D4D4"/>
                </a:solidFill>
                <a:latin typeface="Courier New"/>
              </a:rPr>
              <a:t> (</a:t>
            </a:r>
            <a:r>
              <a:rPr sz="745" b="0" i="0" u="none">
                <a:solidFill>
                  <a:srgbClr val="569CD6"/>
                </a:solidFill>
                <a:latin typeface="Courier New"/>
              </a:rPr>
              <a:t>let</a:t>
            </a:r>
            <a:r>
              <a:rPr sz="745" b="0" i="0" u="none">
                <a:solidFill>
                  <a:srgbClr val="D4D4D4"/>
                </a:solidFill>
                <a:latin typeface="Courier New"/>
              </a:rPr>
              <a:t> i = </a:t>
            </a:r>
            <a:r>
              <a:rPr sz="745" b="0" i="0" u="none">
                <a:solidFill>
                  <a:srgbClr val="B5CEA8"/>
                </a:solidFill>
                <a:latin typeface="Courier New"/>
              </a:rPr>
              <a:t>0</a:t>
            </a:r>
            <a:r>
              <a:rPr sz="745" b="0" i="0" u="none">
                <a:solidFill>
                  <a:srgbClr val="D4D4D4"/>
                </a:solidFill>
                <a:latin typeface="Courier New"/>
              </a:rPr>
              <a:t>; i &lt; </a:t>
            </a:r>
            <a:r>
              <a:rPr sz="745" b="0" i="0" u="none">
                <a:solidFill>
                  <a:srgbClr val="B5CEA8"/>
                </a:solidFill>
                <a:latin typeface="Courier New"/>
              </a:rPr>
              <a:t>2</a:t>
            </a:r>
            <a:r>
              <a:rPr sz="745" b="0" i="0" u="none">
                <a:solidFill>
                  <a:srgbClr val="D4D4D4"/>
                </a:solidFill>
                <a:latin typeface="Courier New"/>
              </a:rPr>
              <a:t>; i++) {</a:t>
            </a:r>
          </a:p>
          <a:p>
            <a:pPr algn="l">
              <a:lnSpc>
                <a:spcPts val="1117"/>
              </a:lnSpc>
              <a:spcBef>
                <a:spcPts val="0"/>
              </a:spcBef>
              <a:spcAft>
                <a:spcPts val="0"/>
              </a:spcAft>
            </a:pPr>
            <a:r>
              <a:rPr sz="745" b="0" i="0" u="none">
                <a:solidFill>
                  <a:srgbClr val="D4D4D4"/>
                </a:solidFill>
                <a:latin typeface="Courier New"/>
              </a:rPr>
              <a:t>    </a:t>
            </a:r>
            <a:r>
              <a:rPr sz="745" b="0" i="0" u="none">
                <a:solidFill>
                  <a:srgbClr val="569CD6"/>
                </a:solidFill>
                <a:latin typeface="Courier New"/>
              </a:rPr>
              <a:t>const</a:t>
            </a:r>
            <a:r>
              <a:rPr sz="745" b="0" i="0" u="none">
                <a:solidFill>
                  <a:srgbClr val="D4D4D4"/>
                </a:solidFill>
                <a:latin typeface="Courier New"/>
              </a:rPr>
              <a:t> res = </a:t>
            </a:r>
            <a:r>
              <a:rPr sz="745" b="0" i="0" u="none">
                <a:solidFill>
                  <a:srgbClr val="569CD6"/>
                </a:solidFill>
                <a:latin typeface="Courier New"/>
              </a:rPr>
              <a:t>await</a:t>
            </a:r>
            <a:r>
              <a:rPr sz="745" b="0" i="0" u="none">
                <a:solidFill>
                  <a:srgbClr val="D4D4D4"/>
                </a:solidFill>
                <a:latin typeface="Courier New"/>
              </a:rPr>
              <a:t> client.</a:t>
            </a:r>
            <a:r>
              <a:rPr sz="745" b="0" i="0" u="none">
                <a:solidFill>
                  <a:srgbClr val="9CDCFE"/>
                </a:solidFill>
                <a:latin typeface="Courier New"/>
              </a:rPr>
              <a:t>messages</a:t>
            </a:r>
            <a:r>
              <a:rPr sz="745" b="0" i="0" u="none">
                <a:solidFill>
                  <a:srgbClr val="D4D4D4"/>
                </a:solidFill>
                <a:latin typeface="Courier New"/>
              </a:rPr>
              <a:t>.</a:t>
            </a:r>
            <a:r>
              <a:rPr sz="745" b="0" i="0" u="none">
                <a:solidFill>
                  <a:srgbClr val="DCDCAA"/>
                </a:solidFill>
                <a:latin typeface="Courier New"/>
              </a:rPr>
              <a:t>create</a:t>
            </a:r>
            <a:r>
              <a:rPr sz="745" b="0" i="0" u="none">
                <a:solidFill>
                  <a:srgbClr val="D4D4D4"/>
                </a:solidFill>
                <a:latin typeface="Courier New"/>
              </a:rPr>
              <a:t>({</a:t>
            </a:r>
          </a:p>
          <a:p>
            <a:pPr algn="l">
              <a:lnSpc>
                <a:spcPts val="1117"/>
              </a:lnSpc>
              <a:spcBef>
                <a:spcPts val="0"/>
              </a:spcBef>
              <a:spcAft>
                <a:spcPts val="0"/>
              </a:spcAft>
            </a:pPr>
            <a:r>
              <a:rPr sz="745" b="0" i="0" u="none">
                <a:solidFill>
                  <a:srgbClr val="D4D4D4"/>
                </a:solidFill>
                <a:latin typeface="Courier New"/>
              </a:rPr>
              <a:t>      </a:t>
            </a:r>
            <a:r>
              <a:rPr sz="745" b="0" i="0" u="none">
                <a:solidFill>
                  <a:srgbClr val="9CDCFE"/>
                </a:solidFill>
                <a:latin typeface="Courier New"/>
              </a:rPr>
              <a:t>model</a:t>
            </a:r>
            <a:r>
              <a:rPr sz="745" b="0" i="0" u="none">
                <a:solidFill>
                  <a:srgbClr val="D4D4D4"/>
                </a:solidFill>
                <a:latin typeface="Courier New"/>
              </a:rPr>
              <a:t>: </a:t>
            </a:r>
            <a:r>
              <a:rPr sz="745" b="0" i="0" u="none">
                <a:solidFill>
                  <a:srgbClr val="CE9178"/>
                </a:solidFill>
                <a:latin typeface="Courier New"/>
              </a:rPr>
              <a:t>"claude-opus-4-8"</a:t>
            </a:r>
            <a:r>
              <a:rPr sz="745" b="0" i="0" u="none">
                <a:solidFill>
                  <a:srgbClr val="D4D4D4"/>
                </a:solidFill>
                <a:latin typeface="Courier New"/>
              </a:rPr>
              <a:t>,</a:t>
            </a:r>
          </a:p>
          <a:p>
            <a:pPr algn="l">
              <a:lnSpc>
                <a:spcPts val="1117"/>
              </a:lnSpc>
              <a:spcBef>
                <a:spcPts val="0"/>
              </a:spcBef>
              <a:spcAft>
                <a:spcPts val="0"/>
              </a:spcAft>
            </a:pPr>
            <a:r>
              <a:rPr sz="745" b="0" i="0" u="none">
                <a:solidFill>
                  <a:srgbClr val="D4D4D4"/>
                </a:solidFill>
                <a:latin typeface="Courier New"/>
              </a:rPr>
              <a:t>      </a:t>
            </a:r>
            <a:r>
              <a:rPr sz="745" b="0" i="0" u="none">
                <a:solidFill>
                  <a:srgbClr val="9CDCFE"/>
                </a:solidFill>
                <a:latin typeface="Courier New"/>
              </a:rPr>
              <a:t>max_tokens</a:t>
            </a:r>
            <a:r>
              <a:rPr sz="745" b="0" i="0" u="none">
                <a:solidFill>
                  <a:srgbClr val="D4D4D4"/>
                </a:solidFill>
                <a:latin typeface="Courier New"/>
              </a:rPr>
              <a:t>: </a:t>
            </a:r>
            <a:r>
              <a:rPr sz="745" b="0" i="0" u="none">
                <a:solidFill>
                  <a:srgbClr val="B5CEA8"/>
                </a:solidFill>
                <a:latin typeface="Courier New"/>
              </a:rPr>
              <a:t>1024</a:t>
            </a:r>
            <a:r>
              <a:rPr sz="745" b="0" i="0" u="none">
                <a:solidFill>
                  <a:srgbClr val="D4D4D4"/>
                </a:solidFill>
                <a:latin typeface="Courier New"/>
              </a:rPr>
              <a:t>,</a:t>
            </a:r>
          </a:p>
          <a:p>
            <a:pPr algn="l">
              <a:lnSpc>
                <a:spcPts val="1117"/>
              </a:lnSpc>
              <a:spcBef>
                <a:spcPts val="0"/>
              </a:spcBef>
              <a:spcAft>
                <a:spcPts val="0"/>
              </a:spcAft>
            </a:pPr>
            <a:r>
              <a:rPr sz="745" b="0" i="0" u="none">
                <a:solidFill>
                  <a:srgbClr val="D4D4D4"/>
                </a:solidFill>
                <a:latin typeface="Courier New"/>
              </a:rPr>
              <a:t>      </a:t>
            </a:r>
            <a:r>
              <a:rPr sz="745" b="0" i="0" u="none">
                <a:solidFill>
                  <a:srgbClr val="9CDCFE"/>
                </a:solidFill>
                <a:latin typeface="Courier New"/>
              </a:rPr>
              <a:t>system</a:t>
            </a:r>
            <a:r>
              <a:rPr sz="745" b="0" i="0" u="none">
                <a:solidFill>
                  <a:srgbClr val="D4D4D4"/>
                </a:solidFill>
                <a:latin typeface="Courier New"/>
              </a:rPr>
              <a:t>: [{ </a:t>
            </a:r>
            <a:r>
              <a:rPr sz="745" b="0" i="0" u="none">
                <a:solidFill>
                  <a:srgbClr val="9CDCFE"/>
                </a:solidFill>
                <a:latin typeface="Courier New"/>
              </a:rPr>
              <a:t>type</a:t>
            </a:r>
            <a:r>
              <a:rPr sz="745" b="0" i="0" u="none">
                <a:solidFill>
                  <a:srgbClr val="D4D4D4"/>
                </a:solidFill>
                <a:latin typeface="Courier New"/>
              </a:rPr>
              <a:t>: </a:t>
            </a:r>
            <a:r>
              <a:rPr sz="745" b="0" i="0" u="none">
                <a:solidFill>
                  <a:srgbClr val="CE9178"/>
                </a:solidFill>
                <a:latin typeface="Courier New"/>
              </a:rPr>
              <a:t>"text"</a:t>
            </a:r>
            <a:r>
              <a:rPr sz="745" b="0" i="0" u="none">
                <a:solidFill>
                  <a:srgbClr val="D4D4D4"/>
                </a:solidFill>
                <a:latin typeface="Courier New"/>
              </a:rPr>
              <a:t>, </a:t>
            </a:r>
            <a:r>
              <a:rPr sz="745" b="0" i="0" u="none">
                <a:solidFill>
                  <a:srgbClr val="9CDCFE"/>
                </a:solidFill>
                <a:latin typeface="Courier New"/>
              </a:rPr>
              <a:t>text</a:t>
            </a:r>
            <a:r>
              <a:rPr sz="745" b="0" i="0" u="none">
                <a:solidFill>
                  <a:srgbClr val="D4D4D4"/>
                </a:solidFill>
                <a:latin typeface="Courier New"/>
              </a:rPr>
              <a:t>: </a:t>
            </a:r>
            <a:r>
              <a:rPr sz="745" b="0" i="0" u="none">
                <a:solidFill>
                  <a:srgbClr val="9CDCFE"/>
                </a:solidFill>
                <a:latin typeface="Courier New"/>
              </a:rPr>
              <a:t>SYSTEM</a:t>
            </a:r>
            <a:r>
              <a:rPr sz="745" b="0" i="0" u="none">
                <a:solidFill>
                  <a:srgbClr val="D4D4D4"/>
                </a:solidFill>
                <a:latin typeface="Courier New"/>
              </a:rPr>
              <a:t> }],</a:t>
            </a:r>
          </a:p>
          <a:p>
            <a:pPr algn="l">
              <a:lnSpc>
                <a:spcPts val="1117"/>
              </a:lnSpc>
              <a:spcBef>
                <a:spcPts val="0"/>
              </a:spcBef>
              <a:spcAft>
                <a:spcPts val="0"/>
              </a:spcAft>
            </a:pPr>
            <a:r>
              <a:rPr sz="745" b="0" i="0" u="none">
                <a:solidFill>
                  <a:srgbClr val="D4D4D4"/>
                </a:solidFill>
                <a:latin typeface="Courier New"/>
              </a:rPr>
              <a:t>      </a:t>
            </a:r>
            <a:r>
              <a:rPr sz="745" b="0" i="0" u="none">
                <a:solidFill>
                  <a:srgbClr val="9CDCFE"/>
                </a:solidFill>
                <a:latin typeface="Courier New"/>
              </a:rPr>
              <a:t>messages</a:t>
            </a:r>
            <a:r>
              <a:rPr sz="745" b="0" i="0" u="none">
                <a:solidFill>
                  <a:srgbClr val="D4D4D4"/>
                </a:solidFill>
                <a:latin typeface="Courier New"/>
              </a:rPr>
              <a:t>: [{ </a:t>
            </a:r>
            <a:r>
              <a:rPr sz="745" b="0" i="0" u="none">
                <a:solidFill>
                  <a:srgbClr val="9CDCFE"/>
                </a:solidFill>
                <a:latin typeface="Courier New"/>
              </a:rPr>
              <a:t>role</a:t>
            </a:r>
            <a:r>
              <a:rPr sz="745" b="0" i="0" u="none">
                <a:solidFill>
                  <a:srgbClr val="D4D4D4"/>
                </a:solidFill>
                <a:latin typeface="Courier New"/>
              </a:rPr>
              <a:t>: </a:t>
            </a:r>
            <a:r>
              <a:rPr sz="745" b="0" i="0" u="none">
                <a:solidFill>
                  <a:srgbClr val="CE9178"/>
                </a:solidFill>
                <a:latin typeface="Courier New"/>
              </a:rPr>
              <a:t>"user"</a:t>
            </a:r>
            <a:r>
              <a:rPr sz="745" b="0" i="0" u="none">
                <a:solidFill>
                  <a:srgbClr val="D4D4D4"/>
                </a:solidFill>
                <a:latin typeface="Courier New"/>
              </a:rPr>
              <a:t>, </a:t>
            </a:r>
            <a:r>
              <a:rPr sz="745" b="0" i="0" u="none">
                <a:solidFill>
                  <a:srgbClr val="9CDCFE"/>
                </a:solidFill>
                <a:latin typeface="Courier New"/>
              </a:rPr>
              <a:t>content</a:t>
            </a:r>
            <a:r>
              <a:rPr sz="745" b="0" i="0" u="none">
                <a:solidFill>
                  <a:srgbClr val="D4D4D4"/>
                </a:solidFill>
                <a:latin typeface="Courier New"/>
              </a:rPr>
              <a:t>: prompt }],</a:t>
            </a:r>
          </a:p>
          <a:p>
            <a:pPr algn="l">
              <a:lnSpc>
                <a:spcPts val="1117"/>
              </a:lnSpc>
              <a:spcBef>
                <a:spcPts val="0"/>
              </a:spcBef>
              <a:spcAft>
                <a:spcPts val="0"/>
              </a:spcAft>
            </a:pPr>
            <a:r>
              <a:rPr sz="745" b="0" i="0" u="none">
                <a:solidFill>
                  <a:srgbClr val="D4D4D4"/>
                </a:solidFill>
                <a:latin typeface="Courier New"/>
              </a:rPr>
              <a:t>    });</a:t>
            </a:r>
          </a:p>
          <a:p>
            <a:pPr algn="l">
              <a:lnSpc>
                <a:spcPts val="1117"/>
              </a:lnSpc>
              <a:spcBef>
                <a:spcPts val="0"/>
              </a:spcBef>
              <a:spcAft>
                <a:spcPts val="0"/>
              </a:spcAft>
            </a:pPr>
            <a:r>
              <a:rPr sz="745" b="0" i="0" u="none">
                <a:solidFill>
                  <a:srgbClr val="D4D4D4"/>
                </a:solidFill>
                <a:latin typeface="Courier New"/>
              </a:rPr>
              <a:t>    </a:t>
            </a:r>
            <a:r>
              <a:rPr sz="745" b="0" i="0" u="none">
                <a:solidFill>
                  <a:srgbClr val="569CD6"/>
                </a:solidFill>
                <a:latin typeface="Courier New"/>
              </a:rPr>
              <a:t>if</a:t>
            </a:r>
            <a:r>
              <a:rPr sz="745" b="0" i="0" u="none">
                <a:solidFill>
                  <a:srgbClr val="D4D4D4"/>
                </a:solidFill>
                <a:latin typeface="Courier New"/>
              </a:rPr>
              <a:t> (res.</a:t>
            </a:r>
            <a:r>
              <a:rPr sz="745" b="0" i="0" u="none">
                <a:solidFill>
                  <a:srgbClr val="9CDCFE"/>
                </a:solidFill>
                <a:latin typeface="Courier New"/>
              </a:rPr>
              <a:t>stop_reason</a:t>
            </a:r>
            <a:r>
              <a:rPr sz="745" b="0" i="0" u="none">
                <a:solidFill>
                  <a:srgbClr val="D4D4D4"/>
                </a:solidFill>
                <a:latin typeface="Courier New"/>
              </a:rPr>
              <a:t> !== </a:t>
            </a:r>
            <a:r>
              <a:rPr sz="745" b="0" i="0" u="none">
                <a:solidFill>
                  <a:srgbClr val="CE9178"/>
                </a:solidFill>
                <a:latin typeface="Courier New"/>
              </a:rPr>
              <a:t>"overloaded"</a:t>
            </a:r>
            <a:r>
              <a:rPr sz="745" b="0" i="0" u="none">
                <a:solidFill>
                  <a:srgbClr val="D4D4D4"/>
                </a:solidFill>
                <a:latin typeface="Courier New"/>
              </a:rPr>
              <a:t>) {</a:t>
            </a:r>
          </a:p>
          <a:p>
            <a:pPr algn="l">
              <a:lnSpc>
                <a:spcPts val="1117"/>
              </a:lnSpc>
              <a:spcBef>
                <a:spcPts val="0"/>
              </a:spcBef>
              <a:spcAft>
                <a:spcPts val="0"/>
              </a:spcAft>
            </a:pPr>
            <a:r>
              <a:rPr sz="745" b="0" i="0" u="none">
                <a:solidFill>
                  <a:srgbClr val="D4D4D4"/>
                </a:solidFill>
                <a:latin typeface="Courier New"/>
              </a:rPr>
              <a:t>      log.</a:t>
            </a:r>
            <a:r>
              <a:rPr sz="745" b="0" i="0" u="none">
                <a:solidFill>
                  <a:srgbClr val="DCDCAA"/>
                </a:solidFill>
                <a:latin typeface="Courier New"/>
              </a:rPr>
              <a:t>info</a:t>
            </a:r>
            <a:r>
              <a:rPr sz="745" b="0" i="0" u="none">
                <a:solidFill>
                  <a:srgbClr val="D4D4D4"/>
                </a:solidFill>
                <a:latin typeface="Courier New"/>
              </a:rPr>
              <a:t>(</a:t>
            </a:r>
            <a:r>
              <a:rPr sz="745" b="0" i="0" u="none">
                <a:solidFill>
                  <a:srgbClr val="CE9178"/>
                </a:solidFill>
                <a:latin typeface="Courier New"/>
              </a:rPr>
              <a:t>"ask"</a:t>
            </a:r>
            <a:r>
              <a:rPr sz="745" b="0" i="0" u="none">
                <a:solidFill>
                  <a:srgbClr val="D4D4D4"/>
                </a:solidFill>
                <a:latin typeface="Courier New"/>
              </a:rPr>
              <a:t>, { </a:t>
            </a:r>
            <a:r>
              <a:rPr sz="745" b="0" i="0" u="none">
                <a:solidFill>
                  <a:srgbClr val="9CDCFE"/>
                </a:solidFill>
                <a:latin typeface="Courier New"/>
              </a:rPr>
              <a:t>ms</a:t>
            </a:r>
            <a:r>
              <a:rPr sz="745" b="0" i="0" u="none">
                <a:solidFill>
                  <a:srgbClr val="D4D4D4"/>
                </a:solidFill>
                <a:latin typeface="Courier New"/>
              </a:rPr>
              <a:t>: performance.</a:t>
            </a:r>
            <a:r>
              <a:rPr sz="745" b="0" i="0" u="none">
                <a:solidFill>
                  <a:srgbClr val="DCDCAA"/>
                </a:solidFill>
                <a:latin typeface="Courier New"/>
              </a:rPr>
              <a:t>now</a:t>
            </a:r>
            <a:r>
              <a:rPr sz="745" b="0" i="0" u="none">
                <a:solidFill>
                  <a:srgbClr val="D4D4D4"/>
                </a:solidFill>
                <a:latin typeface="Courier New"/>
              </a:rPr>
              <a:t>() - t0 });</a:t>
            </a:r>
          </a:p>
          <a:p>
            <a:pPr algn="l">
              <a:lnSpc>
                <a:spcPts val="1117"/>
              </a:lnSpc>
              <a:spcBef>
                <a:spcPts val="0"/>
              </a:spcBef>
              <a:spcAft>
                <a:spcPts val="0"/>
              </a:spcAft>
            </a:pPr>
            <a:r>
              <a:rPr sz="745" b="0" i="0" u="none">
                <a:solidFill>
                  <a:srgbClr val="D4D4D4"/>
                </a:solidFill>
                <a:latin typeface="Courier New"/>
              </a:rPr>
              <a:t>      </a:t>
            </a:r>
            <a:r>
              <a:rPr sz="745" b="0" i="0" u="none">
                <a:solidFill>
                  <a:srgbClr val="569CD6"/>
                </a:solidFill>
                <a:latin typeface="Courier New"/>
              </a:rPr>
              <a:t>return</a:t>
            </a:r>
            <a:r>
              <a:rPr sz="745" b="0" i="0" u="none">
                <a:solidFill>
                  <a:srgbClr val="D4D4D4"/>
                </a:solidFill>
                <a:latin typeface="Courier New"/>
              </a:rPr>
              <a:t> res.</a:t>
            </a:r>
            <a:r>
              <a:rPr sz="745" b="0" i="0" u="none">
                <a:solidFill>
                  <a:srgbClr val="9CDCFE"/>
                </a:solidFill>
                <a:latin typeface="Courier New"/>
              </a:rPr>
              <a:t>content</a:t>
            </a:r>
            <a:r>
              <a:rPr sz="745" b="0" i="0" u="none">
                <a:solidFill>
                  <a:srgbClr val="D4D4D4"/>
                </a:solidFill>
                <a:latin typeface="Courier New"/>
              </a:rPr>
              <a:t>[</a:t>
            </a:r>
            <a:r>
              <a:rPr sz="745" b="0" i="0" u="none">
                <a:solidFill>
                  <a:srgbClr val="B5CEA8"/>
                </a:solidFill>
                <a:latin typeface="Courier New"/>
              </a:rPr>
              <a:t>0</a:t>
            </a:r>
            <a:r>
              <a:rPr sz="745" b="0" i="0" u="none">
                <a:solidFill>
                  <a:srgbClr val="D4D4D4"/>
                </a:solidFill>
                <a:latin typeface="Courier New"/>
              </a:rPr>
              <a:t>].</a:t>
            </a:r>
            <a:r>
              <a:rPr sz="745" b="0" i="0" u="none">
                <a:solidFill>
                  <a:srgbClr val="9CDCFE"/>
                </a:solidFill>
                <a:latin typeface="Courier New"/>
              </a:rPr>
              <a:t>text</a:t>
            </a:r>
            <a:r>
              <a:rPr sz="745" b="0" i="0" u="none">
                <a:solidFill>
                  <a:srgbClr val="D4D4D4"/>
                </a:solidFill>
                <a:latin typeface="Courier New"/>
              </a:rPr>
              <a:t>;</a:t>
            </a:r>
          </a:p>
          <a:p>
            <a:pPr algn="l">
              <a:lnSpc>
                <a:spcPts val="1117"/>
              </a:lnSpc>
              <a:spcBef>
                <a:spcPts val="0"/>
              </a:spcBef>
              <a:spcAft>
                <a:spcPts val="0"/>
              </a:spcAft>
            </a:pPr>
            <a:r>
              <a:rPr sz="745" b="0" i="0" u="none">
                <a:solidFill>
                  <a:srgbClr val="D4D4D4"/>
                </a:solidFill>
                <a:latin typeface="Courier New"/>
              </a:rPr>
              <a:t>    }</a:t>
            </a:r>
          </a:p>
          <a:p>
            <a:pPr algn="l">
              <a:lnSpc>
                <a:spcPts val="1117"/>
              </a:lnSpc>
              <a:spcBef>
                <a:spcPts val="0"/>
              </a:spcBef>
              <a:spcAft>
                <a:spcPts val="0"/>
              </a:spcAft>
            </a:pPr>
            <a:r>
              <a:rPr sz="745" b="0" i="0" u="none">
                <a:solidFill>
                  <a:srgbClr val="D4D4D4"/>
                </a:solidFill>
                <a:latin typeface="Courier New"/>
              </a:rPr>
              <a:t>    </a:t>
            </a:r>
            <a:r>
              <a:rPr sz="745" b="0" i="0" u="none">
                <a:solidFill>
                  <a:srgbClr val="569CD6"/>
                </a:solidFill>
                <a:latin typeface="Courier New"/>
              </a:rPr>
              <a:t>await</a:t>
            </a:r>
            <a:r>
              <a:rPr sz="745" b="0" i="0" u="none">
                <a:solidFill>
                  <a:srgbClr val="D4D4D4"/>
                </a:solidFill>
                <a:latin typeface="Courier New"/>
              </a:rPr>
              <a:t> </a:t>
            </a:r>
            <a:r>
              <a:rPr sz="745" b="0" i="0" u="none">
                <a:solidFill>
                  <a:srgbClr val="DCDCAA"/>
                </a:solidFill>
                <a:latin typeface="Courier New"/>
              </a:rPr>
              <a:t>sleep</a:t>
            </a:r>
            <a:r>
              <a:rPr sz="745" b="0" i="0" u="none">
                <a:solidFill>
                  <a:srgbClr val="D4D4D4"/>
                </a:solidFill>
                <a:latin typeface="Courier New"/>
              </a:rPr>
              <a:t>(</a:t>
            </a:r>
            <a:r>
              <a:rPr sz="745" b="0" i="0" u="none">
                <a:solidFill>
                  <a:srgbClr val="B5CEA8"/>
                </a:solidFill>
                <a:latin typeface="Courier New"/>
              </a:rPr>
              <a:t>250</a:t>
            </a:r>
            <a:r>
              <a:rPr sz="745" b="0" i="0" u="none">
                <a:solidFill>
                  <a:srgbClr val="D4D4D4"/>
                </a:solidFill>
                <a:latin typeface="Courier New"/>
              </a:rPr>
              <a:t> * (i + </a:t>
            </a:r>
            <a:r>
              <a:rPr sz="745" b="0" i="0" u="none">
                <a:solidFill>
                  <a:srgbClr val="B5CEA8"/>
                </a:solidFill>
                <a:latin typeface="Courier New"/>
              </a:rPr>
              <a:t>1</a:t>
            </a:r>
            <a:r>
              <a:rPr sz="745" b="0" i="0" u="none">
                <a:solidFill>
                  <a:srgbClr val="D4D4D4"/>
                </a:solidFill>
                <a:latin typeface="Courier New"/>
              </a:rPr>
              <a:t>));</a:t>
            </a:r>
          </a:p>
          <a:p>
            <a:pPr algn="l">
              <a:lnSpc>
                <a:spcPts val="1117"/>
              </a:lnSpc>
              <a:spcBef>
                <a:spcPts val="0"/>
              </a:spcBef>
              <a:spcAft>
                <a:spcPts val="0"/>
              </a:spcAft>
            </a:pPr>
            <a:r>
              <a:rPr sz="745" b="0" i="0" u="none">
                <a:solidFill>
                  <a:srgbClr val="D4D4D4"/>
                </a:solidFill>
                <a:latin typeface="Courier New"/>
              </a:rPr>
              <a:t>  }</a:t>
            </a:r>
          </a:p>
          <a:p>
            <a:pPr algn="l">
              <a:lnSpc>
                <a:spcPts val="1117"/>
              </a:lnSpc>
              <a:spcBef>
                <a:spcPts val="0"/>
              </a:spcBef>
              <a:spcAft>
                <a:spcPts val="0"/>
              </a:spcAft>
            </a:pPr>
            <a:r>
              <a:rPr sz="745" b="0" i="0" u="none">
                <a:solidFill>
                  <a:srgbClr val="D4D4D4"/>
                </a:solidFill>
                <a:latin typeface="Courier New"/>
              </a:rPr>
              <a:t>  </a:t>
            </a:r>
            <a:r>
              <a:rPr sz="745" b="0" i="0" u="none">
                <a:solidFill>
                  <a:srgbClr val="569CD6"/>
                </a:solidFill>
                <a:latin typeface="Courier New"/>
              </a:rPr>
              <a:t>throw</a:t>
            </a:r>
            <a:r>
              <a:rPr sz="745" b="0" i="0" u="none">
                <a:solidFill>
                  <a:srgbClr val="D4D4D4"/>
                </a:solidFill>
                <a:latin typeface="Courier New"/>
              </a:rPr>
              <a:t> </a:t>
            </a:r>
            <a:r>
              <a:rPr sz="745" b="0" i="0" u="none">
                <a:solidFill>
                  <a:srgbClr val="569CD6"/>
                </a:solidFill>
                <a:latin typeface="Courier New"/>
              </a:rPr>
              <a:t>new</a:t>
            </a:r>
            <a:r>
              <a:rPr sz="745" b="0" i="0" u="none">
                <a:solidFill>
                  <a:srgbClr val="D4D4D4"/>
                </a:solidFill>
                <a:latin typeface="Courier New"/>
              </a:rPr>
              <a:t> </a:t>
            </a:r>
            <a:r>
              <a:rPr sz="745" b="0" i="0" u="none">
                <a:solidFill>
                  <a:srgbClr val="4EC9B0"/>
                </a:solidFill>
                <a:latin typeface="Courier New"/>
              </a:rPr>
              <a:t>Error</a:t>
            </a:r>
            <a:r>
              <a:rPr sz="745" b="0" i="0" u="none">
                <a:solidFill>
                  <a:srgbClr val="D4D4D4"/>
                </a:solidFill>
                <a:latin typeface="Courier New"/>
              </a:rPr>
              <a:t>(</a:t>
            </a:r>
            <a:r>
              <a:rPr sz="745" b="0" i="0" u="none">
                <a:solidFill>
                  <a:srgbClr val="CE9178"/>
                </a:solidFill>
                <a:latin typeface="Courier New"/>
              </a:rPr>
              <a:t>"overloaded"</a:t>
            </a:r>
            <a:r>
              <a:rPr sz="745" b="0" i="0" u="none">
                <a:solidFill>
                  <a:srgbClr val="D4D4D4"/>
                </a:solidFill>
                <a:latin typeface="Courier New"/>
              </a:rPr>
              <a:t>);</a:t>
            </a:r>
          </a:p>
          <a:p>
            <a:pPr algn="l">
              <a:lnSpc>
                <a:spcPts val="1117"/>
              </a:lnSpc>
              <a:spcBef>
                <a:spcPts val="0"/>
              </a:spcBef>
              <a:spcAft>
                <a:spcPts val="0"/>
              </a:spcAft>
            </a:pPr>
            <a:r>
              <a:rPr sz="745" b="0" i="0" u="none">
                <a:solidFill>
                  <a:srgbClr val="D4D4D4"/>
                </a:solidFill>
                <a:latin typeface="Courier New"/>
              </a:rPr>
              <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content-text: the prose last resort</a:t>
            </a:r>
          </a:p>
        </p:txBody>
      </p:sp>
      <p:sp>
        <p:nvSpPr>
          <p:cNvPr id="5" name="TextBox 4"/>
          <p:cNvSpPr txBox="1"/>
          <p:nvPr/>
        </p:nvSpPr>
        <p:spPr>
          <a:xfrm>
            <a:off x="670465" y="1775555"/>
            <a:ext cx="11030760" cy="1664589"/>
          </a:xfrm>
          <a:prstGeom prst="rect">
            <a:avLst/>
          </a:prstGeom>
          <a:noFill/>
        </p:spPr>
        <p:txBody>
          <a:bodyPr wrap="square" anchor="ctr" lIns="0" tIns="0" rIns="0" bIns="0">
            <a:noAutofit/>
          </a:bodyPr>
          <a:lstStyle/>
          <a:p>
            <a:pPr algn="l">
              <a:lnSpc>
                <a:spcPts val="4416"/>
              </a:lnSpc>
              <a:spcBef>
                <a:spcPts val="0"/>
              </a:spcBef>
              <a:spcAft>
                <a:spcPts val="0"/>
              </a:spcAft>
            </a:pPr>
            <a:r>
              <a:rPr sz="3840" b="1" i="0" u="none">
                <a:solidFill>
                  <a:srgbClr val="1F1E1E"/>
                </a:solidFill>
                <a:latin typeface="Arial"/>
              </a:rPr>
              <a:t>content-text carries only prose — a definition or a framing — when nothing richer fits.</a:t>
            </a:r>
          </a:p>
        </p:txBody>
      </p:sp>
      <p:sp>
        <p:nvSpPr>
          <p:cNvPr id="6" name="Rounded Rectangle 5"/>
          <p:cNvSpPr/>
          <p:nvPr/>
        </p:nvSpPr>
        <p:spPr>
          <a:xfrm>
            <a:off x="670465" y="3262789"/>
            <a:ext cx="3453670" cy="1926146"/>
          </a:xfrm>
          <a:prstGeom prst="roundRect">
            <a:avLst>
              <a:gd name="adj" fmla="val 1012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3073" y="3536347"/>
            <a:ext cx="2930531" cy="1636300"/>
          </a:xfrm>
          <a:prstGeom prst="rect">
            <a:avLst/>
          </a:prstGeom>
          <a:noFill/>
        </p:spPr>
        <p:txBody>
          <a:bodyPr wrap="square" anchor="ctr" lIns="0" tIns="0" rIns="0" bIns="0">
            <a:noAutofit/>
          </a:bodyPr>
          <a:lstStyle/>
          <a:p>
            <a:pPr algn="l">
              <a:lnSpc>
                <a:spcPts val="2112"/>
              </a:lnSpc>
              <a:spcBef>
                <a:spcPts val="0"/>
              </a:spcBef>
              <a:spcAft>
                <a:spcPts val="0"/>
              </a:spcAft>
            </a:pPr>
            <a:r>
              <a:rPr sz="2112" b="1" i="0" u="none">
                <a:solidFill>
                  <a:srgbClr val="3B3535"/>
                </a:solidFill>
                <a:latin typeface="Arial"/>
              </a:rPr>
              <a:t>It renders as one lead line plus a few light panels, never a paragraph and never bullets.</a:t>
            </a:r>
          </a:p>
        </p:txBody>
      </p:sp>
      <p:sp>
        <p:nvSpPr>
          <p:cNvPr id="8" name="Rounded Rectangle 7"/>
          <p:cNvSpPr/>
          <p:nvPr/>
        </p:nvSpPr>
        <p:spPr>
          <a:xfrm>
            <a:off x="4367974" y="3262789"/>
            <a:ext cx="3453860" cy="1926146"/>
          </a:xfrm>
          <a:prstGeom prst="roundRect">
            <a:avLst>
              <a:gd name="adj" fmla="val 10127"/>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4660582" y="3536347"/>
            <a:ext cx="2930724" cy="1636300"/>
          </a:xfrm>
          <a:prstGeom prst="rect">
            <a:avLst/>
          </a:prstGeom>
          <a:noFill/>
        </p:spPr>
        <p:txBody>
          <a:bodyPr wrap="square" anchor="ctr" lIns="0" tIns="0" rIns="0" bIns="0">
            <a:noAutofit/>
          </a:bodyPr>
          <a:lstStyle/>
          <a:p>
            <a:pPr algn="l">
              <a:lnSpc>
                <a:spcPts val="2112"/>
              </a:lnSpc>
              <a:spcBef>
                <a:spcPts val="0"/>
              </a:spcBef>
              <a:spcAft>
                <a:spcPts val="0"/>
              </a:spcAft>
            </a:pPr>
            <a:r>
              <a:rPr sz="2112" b="1" i="0" u="none">
                <a:solidFill>
                  <a:srgbClr val="3B3535"/>
                </a:solidFill>
                <a:latin typeface="Arial"/>
              </a:rPr>
              <a:t>The fill flags it as a restructure candidate: most prose slides are really cards in disguise.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Highlights: the seven kinds</a:t>
            </a:r>
          </a:p>
        </p:txBody>
      </p:sp>
      <p:sp>
        <p:nvSpPr>
          <p:cNvPr id="5" name="Rounded Rectangle 4"/>
          <p:cNvSpPr/>
          <p:nvPr/>
        </p:nvSpPr>
        <p:spPr>
          <a:xfrm>
            <a:off x="670465" y="2068163"/>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0465" y="2068163"/>
            <a:ext cx="57150" cy="51177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886016" y="2214277"/>
            <a:ext cx="243745" cy="243745"/>
          </a:xfrm>
          <a:prstGeom prst="rect">
            <a:avLst/>
          </a:prstGeom>
        </p:spPr>
      </p:pic>
      <p:sp>
        <p:nvSpPr>
          <p:cNvPr id="8" name="TextBox 7"/>
          <p:cNvSpPr txBox="1"/>
          <p:nvPr/>
        </p:nvSpPr>
        <p:spPr>
          <a:xfrm>
            <a:off x="1251680" y="2209038"/>
            <a:ext cx="4426268"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Takeaway</a:t>
            </a:r>
            <a:r>
              <a:rPr sz="1402" b="0" i="0" u="none">
                <a:solidFill>
                  <a:srgbClr val="1F1E1E"/>
                </a:solidFill>
                <a:latin typeface="Arial"/>
              </a:rPr>
              <a:t>: the one idea to remember (the default kind).</a:t>
            </a:r>
          </a:p>
        </p:txBody>
      </p:sp>
      <p:sp>
        <p:nvSpPr>
          <p:cNvPr id="9" name="Rounded Rectangle 8"/>
          <p:cNvSpPr/>
          <p:nvPr/>
        </p:nvSpPr>
        <p:spPr>
          <a:xfrm>
            <a:off x="670465" y="2726246"/>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Rectangle 9"/>
          <p:cNvSpPr/>
          <p:nvPr/>
        </p:nvSpPr>
        <p:spPr>
          <a:xfrm>
            <a:off x="670465" y="2726246"/>
            <a:ext cx="57150" cy="511778"/>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886016" y="2872359"/>
            <a:ext cx="243745" cy="243745"/>
          </a:xfrm>
          <a:prstGeom prst="rect">
            <a:avLst/>
          </a:prstGeom>
        </p:spPr>
      </p:pic>
      <p:sp>
        <p:nvSpPr>
          <p:cNvPr id="12" name="TextBox 11"/>
          <p:cNvSpPr txBox="1"/>
          <p:nvPr/>
        </p:nvSpPr>
        <p:spPr>
          <a:xfrm>
            <a:off x="1251680" y="2867216"/>
            <a:ext cx="3418618"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Important</a:t>
            </a:r>
            <a:r>
              <a:rPr sz="1402" b="0" i="0" u="none">
                <a:solidFill>
                  <a:srgbClr val="1F1E1E"/>
                </a:solidFill>
                <a:latin typeface="Arial"/>
              </a:rPr>
              <a:t>: a risk, a limit, or a hard 'do not'.</a:t>
            </a:r>
          </a:p>
        </p:txBody>
      </p:sp>
      <p:sp>
        <p:nvSpPr>
          <p:cNvPr id="13" name="Rounded Rectangle 12"/>
          <p:cNvSpPr/>
          <p:nvPr/>
        </p:nvSpPr>
        <p:spPr>
          <a:xfrm>
            <a:off x="670465" y="3384328"/>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670465" y="3384328"/>
            <a:ext cx="57150" cy="511778"/>
          </a:xfrm>
          <a:prstGeom prst="rect">
            <a:avLst/>
          </a:prstGeom>
          <a:solidFill>
            <a:srgbClr val="5B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4"/>
          <a:stretch>
            <a:fillRect/>
          </a:stretch>
        </p:blipFill>
        <p:spPr>
          <a:xfrm>
            <a:off x="886016" y="3530537"/>
            <a:ext cx="243745" cy="243745"/>
          </a:xfrm>
          <a:prstGeom prst="rect">
            <a:avLst/>
          </a:prstGeom>
        </p:spPr>
      </p:pic>
      <p:sp>
        <p:nvSpPr>
          <p:cNvPr id="16" name="TextBox 15"/>
          <p:cNvSpPr txBox="1"/>
          <p:nvPr/>
        </p:nvSpPr>
        <p:spPr>
          <a:xfrm>
            <a:off x="1251680" y="3525298"/>
            <a:ext cx="2629090"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Definition</a:t>
            </a:r>
            <a:r>
              <a:rPr sz="1402" b="0" i="0" u="none">
                <a:solidFill>
                  <a:srgbClr val="1F1E1E"/>
                </a:solidFill>
                <a:latin typeface="Arial"/>
              </a:rPr>
              <a:t>: a term being defined.</a:t>
            </a:r>
          </a:p>
        </p:txBody>
      </p:sp>
      <p:sp>
        <p:nvSpPr>
          <p:cNvPr id="17" name="Rounded Rectangle 16"/>
          <p:cNvSpPr/>
          <p:nvPr/>
        </p:nvSpPr>
        <p:spPr>
          <a:xfrm>
            <a:off x="670465" y="4042505"/>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Rectangle 17"/>
          <p:cNvSpPr/>
          <p:nvPr/>
        </p:nvSpPr>
        <p:spPr>
          <a:xfrm>
            <a:off x="670465" y="4042505"/>
            <a:ext cx="57150" cy="511778"/>
          </a:xfrm>
          <a:prstGeom prst="rect">
            <a:avLst/>
          </a:prstGeom>
          <a:solidFill>
            <a:srgbClr val="0E8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9" name="Picture 18" descr="image.png"/>
          <p:cNvPicPr>
            <a:picLocks noChangeAspect="1"/>
          </p:cNvPicPr>
          <p:nvPr/>
        </p:nvPicPr>
        <p:blipFill>
          <a:blip r:embed="rId5"/>
          <a:stretch>
            <a:fillRect/>
          </a:stretch>
        </p:blipFill>
        <p:spPr>
          <a:xfrm>
            <a:off x="886016" y="4188619"/>
            <a:ext cx="243745" cy="243745"/>
          </a:xfrm>
          <a:prstGeom prst="rect">
            <a:avLst/>
          </a:prstGeom>
        </p:spPr>
      </p:pic>
      <p:sp>
        <p:nvSpPr>
          <p:cNvPr id="20" name="TextBox 19"/>
          <p:cNvSpPr txBox="1"/>
          <p:nvPr/>
        </p:nvSpPr>
        <p:spPr>
          <a:xfrm>
            <a:off x="1251680" y="4183380"/>
            <a:ext cx="3104102"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Example</a:t>
            </a:r>
            <a:r>
              <a:rPr sz="1402" b="0" i="0" u="none">
                <a:solidFill>
                  <a:srgbClr val="1F1E1E"/>
                </a:solidFill>
                <a:latin typeface="Arial"/>
              </a:rPr>
              <a:t>: a concrete case or scenario.</a:t>
            </a:r>
          </a:p>
        </p:txBody>
      </p:sp>
      <p:sp>
        <p:nvSpPr>
          <p:cNvPr id="21" name="Rounded Rectangle 20"/>
          <p:cNvSpPr/>
          <p:nvPr/>
        </p:nvSpPr>
        <p:spPr>
          <a:xfrm>
            <a:off x="670465" y="4700588"/>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670465" y="4700588"/>
            <a:ext cx="57150" cy="511778"/>
          </a:xfrm>
          <a:prstGeom prst="rect">
            <a:avLst/>
          </a:prstGeom>
          <a:solidFill>
            <a:srgbClr val="8A7E7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3" name="Picture 22" descr="image.png"/>
          <p:cNvPicPr>
            <a:picLocks noChangeAspect="1"/>
          </p:cNvPicPr>
          <p:nvPr/>
        </p:nvPicPr>
        <p:blipFill>
          <a:blip r:embed="rId6"/>
          <a:stretch>
            <a:fillRect/>
          </a:stretch>
        </p:blipFill>
        <p:spPr>
          <a:xfrm>
            <a:off x="886016" y="4846701"/>
            <a:ext cx="243745" cy="243745"/>
          </a:xfrm>
          <a:prstGeom prst="rect">
            <a:avLst/>
          </a:prstGeom>
        </p:spPr>
      </p:pic>
      <p:sp>
        <p:nvSpPr>
          <p:cNvPr id="24" name="TextBox 23"/>
          <p:cNvSpPr txBox="1"/>
          <p:nvPr/>
        </p:nvSpPr>
        <p:spPr>
          <a:xfrm>
            <a:off x="1251680" y="4841558"/>
            <a:ext cx="2749010"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1" u="none">
                <a:solidFill>
                  <a:srgbClr val="1F1E1E"/>
                </a:solidFill>
                <a:latin typeface="Arial"/>
              </a:rPr>
              <a:t>"A cited line — rendered in italics."</a:t>
            </a:r>
          </a:p>
        </p:txBody>
      </p:sp>
      <p:sp>
        <p:nvSpPr>
          <p:cNvPr id="25" name="Rounded Rectangle 24"/>
          <p:cNvSpPr/>
          <p:nvPr/>
        </p:nvSpPr>
        <p:spPr>
          <a:xfrm>
            <a:off x="670465" y="5358670"/>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Rectangle 25"/>
          <p:cNvSpPr/>
          <p:nvPr/>
        </p:nvSpPr>
        <p:spPr>
          <a:xfrm>
            <a:off x="670465" y="5358670"/>
            <a:ext cx="57150" cy="511778"/>
          </a:xfrm>
          <a:prstGeom prst="rect">
            <a:avLst/>
          </a:prstGeom>
          <a:solidFill>
            <a:srgbClr val="6E666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7" name="Picture 26" descr="image.png"/>
          <p:cNvPicPr>
            <a:picLocks noChangeAspect="1"/>
          </p:cNvPicPr>
          <p:nvPr/>
        </p:nvPicPr>
        <p:blipFill>
          <a:blip r:embed="rId7"/>
          <a:stretch>
            <a:fillRect/>
          </a:stretch>
        </p:blipFill>
        <p:spPr>
          <a:xfrm>
            <a:off x="886016" y="5504879"/>
            <a:ext cx="243745" cy="243745"/>
          </a:xfrm>
          <a:prstGeom prst="rect">
            <a:avLst/>
          </a:prstGeom>
        </p:spPr>
      </p:pic>
      <p:sp>
        <p:nvSpPr>
          <p:cNvPr id="28" name="TextBox 27"/>
          <p:cNvSpPr txBox="1"/>
          <p:nvPr/>
        </p:nvSpPr>
        <p:spPr>
          <a:xfrm>
            <a:off x="1251680" y="5499640"/>
            <a:ext cx="2579656"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Note</a:t>
            </a:r>
            <a:r>
              <a:rPr sz="1402" b="0" i="0" u="none">
                <a:solidFill>
                  <a:srgbClr val="1F1E1E"/>
                </a:solidFill>
                <a:latin typeface="Arial"/>
              </a:rPr>
              <a:t>: an aside or minor context.</a:t>
            </a:r>
          </a:p>
        </p:txBody>
      </p:sp>
      <p:sp>
        <p:nvSpPr>
          <p:cNvPr id="29" name="TextBox 28"/>
          <p:cNvSpPr txBox="1"/>
          <p:nvPr/>
        </p:nvSpPr>
        <p:spPr>
          <a:xfrm>
            <a:off x="670465" y="6084570"/>
            <a:ext cx="4623626"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6E6663"/>
                </a:solidFill>
                <a:latin typeface="Arial"/>
              </a:rPr>
              <a:t>Fuente: Talksmith slide-model schema, §highlights (2026).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532477"/>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design: split-right — media contained on the right</a:t>
            </a:r>
          </a:p>
        </p:txBody>
      </p:sp>
      <p:sp>
        <p:nvSpPr>
          <p:cNvPr id="5" name="TextBox 4"/>
          <p:cNvSpPr txBox="1"/>
          <p:nvPr/>
        </p:nvSpPr>
        <p:spPr>
          <a:xfrm>
            <a:off x="670465" y="2187607"/>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 diagram the audience actually reads gets half the canvas, uncropped.</a:t>
            </a:r>
          </a:p>
        </p:txBody>
      </p:sp>
      <p:sp>
        <p:nvSpPr>
          <p:cNvPr id="6" name="Rounded Rectangle 5"/>
          <p:cNvSpPr/>
          <p:nvPr/>
        </p:nvSpPr>
        <p:spPr>
          <a:xfrm>
            <a:off x="670465" y="2745391"/>
            <a:ext cx="2492312" cy="3067812"/>
          </a:xfrm>
          <a:prstGeom prst="roundRect">
            <a:avLst>
              <a:gd name="adj" fmla="val 978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916591" y="3032474"/>
            <a:ext cx="594646" cy="594646"/>
          </a:xfrm>
          <a:prstGeom prst="rect">
            <a:avLst/>
          </a:prstGeom>
        </p:spPr>
      </p:pic>
      <p:sp>
        <p:nvSpPr>
          <p:cNvPr id="8" name="TextBox 7"/>
          <p:cNvSpPr txBox="1"/>
          <p:nvPr/>
        </p:nvSpPr>
        <p:spPr>
          <a:xfrm>
            <a:off x="1685449" y="3024378"/>
            <a:ext cx="1268720" cy="1052417"/>
          </a:xfrm>
          <a:prstGeom prst="rect">
            <a:avLst/>
          </a:prstGeom>
          <a:noFill/>
        </p:spPr>
        <p:txBody>
          <a:bodyPr wrap="square" anchor="ctr" lIns="0" tIns="0" rIns="0" bIns="0">
            <a:noAutofit/>
          </a:bodyPr>
          <a:lstStyle/>
          <a:p>
            <a:pPr algn="l">
              <a:lnSpc>
                <a:spcPts val="2572"/>
              </a:lnSpc>
              <a:spcBef>
                <a:spcPts val="0"/>
              </a:spcBef>
              <a:spcAft>
                <a:spcPts val="0"/>
              </a:spcAft>
            </a:pPr>
            <a:r>
              <a:rPr sz="2339" b="1" i="0" u="none">
                <a:solidFill>
                  <a:srgbClr val="1F1E1E"/>
                </a:solidFill>
                <a:latin typeface="Arial"/>
              </a:rPr>
              <a:t>Design first</a:t>
            </a:r>
          </a:p>
        </p:txBody>
      </p:sp>
      <p:sp>
        <p:nvSpPr>
          <p:cNvPr id="9" name="TextBox 8"/>
          <p:cNvSpPr txBox="1"/>
          <p:nvPr/>
        </p:nvSpPr>
        <p:spPr>
          <a:xfrm>
            <a:off x="1685449" y="3753707"/>
            <a:ext cx="1268720" cy="1755172"/>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How the canvas is divided is chosen before the template.</a:t>
            </a:r>
          </a:p>
        </p:txBody>
      </p:sp>
      <p:sp>
        <p:nvSpPr>
          <p:cNvPr id="10" name="Rounded Rectangle 9"/>
          <p:cNvSpPr/>
          <p:nvPr/>
        </p:nvSpPr>
        <p:spPr>
          <a:xfrm>
            <a:off x="3388328" y="2745391"/>
            <a:ext cx="2492407" cy="3067812"/>
          </a:xfrm>
          <a:prstGeom prst="roundRect">
            <a:avLst>
              <a:gd name="adj" fmla="val 978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3634359" y="3032474"/>
            <a:ext cx="594646" cy="594646"/>
          </a:xfrm>
          <a:prstGeom prst="rect">
            <a:avLst/>
          </a:prstGeom>
        </p:spPr>
      </p:pic>
      <p:sp>
        <p:nvSpPr>
          <p:cNvPr id="12" name="TextBox 11"/>
          <p:cNvSpPr txBox="1"/>
          <p:nvPr/>
        </p:nvSpPr>
        <p:spPr>
          <a:xfrm>
            <a:off x="4403217" y="3024378"/>
            <a:ext cx="1268913" cy="1052417"/>
          </a:xfrm>
          <a:prstGeom prst="rect">
            <a:avLst/>
          </a:prstGeom>
          <a:noFill/>
        </p:spPr>
        <p:txBody>
          <a:bodyPr wrap="square" anchor="ctr" lIns="0" tIns="0" rIns="0" bIns="0">
            <a:noAutofit/>
          </a:bodyPr>
          <a:lstStyle/>
          <a:p>
            <a:pPr algn="l">
              <a:lnSpc>
                <a:spcPts val="2572"/>
              </a:lnSpc>
              <a:spcBef>
                <a:spcPts val="0"/>
              </a:spcBef>
              <a:spcAft>
                <a:spcPts val="0"/>
              </a:spcAft>
            </a:pPr>
            <a:r>
              <a:rPr sz="2339" b="1" i="0" u="none">
                <a:solidFill>
                  <a:srgbClr val="1F1E1E"/>
                </a:solidFill>
                <a:latin typeface="Arial"/>
              </a:rPr>
              <a:t>Style second</a:t>
            </a:r>
          </a:p>
        </p:txBody>
      </p:sp>
      <p:sp>
        <p:nvSpPr>
          <p:cNvPr id="13" name="TextBox 12"/>
          <p:cNvSpPr txBox="1"/>
          <p:nvPr/>
        </p:nvSpPr>
        <p:spPr>
          <a:xfrm>
            <a:off x="4403217" y="3753707"/>
            <a:ext cx="1268913" cy="1755172"/>
          </a:xfrm>
          <a:prstGeom prst="rect">
            <a:avLst/>
          </a:prstGeom>
          <a:noFill/>
        </p:spPr>
        <p:txBody>
          <a:bodyPr wrap="square" anchor="ctr" lIns="0" tIns="0" rIns="0" bIns="0">
            <a:noAutofit/>
          </a:bodyPr>
          <a:lstStyle/>
          <a:p>
            <a:pPr algn="l">
              <a:lnSpc>
                <a:spcPts val="2359"/>
              </a:lnSpc>
              <a:spcBef>
                <a:spcPts val="0"/>
              </a:spcBef>
              <a:spcAft>
                <a:spcPts val="0"/>
              </a:spcAft>
            </a:pPr>
            <a:r>
              <a:rPr sz="1814" b="0" i="0" u="none">
                <a:solidFill>
                  <a:srgbClr val="3B3535"/>
                </a:solidFill>
                <a:latin typeface="Arial"/>
              </a:rPr>
              <a:t>The template only says what shape the content takes.</a:t>
            </a:r>
          </a:p>
        </p:txBody>
      </p:sp>
      <p:sp>
        <p:nvSpPr>
          <p:cNvPr id="14" name="TextBox 13"/>
          <p:cNvSpPr txBox="1"/>
          <p:nvPr/>
        </p:nvSpPr>
        <p:spPr>
          <a:xfrm>
            <a:off x="670465" y="6027230"/>
            <a:ext cx="5262086"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6E6663"/>
                </a:solidFill>
                <a:latin typeface="Arial"/>
              </a:rPr>
              <a:t>Fuente: </a:t>
            </a:r>
            <a:r>
              <a:rPr sz="1402" b="1" i="0" u="sng">
                <a:solidFill>
                  <a:srgbClr val="DA1B2E"/>
                </a:solidFill>
                <a:latin typeface="Arial"/>
                <a:hlinkClick r:id="rId4"/>
              </a:rPr>
              <a:t>WHO — Ethics and governance of AI for health</a:t>
            </a:r>
            <a:r>
              <a:rPr sz="1402" b="0" i="0" u="none">
                <a:solidFill>
                  <a:srgbClr val="6E6663"/>
                </a:solidFill>
                <a:latin typeface="Arial"/>
              </a:rPr>
              <a:t> (2024).</a:t>
            </a:r>
          </a:p>
        </p:txBody>
      </p:sp>
      <p:sp>
        <p:nvSpPr>
          <p:cNvPr id="15" name="Rounded Rectangle 14"/>
          <p:cNvSpPr/>
          <p:nvPr/>
        </p:nvSpPr>
        <p:spPr>
          <a:xfrm>
            <a:off x="6309265" y="2745391"/>
            <a:ext cx="5212270" cy="3067812"/>
          </a:xfrm>
          <a:prstGeom prst="roundRect">
            <a:avLst>
              <a:gd name="adj" fmla="val 5563"/>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6" name="Picture 15" descr="image.png"/>
          <p:cNvPicPr>
            <a:picLocks noChangeAspect="1"/>
          </p:cNvPicPr>
          <p:nvPr/>
        </p:nvPicPr>
        <p:blipFill>
          <a:blip r:embed="rId5"/>
          <a:stretch>
            <a:fillRect/>
          </a:stretch>
        </p:blipFill>
        <p:spPr>
          <a:xfrm>
            <a:off x="6318980" y="2818828"/>
            <a:ext cx="5192935" cy="2921032"/>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design: split-left — the picture leads</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Same design mirrored in CSS; the markup order (and the reading order) never changes.</a:t>
            </a:r>
          </a:p>
        </p:txBody>
      </p:sp>
      <p:sp>
        <p:nvSpPr>
          <p:cNvPr id="6" name="Rounded Rectangle 5"/>
          <p:cNvSpPr/>
          <p:nvPr/>
        </p:nvSpPr>
        <p:spPr>
          <a:xfrm>
            <a:off x="6309265" y="2192369"/>
            <a:ext cx="2678335" cy="4016312"/>
          </a:xfrm>
          <a:prstGeom prst="roundRect">
            <a:avLst>
              <a:gd name="adj" fmla="val 910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6601873" y="2533650"/>
            <a:ext cx="707041" cy="707041"/>
          </a:xfrm>
          <a:prstGeom prst="rect">
            <a:avLst/>
          </a:prstGeom>
        </p:spPr>
      </p:pic>
      <p:sp>
        <p:nvSpPr>
          <p:cNvPr id="8" name="TextBox 7"/>
          <p:cNvSpPr txBox="1"/>
          <p:nvPr/>
        </p:nvSpPr>
        <p:spPr>
          <a:xfrm>
            <a:off x="7516082" y="2524125"/>
            <a:ext cx="1215643" cy="1177862"/>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Design first</a:t>
            </a:r>
          </a:p>
        </p:txBody>
      </p:sp>
      <p:sp>
        <p:nvSpPr>
          <p:cNvPr id="9" name="TextBox 8"/>
          <p:cNvSpPr txBox="1"/>
          <p:nvPr/>
        </p:nvSpPr>
        <p:spPr>
          <a:xfrm>
            <a:off x="7516082" y="3391376"/>
            <a:ext cx="1215643" cy="2475928"/>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How the canvas is divided is chosen before the template.</a:t>
            </a:r>
          </a:p>
        </p:txBody>
      </p:sp>
      <p:sp>
        <p:nvSpPr>
          <p:cNvPr id="10" name="Rounded Rectangle 9"/>
          <p:cNvSpPr/>
          <p:nvPr/>
        </p:nvSpPr>
        <p:spPr>
          <a:xfrm>
            <a:off x="9255728" y="2192369"/>
            <a:ext cx="2265807" cy="4016312"/>
          </a:xfrm>
          <a:prstGeom prst="roundRect">
            <a:avLst>
              <a:gd name="adj" fmla="val 1076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9548336" y="2533650"/>
            <a:ext cx="707041" cy="707041"/>
          </a:xfrm>
          <a:prstGeom prst="rect">
            <a:avLst/>
          </a:prstGeom>
        </p:spPr>
      </p:pic>
      <p:sp>
        <p:nvSpPr>
          <p:cNvPr id="12" name="TextBox 11"/>
          <p:cNvSpPr txBox="1"/>
          <p:nvPr/>
        </p:nvSpPr>
        <p:spPr>
          <a:xfrm>
            <a:off x="10462641" y="2524125"/>
            <a:ext cx="1093828" cy="1177862"/>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Style second</a:t>
            </a:r>
          </a:p>
        </p:txBody>
      </p:sp>
      <p:sp>
        <p:nvSpPr>
          <p:cNvPr id="13" name="TextBox 12"/>
          <p:cNvSpPr txBox="1"/>
          <p:nvPr/>
        </p:nvSpPr>
        <p:spPr>
          <a:xfrm>
            <a:off x="10462641" y="3391376"/>
            <a:ext cx="1093828" cy="2475928"/>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template only says what shape the content takes.</a:t>
            </a:r>
          </a:p>
        </p:txBody>
      </p:sp>
      <p:sp>
        <p:nvSpPr>
          <p:cNvPr id="14" name="Rounded Rectangle 13"/>
          <p:cNvSpPr/>
          <p:nvPr/>
        </p:nvSpPr>
        <p:spPr>
          <a:xfrm>
            <a:off x="670465" y="2192369"/>
            <a:ext cx="5212080" cy="4056031"/>
          </a:xfrm>
          <a:prstGeom prst="roundRect">
            <a:avLst>
              <a:gd name="adj" fmla="val 4208"/>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5" name="Picture 14" descr="image.png"/>
          <p:cNvPicPr>
            <a:picLocks noChangeAspect="1"/>
          </p:cNvPicPr>
          <p:nvPr/>
        </p:nvPicPr>
        <p:blipFill>
          <a:blip r:embed="rId4"/>
          <a:stretch>
            <a:fillRect/>
          </a:stretch>
        </p:blipFill>
        <p:spPr>
          <a:xfrm>
            <a:off x="679990" y="2759869"/>
            <a:ext cx="5192935" cy="2921032"/>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design: banded — media over a caption band</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For text too short to hold a column.</a:t>
            </a:r>
          </a:p>
        </p:txBody>
      </p:sp>
      <p:sp>
        <p:nvSpPr>
          <p:cNvPr id="6" name="Rounded Rectangle 5"/>
          <p:cNvSpPr/>
          <p:nvPr/>
        </p:nvSpPr>
        <p:spPr>
          <a:xfrm>
            <a:off x="670465" y="3932015"/>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963073" y="4273296"/>
            <a:ext cx="707041" cy="707041"/>
          </a:xfrm>
          <a:prstGeom prst="rect">
            <a:avLst/>
          </a:prstGeom>
        </p:spPr>
      </p:pic>
      <p:sp>
        <p:nvSpPr>
          <p:cNvPr id="8" name="TextBox 7"/>
          <p:cNvSpPr txBox="1"/>
          <p:nvPr/>
        </p:nvSpPr>
        <p:spPr>
          <a:xfrm>
            <a:off x="1877282" y="4263771"/>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Design first</a:t>
            </a:r>
          </a:p>
        </p:txBody>
      </p:sp>
      <p:sp>
        <p:nvSpPr>
          <p:cNvPr id="9" name="TextBox 8"/>
          <p:cNvSpPr txBox="1"/>
          <p:nvPr/>
        </p:nvSpPr>
        <p:spPr>
          <a:xfrm>
            <a:off x="1877282" y="4742116"/>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How the canvas is divided is chosen before the template.</a:t>
            </a:r>
          </a:p>
        </p:txBody>
      </p:sp>
      <p:sp>
        <p:nvSpPr>
          <p:cNvPr id="10" name="Rounded Rectangle 9"/>
          <p:cNvSpPr/>
          <p:nvPr/>
        </p:nvSpPr>
        <p:spPr>
          <a:xfrm>
            <a:off x="6229064" y="3932015"/>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6521672" y="4273296"/>
            <a:ext cx="707041" cy="707041"/>
          </a:xfrm>
          <a:prstGeom prst="rect">
            <a:avLst/>
          </a:prstGeom>
        </p:spPr>
      </p:pic>
      <p:sp>
        <p:nvSpPr>
          <p:cNvPr id="12" name="TextBox 11"/>
          <p:cNvSpPr txBox="1"/>
          <p:nvPr/>
        </p:nvSpPr>
        <p:spPr>
          <a:xfrm>
            <a:off x="7435882" y="4263771"/>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Style second</a:t>
            </a:r>
          </a:p>
        </p:txBody>
      </p:sp>
      <p:sp>
        <p:nvSpPr>
          <p:cNvPr id="13" name="TextBox 12"/>
          <p:cNvSpPr txBox="1"/>
          <p:nvPr/>
        </p:nvSpPr>
        <p:spPr>
          <a:xfrm>
            <a:off x="7435882" y="4742116"/>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template only says what shape the content takes.</a:t>
            </a:r>
          </a:p>
        </p:txBody>
      </p:sp>
      <p:sp>
        <p:nvSpPr>
          <p:cNvPr id="14" name="TextBox 13"/>
          <p:cNvSpPr txBox="1"/>
          <p:nvPr/>
        </p:nvSpPr>
        <p:spPr>
          <a:xfrm>
            <a:off x="670465" y="6027230"/>
            <a:ext cx="5262086"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6E6663"/>
                </a:solidFill>
                <a:latin typeface="Arial"/>
              </a:rPr>
              <a:t>Fuente: </a:t>
            </a:r>
            <a:r>
              <a:rPr sz="1402" b="1" i="0" u="sng">
                <a:solidFill>
                  <a:srgbClr val="DA1B2E"/>
                </a:solidFill>
                <a:latin typeface="Arial"/>
                <a:hlinkClick r:id="rId4"/>
              </a:rPr>
              <a:t>WHO — Ethics and governance of AI for health</a:t>
            </a:r>
            <a:r>
              <a:rPr sz="1402" b="0" i="0" u="none">
                <a:solidFill>
                  <a:srgbClr val="6E6663"/>
                </a:solidFill>
                <a:latin typeface="Arial"/>
              </a:rPr>
              <a:t> (2024).</a:t>
            </a:r>
          </a:p>
        </p:txBody>
      </p:sp>
      <p:sp>
        <p:nvSpPr>
          <p:cNvPr id="15" name="Rounded Rectangle 14"/>
          <p:cNvSpPr/>
          <p:nvPr/>
        </p:nvSpPr>
        <p:spPr>
          <a:xfrm>
            <a:off x="670465" y="2192369"/>
            <a:ext cx="10851070" cy="1447038"/>
          </a:xfrm>
          <a:prstGeom prst="roundRect">
            <a:avLst>
              <a:gd name="adj" fmla="val 11795"/>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6" name="Picture 15" descr="image.png"/>
          <p:cNvPicPr>
            <a:picLocks noChangeAspect="1"/>
          </p:cNvPicPr>
          <p:nvPr/>
        </p:nvPicPr>
        <p:blipFill>
          <a:blip r:embed="rId5"/>
          <a:stretch>
            <a:fillRect/>
          </a:stretch>
        </p:blipFill>
        <p:spPr>
          <a:xfrm>
            <a:off x="4826603" y="2201894"/>
            <a:ext cx="2538603" cy="1427988"/>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6701679" cy="1677543"/>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design: column-right — a cropped atmosphere strip</a:t>
            </a:r>
          </a:p>
        </p:txBody>
      </p:sp>
      <p:sp>
        <p:nvSpPr>
          <p:cNvPr id="5" name="TextBox 4"/>
          <p:cNvSpPr txBox="1"/>
          <p:nvPr/>
        </p:nvSpPr>
        <p:spPr>
          <a:xfrm>
            <a:off x="670465" y="2187607"/>
            <a:ext cx="6701679" cy="469582"/>
          </a:xfrm>
          <a:prstGeom prst="rect">
            <a:avLst/>
          </a:prstGeom>
          <a:noFill/>
        </p:spPr>
        <p:txBody>
          <a:bodyPr wrap="square" anchor="ctr" lIns="0" tIns="0" rIns="0" bIns="0">
            <a:noAutofit/>
          </a:bodyPr>
          <a:lstStyle/>
          <a:p>
            <a:pPr algn="l">
              <a:lnSpc>
                <a:spcPts val="1748"/>
              </a:lnSpc>
              <a:spcBef>
                <a:spcPts val="0"/>
              </a:spcBef>
              <a:spcAft>
                <a:spcPts val="0"/>
              </a:spcAft>
            </a:pPr>
            <a:r>
              <a:rPr sz="1748" b="1" i="0" u="none">
                <a:solidFill>
                  <a:srgbClr val="3B3535"/>
                </a:solidFill>
                <a:latin typeface="Arial"/>
              </a:rPr>
              <a:t>A narrow full-bleed column that crops to fill: tone, never information.</a:t>
            </a:r>
          </a:p>
        </p:txBody>
      </p:sp>
      <p:sp>
        <p:nvSpPr>
          <p:cNvPr id="6" name="Rounded Rectangle 5"/>
          <p:cNvSpPr/>
          <p:nvPr/>
        </p:nvSpPr>
        <p:spPr>
          <a:xfrm>
            <a:off x="670465" y="2967323"/>
            <a:ext cx="3167348" cy="2709672"/>
          </a:xfrm>
          <a:prstGeom prst="roundRect">
            <a:avLst>
              <a:gd name="adj" fmla="val 899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939546" y="3281172"/>
            <a:ext cx="650176" cy="650176"/>
          </a:xfrm>
          <a:prstGeom prst="rect">
            <a:avLst/>
          </a:prstGeom>
        </p:spPr>
      </p:pic>
      <p:sp>
        <p:nvSpPr>
          <p:cNvPr id="8" name="TextBox 7"/>
          <p:cNvSpPr txBox="1"/>
          <p:nvPr/>
        </p:nvSpPr>
        <p:spPr>
          <a:xfrm>
            <a:off x="1780127" y="3272314"/>
            <a:ext cx="1826704" cy="367856"/>
          </a:xfrm>
          <a:prstGeom prst="rect">
            <a:avLst/>
          </a:prstGeom>
          <a:noFill/>
        </p:spPr>
        <p:txBody>
          <a:bodyPr wrap="none" anchor="ctr" lIns="0" tIns="0" rIns="0" bIns="0">
            <a:noAutofit/>
          </a:bodyPr>
          <a:lstStyle/>
          <a:p>
            <a:pPr algn="l">
              <a:lnSpc>
                <a:spcPts val="2817"/>
              </a:lnSpc>
              <a:spcBef>
                <a:spcPts val="0"/>
              </a:spcBef>
              <a:spcAft>
                <a:spcPts val="0"/>
              </a:spcAft>
            </a:pPr>
            <a:r>
              <a:rPr sz="2561" b="1" i="0" u="none">
                <a:solidFill>
                  <a:srgbClr val="1F1E1E"/>
                </a:solidFill>
                <a:latin typeface="Arial"/>
              </a:rPr>
              <a:t>Design first</a:t>
            </a:r>
          </a:p>
        </p:txBody>
      </p:sp>
      <p:sp>
        <p:nvSpPr>
          <p:cNvPr id="9" name="TextBox 8"/>
          <p:cNvSpPr txBox="1"/>
          <p:nvPr/>
        </p:nvSpPr>
        <p:spPr>
          <a:xfrm>
            <a:off x="1780127" y="3712178"/>
            <a:ext cx="1834484" cy="1623441"/>
          </a:xfrm>
          <a:prstGeom prst="rect">
            <a:avLst/>
          </a:prstGeom>
          <a:noFill/>
        </p:spPr>
        <p:txBody>
          <a:bodyPr wrap="square" anchor="ctr" lIns="0" tIns="0" rIns="0" bIns="0">
            <a:noAutofit/>
          </a:bodyPr>
          <a:lstStyle/>
          <a:p>
            <a:pPr algn="l">
              <a:lnSpc>
                <a:spcPts val="2583"/>
              </a:lnSpc>
              <a:spcBef>
                <a:spcPts val="0"/>
              </a:spcBef>
              <a:spcAft>
                <a:spcPts val="0"/>
              </a:spcAft>
            </a:pPr>
            <a:r>
              <a:rPr sz="1987" b="0" i="0" u="none">
                <a:solidFill>
                  <a:srgbClr val="3B3535"/>
                </a:solidFill>
                <a:latin typeface="Arial"/>
              </a:rPr>
              <a:t>How the canvas is divided is chosen before the template.</a:t>
            </a:r>
          </a:p>
        </p:txBody>
      </p:sp>
      <p:sp>
        <p:nvSpPr>
          <p:cNvPr id="10" name="Rounded Rectangle 9"/>
          <p:cNvSpPr/>
          <p:nvPr/>
        </p:nvSpPr>
        <p:spPr>
          <a:xfrm>
            <a:off x="4084415" y="2967323"/>
            <a:ext cx="3167444" cy="2709672"/>
          </a:xfrm>
          <a:prstGeom prst="roundRect">
            <a:avLst>
              <a:gd name="adj" fmla="val 899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4353401" y="3281172"/>
            <a:ext cx="650176" cy="650176"/>
          </a:xfrm>
          <a:prstGeom prst="rect">
            <a:avLst/>
          </a:prstGeom>
        </p:spPr>
      </p:pic>
      <p:sp>
        <p:nvSpPr>
          <p:cNvPr id="12" name="TextBox 11"/>
          <p:cNvSpPr txBox="1"/>
          <p:nvPr/>
        </p:nvSpPr>
        <p:spPr>
          <a:xfrm>
            <a:off x="5194078" y="3272314"/>
            <a:ext cx="1834580" cy="1114330"/>
          </a:xfrm>
          <a:prstGeom prst="rect">
            <a:avLst/>
          </a:prstGeom>
          <a:noFill/>
        </p:spPr>
        <p:txBody>
          <a:bodyPr wrap="square" anchor="ctr" lIns="0" tIns="0" rIns="0" bIns="0">
            <a:noAutofit/>
          </a:bodyPr>
          <a:lstStyle/>
          <a:p>
            <a:pPr algn="l">
              <a:lnSpc>
                <a:spcPts val="2817"/>
              </a:lnSpc>
              <a:spcBef>
                <a:spcPts val="0"/>
              </a:spcBef>
              <a:spcAft>
                <a:spcPts val="0"/>
              </a:spcAft>
            </a:pPr>
            <a:r>
              <a:rPr sz="2561" b="1" i="0" u="none">
                <a:solidFill>
                  <a:srgbClr val="1F1E1E"/>
                </a:solidFill>
                <a:latin typeface="Arial"/>
              </a:rPr>
              <a:t>Style second</a:t>
            </a:r>
          </a:p>
        </p:txBody>
      </p:sp>
      <p:sp>
        <p:nvSpPr>
          <p:cNvPr id="13" name="TextBox 12"/>
          <p:cNvSpPr txBox="1"/>
          <p:nvPr/>
        </p:nvSpPr>
        <p:spPr>
          <a:xfrm>
            <a:off x="5194078" y="4069747"/>
            <a:ext cx="1834580" cy="1265872"/>
          </a:xfrm>
          <a:prstGeom prst="rect">
            <a:avLst/>
          </a:prstGeom>
          <a:noFill/>
        </p:spPr>
        <p:txBody>
          <a:bodyPr wrap="square" anchor="ctr" lIns="0" tIns="0" rIns="0" bIns="0">
            <a:noAutofit/>
          </a:bodyPr>
          <a:lstStyle/>
          <a:p>
            <a:pPr algn="l">
              <a:lnSpc>
                <a:spcPts val="2583"/>
              </a:lnSpc>
              <a:spcBef>
                <a:spcPts val="0"/>
              </a:spcBef>
              <a:spcAft>
                <a:spcPts val="0"/>
              </a:spcAft>
            </a:pPr>
            <a:r>
              <a:rPr sz="1987" b="0" i="0" u="none">
                <a:solidFill>
                  <a:srgbClr val="3B3535"/>
                </a:solidFill>
                <a:latin typeface="Arial"/>
              </a:rPr>
              <a:t>The template only says what shape the content takes.</a:t>
            </a:r>
          </a:p>
        </p:txBody>
      </p:sp>
      <p:sp>
        <p:nvSpPr>
          <p:cNvPr id="14" name="TextBox 13"/>
          <p:cNvSpPr txBox="1"/>
          <p:nvPr/>
        </p:nvSpPr>
        <p:spPr>
          <a:xfrm>
            <a:off x="670465" y="6027230"/>
            <a:ext cx="5262086"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6E6663"/>
                </a:solidFill>
                <a:latin typeface="Arial"/>
              </a:rPr>
              <a:t>Fuente: </a:t>
            </a:r>
            <a:r>
              <a:rPr sz="1402" b="1" i="0" u="sng">
                <a:solidFill>
                  <a:srgbClr val="DA1B2E"/>
                </a:solidFill>
                <a:latin typeface="Arial"/>
                <a:hlinkClick r:id="rId4"/>
              </a:rPr>
              <a:t>WHO — Ethics and governance of AI for health</a:t>
            </a:r>
            <a:r>
              <a:rPr sz="1402" b="0" i="0" u="none">
                <a:solidFill>
                  <a:srgbClr val="6E6663"/>
                </a:solidFill>
                <a:latin typeface="Arial"/>
              </a:rPr>
              <a:t> (2024).</a:t>
            </a:r>
          </a:p>
        </p:txBody>
      </p:sp>
      <p:pic>
        <p:nvPicPr>
          <p:cNvPr id="15" name="Picture 14" descr="image.jpg"/>
          <p:cNvPicPr>
            <a:picLocks noChangeAspect="1"/>
          </p:cNvPicPr>
          <p:nvPr/>
        </p:nvPicPr>
        <p:blipFill>
          <a:blip r:embed="rId5"/>
          <a:stretch>
            <a:fillRect/>
          </a:stretch>
        </p:blipFill>
        <p:spPr>
          <a:xfrm>
            <a:off x="7681055" y="0"/>
            <a:ext cx="4510945"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design: bleed — the media fills the stage</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The content sits over the picture.</a:t>
            </a:r>
          </a:p>
        </p:txBody>
      </p:sp>
      <p:sp>
        <p:nvSpPr>
          <p:cNvPr id="6" name="Rounded Rectangle 5"/>
          <p:cNvSpPr/>
          <p:nvPr/>
        </p:nvSpPr>
        <p:spPr>
          <a:xfrm>
            <a:off x="670465" y="2192369"/>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963073" y="2533650"/>
            <a:ext cx="707041" cy="707041"/>
          </a:xfrm>
          <a:prstGeom prst="rect">
            <a:avLst/>
          </a:prstGeom>
        </p:spPr>
      </p:pic>
      <p:sp>
        <p:nvSpPr>
          <p:cNvPr id="8" name="TextBox 7"/>
          <p:cNvSpPr txBox="1"/>
          <p:nvPr/>
        </p:nvSpPr>
        <p:spPr>
          <a:xfrm>
            <a:off x="1877282" y="2524125"/>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Design first</a:t>
            </a:r>
          </a:p>
        </p:txBody>
      </p:sp>
      <p:sp>
        <p:nvSpPr>
          <p:cNvPr id="9" name="TextBox 8"/>
          <p:cNvSpPr txBox="1"/>
          <p:nvPr/>
        </p:nvSpPr>
        <p:spPr>
          <a:xfrm>
            <a:off x="1877282" y="3002471"/>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How the canvas is divided is chosen before the template.</a:t>
            </a:r>
          </a:p>
        </p:txBody>
      </p:sp>
      <p:sp>
        <p:nvSpPr>
          <p:cNvPr id="10" name="Rounded Rectangle 9"/>
          <p:cNvSpPr/>
          <p:nvPr/>
        </p:nvSpPr>
        <p:spPr>
          <a:xfrm>
            <a:off x="6229064" y="2192369"/>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6521672" y="2533650"/>
            <a:ext cx="707041" cy="707041"/>
          </a:xfrm>
          <a:prstGeom prst="rect">
            <a:avLst/>
          </a:prstGeom>
        </p:spPr>
      </p:pic>
      <p:sp>
        <p:nvSpPr>
          <p:cNvPr id="12" name="TextBox 11"/>
          <p:cNvSpPr txBox="1"/>
          <p:nvPr/>
        </p:nvSpPr>
        <p:spPr>
          <a:xfrm>
            <a:off x="7435882" y="2524125"/>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Style second</a:t>
            </a:r>
          </a:p>
        </p:txBody>
      </p:sp>
      <p:sp>
        <p:nvSpPr>
          <p:cNvPr id="13" name="TextBox 12"/>
          <p:cNvSpPr txBox="1"/>
          <p:nvPr/>
        </p:nvSpPr>
        <p:spPr>
          <a:xfrm>
            <a:off x="7435882" y="3002471"/>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template only says what shape the content takes.</a:t>
            </a:r>
          </a:p>
        </p:txBody>
      </p:sp>
      <p:pic>
        <p:nvPicPr>
          <p:cNvPr id="14" name="Picture 13" descr="image.jpg"/>
          <p:cNvPicPr>
            <a:picLocks noChangeAspect="1"/>
          </p:cNvPicPr>
          <p:nvPr/>
        </p:nvPicPr>
        <p:blipFill>
          <a:blip r:embed="rId4"/>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734187"/>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video: a clip is media — split-right, contained</a:t>
            </a:r>
          </a:p>
        </p:txBody>
      </p:sp>
      <p:sp>
        <p:nvSpPr>
          <p:cNvPr id="3" name="Rounded Rectangle 2"/>
          <p:cNvSpPr/>
          <p:nvPr/>
        </p:nvSpPr>
        <p:spPr>
          <a:xfrm>
            <a:off x="670465" y="1613630"/>
            <a:ext cx="3208592" cy="4372737"/>
          </a:xfrm>
          <a:prstGeom prst="roundRect">
            <a:avLst>
              <a:gd name="adj" fmla="val 759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4" name="Picture 3" descr="image.png"/>
          <p:cNvPicPr>
            <a:picLocks noChangeAspect="1"/>
          </p:cNvPicPr>
          <p:nvPr/>
        </p:nvPicPr>
        <p:blipFill>
          <a:blip r:embed="rId2"/>
          <a:stretch>
            <a:fillRect/>
          </a:stretch>
        </p:blipFill>
        <p:spPr>
          <a:xfrm>
            <a:off x="963073" y="1954816"/>
            <a:ext cx="707041" cy="707041"/>
          </a:xfrm>
          <a:prstGeom prst="rect">
            <a:avLst/>
          </a:prstGeom>
        </p:spPr>
      </p:pic>
      <p:sp>
        <p:nvSpPr>
          <p:cNvPr id="5" name="TextBox 4"/>
          <p:cNvSpPr txBox="1"/>
          <p:nvPr/>
        </p:nvSpPr>
        <p:spPr>
          <a:xfrm>
            <a:off x="1877282" y="1945291"/>
            <a:ext cx="1747266"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Autoplays</a:t>
            </a:r>
          </a:p>
        </p:txBody>
      </p:sp>
      <p:sp>
        <p:nvSpPr>
          <p:cNvPr id="6" name="TextBox 5"/>
          <p:cNvSpPr txBox="1"/>
          <p:nvPr/>
        </p:nvSpPr>
        <p:spPr>
          <a:xfrm>
            <a:off x="1877282" y="2423636"/>
            <a:ext cx="1753853" cy="2443639"/>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Reveal starts it when the slide comes up and pauses it on the way out.</a:t>
            </a:r>
          </a:p>
        </p:txBody>
      </p:sp>
      <p:sp>
        <p:nvSpPr>
          <p:cNvPr id="7" name="Rounded Rectangle 6"/>
          <p:cNvSpPr/>
          <p:nvPr/>
        </p:nvSpPr>
        <p:spPr>
          <a:xfrm>
            <a:off x="4147280" y="1613630"/>
            <a:ext cx="1735264" cy="4372737"/>
          </a:xfrm>
          <a:prstGeom prst="roundRect">
            <a:avLst>
              <a:gd name="adj" fmla="val 1405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3"/>
          <a:stretch>
            <a:fillRect/>
          </a:stretch>
        </p:blipFill>
        <p:spPr>
          <a:xfrm>
            <a:off x="4439888" y="1954816"/>
            <a:ext cx="707041" cy="707041"/>
          </a:xfrm>
          <a:prstGeom prst="rect">
            <a:avLst/>
          </a:prstGeom>
        </p:spPr>
      </p:pic>
      <p:sp>
        <p:nvSpPr>
          <p:cNvPr id="9" name="TextBox 8"/>
          <p:cNvSpPr txBox="1"/>
          <p:nvPr/>
        </p:nvSpPr>
        <p:spPr>
          <a:xfrm>
            <a:off x="5354098" y="1945291"/>
            <a:ext cx="555424" cy="1177862"/>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Same frame</a:t>
            </a:r>
          </a:p>
        </p:txBody>
      </p:sp>
      <p:sp>
        <p:nvSpPr>
          <p:cNvPr id="10" name="TextBox 9"/>
          <p:cNvSpPr txBox="1"/>
          <p:nvPr/>
        </p:nvSpPr>
        <p:spPr>
          <a:xfrm>
            <a:off x="5354098" y="2812542"/>
            <a:ext cx="555424" cy="2832354"/>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A video takes the box an image would, in every design.</a:t>
            </a:r>
          </a:p>
        </p:txBody>
      </p:sp>
      <p:sp>
        <p:nvSpPr>
          <p:cNvPr id="11" name="Rounded Rectangle 10"/>
          <p:cNvSpPr/>
          <p:nvPr/>
        </p:nvSpPr>
        <p:spPr>
          <a:xfrm>
            <a:off x="6309265" y="1613630"/>
            <a:ext cx="5212270" cy="4634770"/>
          </a:xfrm>
          <a:prstGeom prst="roundRect">
            <a:avLst>
              <a:gd name="adj" fmla="val 3682"/>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ounded Rectangle 11"/>
          <p:cNvSpPr/>
          <p:nvPr/>
        </p:nvSpPr>
        <p:spPr>
          <a:xfrm>
            <a:off x="7391400" y="3073718"/>
            <a:ext cx="3048000" cy="1714500"/>
          </a:xfrm>
          <a:prstGeom prst="roundRect">
            <a:avLst>
              <a:gd name="adj" fmla="val 7111"/>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ounded Rectangle 12"/>
          <p:cNvSpPr/>
          <p:nvPr/>
        </p:nvSpPr>
        <p:spPr>
          <a:xfrm>
            <a:off x="7391400" y="3073718"/>
            <a:ext cx="3048000" cy="1714500"/>
          </a:xfrm>
          <a:prstGeom prst="roundRect">
            <a:avLst>
              <a:gd name="adj" fmla="val 6666"/>
            </a:avLst>
          </a:prstGeom>
          <a:solidFill>
            <a:srgbClr val="1818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734187"/>
            <a:ext cx="6701679"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video: cropped to fill — column-right</a:t>
            </a:r>
          </a:p>
        </p:txBody>
      </p:sp>
      <p:sp>
        <p:nvSpPr>
          <p:cNvPr id="3" name="Rounded Rectangle 2"/>
          <p:cNvSpPr/>
          <p:nvPr/>
        </p:nvSpPr>
        <p:spPr>
          <a:xfrm>
            <a:off x="670465" y="2166652"/>
            <a:ext cx="3562350" cy="3983831"/>
          </a:xfrm>
          <a:prstGeom prst="roundRect">
            <a:avLst>
              <a:gd name="adj" fmla="val 684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4" name="Picture 3" descr="image.png"/>
          <p:cNvPicPr>
            <a:picLocks noChangeAspect="1"/>
          </p:cNvPicPr>
          <p:nvPr/>
        </p:nvPicPr>
        <p:blipFill>
          <a:blip r:embed="rId2"/>
          <a:stretch>
            <a:fillRect/>
          </a:stretch>
        </p:blipFill>
        <p:spPr>
          <a:xfrm>
            <a:off x="963073" y="2507932"/>
            <a:ext cx="707041" cy="707041"/>
          </a:xfrm>
          <a:prstGeom prst="rect">
            <a:avLst/>
          </a:prstGeom>
        </p:spPr>
      </p:pic>
      <p:sp>
        <p:nvSpPr>
          <p:cNvPr id="5" name="TextBox 4"/>
          <p:cNvSpPr txBox="1"/>
          <p:nvPr/>
        </p:nvSpPr>
        <p:spPr>
          <a:xfrm>
            <a:off x="1877282" y="2498408"/>
            <a:ext cx="2101024"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Atmosphere</a:t>
            </a:r>
          </a:p>
        </p:txBody>
      </p:sp>
      <p:sp>
        <p:nvSpPr>
          <p:cNvPr id="6" name="TextBox 5"/>
          <p:cNvSpPr txBox="1"/>
          <p:nvPr/>
        </p:nvSpPr>
        <p:spPr>
          <a:xfrm>
            <a:off x="1877282" y="2976753"/>
            <a:ext cx="2112918" cy="2087213"/>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A column crops to fill, so nothing in the clip is meant to be read.</a:t>
            </a:r>
          </a:p>
        </p:txBody>
      </p:sp>
      <p:sp>
        <p:nvSpPr>
          <p:cNvPr id="7" name="Rounded Rectangle 6"/>
          <p:cNvSpPr/>
          <p:nvPr/>
        </p:nvSpPr>
        <p:spPr>
          <a:xfrm>
            <a:off x="4501039" y="2166652"/>
            <a:ext cx="2753296" cy="3983831"/>
          </a:xfrm>
          <a:prstGeom prst="roundRect">
            <a:avLst>
              <a:gd name="adj" fmla="val 8856"/>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8" name="Picture 7" descr="image.png"/>
          <p:cNvPicPr>
            <a:picLocks noChangeAspect="1"/>
          </p:cNvPicPr>
          <p:nvPr/>
        </p:nvPicPr>
        <p:blipFill>
          <a:blip r:embed="rId3"/>
          <a:stretch>
            <a:fillRect/>
          </a:stretch>
        </p:blipFill>
        <p:spPr>
          <a:xfrm>
            <a:off x="4793647" y="2507932"/>
            <a:ext cx="707041" cy="707041"/>
          </a:xfrm>
          <a:prstGeom prst="rect">
            <a:avLst/>
          </a:prstGeom>
        </p:spPr>
      </p:pic>
      <p:sp>
        <p:nvSpPr>
          <p:cNvPr id="9" name="TextBox 8"/>
          <p:cNvSpPr txBox="1"/>
          <p:nvPr/>
        </p:nvSpPr>
        <p:spPr>
          <a:xfrm>
            <a:off x="5707856" y="2498408"/>
            <a:ext cx="1432179"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Looping</a:t>
            </a:r>
          </a:p>
        </p:txBody>
      </p:sp>
      <p:sp>
        <p:nvSpPr>
          <p:cNvPr id="10" name="TextBox 9"/>
          <p:cNvSpPr txBox="1"/>
          <p:nvPr/>
        </p:nvSpPr>
        <p:spPr>
          <a:xfrm>
            <a:off x="5707856" y="2976753"/>
            <a:ext cx="1434040" cy="2832354"/>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muted + loop is the shape ambient motion takes: it cycles, quietly.</a:t>
            </a:r>
          </a:p>
        </p:txBody>
      </p:sp>
      <p:sp>
        <p:nvSpPr>
          <p:cNvPr id="11" name="Rounded Rectangle 10"/>
          <p:cNvSpPr/>
          <p:nvPr/>
        </p:nvSpPr>
        <p:spPr>
          <a:xfrm>
            <a:off x="7681055" y="0"/>
            <a:ext cx="4510945" cy="6858000"/>
          </a:xfrm>
          <a:prstGeom prst="roundRect">
            <a:avLst>
              <a:gd name="adj" fmla="val 2702"/>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ounded Rectangle 11"/>
          <p:cNvSpPr/>
          <p:nvPr/>
        </p:nvSpPr>
        <p:spPr>
          <a:xfrm>
            <a:off x="7681055" y="0"/>
            <a:ext cx="4510945" cy="6858000"/>
          </a:xfrm>
          <a:prstGeom prst="roundRect">
            <a:avLst>
              <a:gd name="adj" fmla="val 2533"/>
            </a:avLst>
          </a:prstGeom>
          <a:solidFill>
            <a:srgbClr val="1818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A source pins to the bottom edge</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This slide is deliberately short.</a:t>
            </a:r>
          </a:p>
        </p:txBody>
      </p:sp>
      <p:sp>
        <p:nvSpPr>
          <p:cNvPr id="6" name="Rounded Rectangle 5"/>
          <p:cNvSpPr/>
          <p:nvPr/>
        </p:nvSpPr>
        <p:spPr>
          <a:xfrm>
            <a:off x="670465" y="2192369"/>
            <a:ext cx="10848975" cy="1440942"/>
          </a:xfrm>
          <a:prstGeom prst="roundRect">
            <a:avLst>
              <a:gd name="adj" fmla="val 16922"/>
            </a:avLst>
          </a:prstGeom>
          <a:solidFill>
            <a:srgbClr val="F7BBC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1011746" y="2484977"/>
            <a:ext cx="560832" cy="560832"/>
          </a:xfrm>
          <a:prstGeom prst="rect">
            <a:avLst/>
          </a:prstGeom>
        </p:spPr>
      </p:pic>
      <p:sp>
        <p:nvSpPr>
          <p:cNvPr id="8" name="TextBox 7"/>
          <p:cNvSpPr txBox="1"/>
          <p:nvPr/>
        </p:nvSpPr>
        <p:spPr>
          <a:xfrm>
            <a:off x="1816322" y="2513552"/>
            <a:ext cx="9521411" cy="827151"/>
          </a:xfrm>
          <a:prstGeom prst="rect">
            <a:avLst/>
          </a:prstGeom>
          <a:noFill/>
        </p:spPr>
        <p:txBody>
          <a:bodyPr wrap="square" anchor="ctr" lIns="0" tIns="0" rIns="0" bIns="0">
            <a:noAutofit/>
          </a:bodyPr>
          <a:lstStyle/>
          <a:p>
            <a:pPr algn="l">
              <a:lnSpc>
                <a:spcPts val="3370"/>
              </a:lnSpc>
              <a:spcBef>
                <a:spcPts val="0"/>
              </a:spcBef>
              <a:spcAft>
                <a:spcPts val="0"/>
              </a:spcAft>
            </a:pPr>
            <a:r>
              <a:rPr sz="2496" b="1" i="0" u="none">
                <a:solidFill>
                  <a:srgbClr val="000000"/>
                </a:solidFill>
                <a:latin typeface="Arial"/>
              </a:rPr>
              <a:t>Chrome, not a remark</a:t>
            </a:r>
            <a:r>
              <a:rPr sz="2496" b="0" i="0" u="none">
                <a:solidFill>
                  <a:srgbClr val="000000"/>
                </a:solidFill>
                <a:latin typeface="Arial"/>
              </a:rPr>
              <a:t> The citation credits the material; it does not comment on it, so it leaves the content flow entirely.</a:t>
            </a:r>
          </a:p>
        </p:txBody>
      </p:sp>
      <p:sp>
        <p:nvSpPr>
          <p:cNvPr id="9" name="Rounded Rectangle 8"/>
          <p:cNvSpPr/>
          <p:nvPr/>
        </p:nvSpPr>
        <p:spPr>
          <a:xfrm>
            <a:off x="670465" y="5301424"/>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Rectangle 9"/>
          <p:cNvSpPr/>
          <p:nvPr/>
        </p:nvSpPr>
        <p:spPr>
          <a:xfrm>
            <a:off x="670465" y="5301424"/>
            <a:ext cx="57150" cy="51177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png"/>
          <p:cNvPicPr>
            <a:picLocks noChangeAspect="1"/>
          </p:cNvPicPr>
          <p:nvPr/>
        </p:nvPicPr>
        <p:blipFill>
          <a:blip r:embed="rId3"/>
          <a:stretch>
            <a:fillRect/>
          </a:stretch>
        </p:blipFill>
        <p:spPr>
          <a:xfrm>
            <a:off x="886016" y="5447538"/>
            <a:ext cx="243745" cy="243745"/>
          </a:xfrm>
          <a:prstGeom prst="rect">
            <a:avLst/>
          </a:prstGeom>
        </p:spPr>
      </p:pic>
      <p:sp>
        <p:nvSpPr>
          <p:cNvPr id="12" name="TextBox 11"/>
          <p:cNvSpPr txBox="1"/>
          <p:nvPr/>
        </p:nvSpPr>
        <p:spPr>
          <a:xfrm>
            <a:off x="1251680" y="5442394"/>
            <a:ext cx="4867846"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1F1E1E"/>
                </a:solidFill>
                <a:latin typeface="Arial"/>
              </a:rPr>
              <a:t>A takeaway </a:t>
            </a:r>
            <a:r>
              <a:rPr sz="1402" b="0" i="1" u="none">
                <a:solidFill>
                  <a:srgbClr val="1F1E1E"/>
                </a:solidFill>
                <a:latin typeface="Arial"/>
              </a:rPr>
              <a:t>is</a:t>
            </a:r>
            <a:r>
              <a:rPr sz="1402" b="0" i="0" u="none">
                <a:solidFill>
                  <a:srgbClr val="1F1E1E"/>
                </a:solidFill>
                <a:latin typeface="Arial"/>
              </a:rPr>
              <a:t> a remark on the body, so it stays with the body.</a:t>
            </a:r>
          </a:p>
        </p:txBody>
      </p:sp>
      <p:sp>
        <p:nvSpPr>
          <p:cNvPr id="13" name="TextBox 12"/>
          <p:cNvSpPr txBox="1"/>
          <p:nvPr/>
        </p:nvSpPr>
        <p:spPr>
          <a:xfrm>
            <a:off x="670465" y="6027230"/>
            <a:ext cx="5232464" cy="200025"/>
          </a:xfrm>
          <a:prstGeom prst="rect">
            <a:avLst/>
          </a:prstGeom>
          <a:noFill/>
        </p:spPr>
        <p:txBody>
          <a:bodyPr wrap="none" anchor="ctr" lIns="0" tIns="0" rIns="0" bIns="0">
            <a:noAutofit/>
          </a:bodyPr>
          <a:lstStyle/>
          <a:p>
            <a:pPr algn="l">
              <a:lnSpc>
                <a:spcPts val="1892"/>
              </a:lnSpc>
              <a:spcBef>
                <a:spcPts val="0"/>
              </a:spcBef>
              <a:spcAft>
                <a:spcPts val="0"/>
              </a:spcAft>
            </a:pPr>
            <a:r>
              <a:rPr sz="1402" b="0" i="0" u="none">
                <a:solidFill>
                  <a:srgbClr val="6E6663"/>
                </a:solidFill>
                <a:latin typeface="Arial"/>
              </a:rPr>
              <a:t>Fuente: </a:t>
            </a:r>
            <a:r>
              <a:rPr sz="1402" b="1" i="0" u="sng">
                <a:solidFill>
                  <a:srgbClr val="DA1B2E"/>
                </a:solidFill>
                <a:latin typeface="Arial"/>
                <a:hlinkClick r:id="rId4"/>
              </a:rPr>
              <a:t>OMS — Ethics and governance of AI for health</a:t>
            </a:r>
            <a:r>
              <a:rPr sz="1402" b="0" i="0" u="none">
                <a:solidFill>
                  <a:srgbClr val="6E6663"/>
                </a:solidFill>
                <a:latin typeface="Arial"/>
              </a:rPr>
              <a:t> (2024).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Highlights: a framing band opens the slide</a:t>
            </a:r>
          </a:p>
        </p:txBody>
      </p:sp>
      <p:sp>
        <p:nvSpPr>
          <p:cNvPr id="5" name="Rounded Rectangle 4"/>
          <p:cNvSpPr/>
          <p:nvPr/>
        </p:nvSpPr>
        <p:spPr>
          <a:xfrm>
            <a:off x="670465" y="1775555"/>
            <a:ext cx="10848975"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0465" y="1775555"/>
            <a:ext cx="57150" cy="511778"/>
          </a:xfrm>
          <a:prstGeom prst="rect">
            <a:avLst/>
          </a:prstGeom>
          <a:solidFill>
            <a:srgbClr val="8A7E7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886016" y="1921669"/>
            <a:ext cx="243745" cy="243745"/>
          </a:xfrm>
          <a:prstGeom prst="rect">
            <a:avLst/>
          </a:prstGeom>
        </p:spPr>
      </p:pic>
      <p:sp>
        <p:nvSpPr>
          <p:cNvPr id="8" name="TextBox 7"/>
          <p:cNvSpPr txBox="1"/>
          <p:nvPr/>
        </p:nvSpPr>
        <p:spPr>
          <a:xfrm>
            <a:off x="1251680" y="1916430"/>
            <a:ext cx="5823680"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1" u="none">
                <a:solidFill>
                  <a:srgbClr val="1F1E1E"/>
                </a:solidFill>
                <a:latin typeface="Arial"/>
              </a:rPr>
              <a:t>Anthropic</a:t>
            </a:r>
            <a:r>
              <a:rPr sz="1402" b="0" i="1" u="none">
                <a:solidFill>
                  <a:srgbClr val="1F1E1E"/>
                </a:solidFill>
                <a:latin typeface="Arial"/>
              </a:rPr>
              <a:t>: Menos una sesión de chat, más asignarle tareas a un colega.</a:t>
            </a:r>
          </a:p>
        </p:txBody>
      </p:sp>
      <p:sp>
        <p:nvSpPr>
          <p:cNvPr id="9" name="Rounded Rectangle 8"/>
          <p:cNvSpPr/>
          <p:nvPr/>
        </p:nvSpPr>
        <p:spPr>
          <a:xfrm>
            <a:off x="670465" y="2652998"/>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963073" y="2994279"/>
            <a:ext cx="707041" cy="707041"/>
          </a:xfrm>
          <a:prstGeom prst="rect">
            <a:avLst/>
          </a:prstGeom>
        </p:spPr>
      </p:pic>
      <p:sp>
        <p:nvSpPr>
          <p:cNvPr id="11" name="TextBox 10"/>
          <p:cNvSpPr txBox="1"/>
          <p:nvPr/>
        </p:nvSpPr>
        <p:spPr>
          <a:xfrm>
            <a:off x="1877282" y="2984754"/>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Frames, not remarks</a:t>
            </a:r>
          </a:p>
        </p:txBody>
      </p:sp>
      <p:sp>
        <p:nvSpPr>
          <p:cNvPr id="12" name="TextBox 11"/>
          <p:cNvSpPr txBox="1"/>
          <p:nvPr/>
        </p:nvSpPr>
        <p:spPr>
          <a:xfrm>
            <a:off x="1877282" y="3463100"/>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band sets up the cards instead of summarizing them.</a:t>
            </a:r>
          </a:p>
        </p:txBody>
      </p:sp>
      <p:sp>
        <p:nvSpPr>
          <p:cNvPr id="13" name="Rounded Rectangle 12"/>
          <p:cNvSpPr/>
          <p:nvPr/>
        </p:nvSpPr>
        <p:spPr>
          <a:xfrm>
            <a:off x="6229064" y="2652998"/>
            <a:ext cx="5290376" cy="1845183"/>
          </a:xfrm>
          <a:prstGeom prst="roundRect">
            <a:avLst>
              <a:gd name="adj" fmla="val 1321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4"/>
          <a:stretch>
            <a:fillRect/>
          </a:stretch>
        </p:blipFill>
        <p:spPr>
          <a:xfrm>
            <a:off x="6521672" y="2994279"/>
            <a:ext cx="707041" cy="707041"/>
          </a:xfrm>
          <a:prstGeom prst="rect">
            <a:avLst/>
          </a:prstGeom>
        </p:spPr>
      </p:pic>
      <p:sp>
        <p:nvSpPr>
          <p:cNvPr id="15" name="TextBox 14"/>
          <p:cNvSpPr txBox="1"/>
          <p:nvPr/>
        </p:nvSpPr>
        <p:spPr>
          <a:xfrm>
            <a:off x="7435882" y="2984754"/>
            <a:ext cx="3829050" cy="400050"/>
          </a:xfrm>
          <a:prstGeom prst="rect">
            <a:avLst/>
          </a:prstGeom>
          <a:noFill/>
        </p:spPr>
        <p:txBody>
          <a:bodyPr wrap="none" anchor="ctr" lIns="0" tIns="0" rIns="0" bIns="0">
            <a:noAutofit/>
          </a:bodyPr>
          <a:lstStyle/>
          <a:p>
            <a:pPr algn="l">
              <a:lnSpc>
                <a:spcPts val="3062"/>
              </a:lnSpc>
              <a:spcBef>
                <a:spcPts val="0"/>
              </a:spcBef>
              <a:spcAft>
                <a:spcPts val="0"/>
              </a:spcAft>
            </a:pPr>
            <a:r>
              <a:rPr sz="2784" b="1" i="0" u="none">
                <a:solidFill>
                  <a:srgbClr val="1F1E1E"/>
                </a:solidFill>
                <a:latin typeface="Arial"/>
              </a:rPr>
              <a:t>No fragment</a:t>
            </a:r>
          </a:p>
        </p:txBody>
      </p:sp>
      <p:sp>
        <p:nvSpPr>
          <p:cNvPr id="16" name="TextBox 15"/>
          <p:cNvSpPr txBox="1"/>
          <p:nvPr/>
        </p:nvSpPr>
        <p:spPr>
          <a:xfrm>
            <a:off x="7435882" y="3463100"/>
            <a:ext cx="3866864" cy="693706"/>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It is on screen from the moment the slide opens.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Highlights: a slide can carry both bands</a:t>
            </a:r>
          </a:p>
        </p:txBody>
      </p:sp>
      <p:sp>
        <p:nvSpPr>
          <p:cNvPr id="5" name="Rounded Rectangle 4"/>
          <p:cNvSpPr/>
          <p:nvPr/>
        </p:nvSpPr>
        <p:spPr>
          <a:xfrm>
            <a:off x="670465" y="1775555"/>
            <a:ext cx="10849546" cy="420338"/>
          </a:xfrm>
          <a:prstGeom prst="roundRect">
            <a:avLst>
              <a:gd name="adj" fmla="val 2320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670465" y="1775555"/>
            <a:ext cx="57150" cy="420338"/>
          </a:xfrm>
          <a:prstGeom prst="rect">
            <a:avLst/>
          </a:prstGeom>
          <a:solidFill>
            <a:srgbClr val="5B4BC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7" name="Picture 6" descr="image.png"/>
          <p:cNvPicPr>
            <a:picLocks noChangeAspect="1"/>
          </p:cNvPicPr>
          <p:nvPr/>
        </p:nvPicPr>
        <p:blipFill>
          <a:blip r:embed="rId2"/>
          <a:stretch>
            <a:fillRect/>
          </a:stretch>
        </p:blipFill>
        <p:spPr>
          <a:xfrm>
            <a:off x="847439" y="1895570"/>
            <a:ext cx="200216" cy="200216"/>
          </a:xfrm>
          <a:prstGeom prst="rect">
            <a:avLst/>
          </a:prstGeom>
        </p:spPr>
      </p:pic>
      <p:sp>
        <p:nvSpPr>
          <p:cNvPr id="8" name="TextBox 7"/>
          <p:cNvSpPr txBox="1"/>
          <p:nvPr/>
        </p:nvSpPr>
        <p:spPr>
          <a:xfrm>
            <a:off x="1147762" y="1891189"/>
            <a:ext cx="5235988" cy="164306"/>
          </a:xfrm>
          <a:prstGeom prst="rect">
            <a:avLst/>
          </a:prstGeom>
          <a:noFill/>
        </p:spPr>
        <p:txBody>
          <a:bodyPr wrap="none" anchor="ctr" lIns="0" tIns="0" rIns="0" bIns="0">
            <a:noAutofit/>
          </a:bodyPr>
          <a:lstStyle/>
          <a:p>
            <a:pPr algn="l">
              <a:lnSpc>
                <a:spcPts val="1552"/>
              </a:lnSpc>
              <a:spcBef>
                <a:spcPts val="0"/>
              </a:spcBef>
              <a:spcAft>
                <a:spcPts val="0"/>
              </a:spcAft>
            </a:pPr>
            <a:r>
              <a:rPr sz="1149" b="1" i="0" u="none">
                <a:solidFill>
                  <a:srgbClr val="1F1E1E"/>
                </a:solidFill>
                <a:latin typeface="Arial"/>
              </a:rPr>
              <a:t>Composición</a:t>
            </a:r>
            <a:r>
              <a:rPr sz="1149" b="0" i="0" u="none">
                <a:solidFill>
                  <a:srgbClr val="1F1E1E"/>
                </a:solidFill>
                <a:latin typeface="Arial"/>
              </a:rPr>
              <a:t>: los campos que valen para cualquier template, no para uno solo.</a:t>
            </a:r>
          </a:p>
        </p:txBody>
      </p:sp>
      <p:sp>
        <p:nvSpPr>
          <p:cNvPr id="9" name="Rounded Rectangle 8"/>
          <p:cNvSpPr/>
          <p:nvPr/>
        </p:nvSpPr>
        <p:spPr>
          <a:xfrm>
            <a:off x="670465" y="2496122"/>
            <a:ext cx="5314664" cy="1515237"/>
          </a:xfrm>
          <a:prstGeom prst="roundRect">
            <a:avLst>
              <a:gd name="adj" fmla="val 1609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910780" y="2776347"/>
            <a:ext cx="580644" cy="580644"/>
          </a:xfrm>
          <a:prstGeom prst="rect">
            <a:avLst/>
          </a:prstGeom>
        </p:spPr>
      </p:pic>
      <p:sp>
        <p:nvSpPr>
          <p:cNvPr id="11" name="TextBox 10"/>
          <p:cNvSpPr txBox="1"/>
          <p:nvPr/>
        </p:nvSpPr>
        <p:spPr>
          <a:xfrm>
            <a:off x="1661541" y="2768537"/>
            <a:ext cx="4121372" cy="328517"/>
          </a:xfrm>
          <a:prstGeom prst="rect">
            <a:avLst/>
          </a:prstGeom>
          <a:noFill/>
        </p:spPr>
        <p:txBody>
          <a:bodyPr wrap="none" anchor="ctr" lIns="0" tIns="0" rIns="0" bIns="0">
            <a:noAutofit/>
          </a:bodyPr>
          <a:lstStyle/>
          <a:p>
            <a:pPr algn="l">
              <a:lnSpc>
                <a:spcPts val="2511"/>
              </a:lnSpc>
              <a:spcBef>
                <a:spcPts val="0"/>
              </a:spcBef>
              <a:spcAft>
                <a:spcPts val="0"/>
              </a:spcAft>
            </a:pPr>
            <a:r>
              <a:rPr sz="2283" b="1" i="0" u="none">
                <a:solidFill>
                  <a:srgbClr val="1F1E1E"/>
                </a:solidFill>
                <a:latin typeface="Arial"/>
              </a:rPr>
              <a:t>Grouped by position</a:t>
            </a:r>
          </a:p>
        </p:txBody>
      </p:sp>
      <p:sp>
        <p:nvSpPr>
          <p:cNvPr id="12" name="TextBox 11"/>
          <p:cNvSpPr txBox="1"/>
          <p:nvPr/>
        </p:nvSpPr>
        <p:spPr>
          <a:xfrm>
            <a:off x="1661541" y="3161348"/>
            <a:ext cx="4163571" cy="543020"/>
          </a:xfrm>
          <a:prstGeom prst="rect">
            <a:avLst/>
          </a:prstGeom>
          <a:noFill/>
        </p:spPr>
        <p:txBody>
          <a:bodyPr wrap="square" anchor="ctr" lIns="0" tIns="0" rIns="0" bIns="0">
            <a:noAutofit/>
          </a:bodyPr>
          <a:lstStyle/>
          <a:p>
            <a:pPr algn="l">
              <a:lnSpc>
                <a:spcPts val="2303"/>
              </a:lnSpc>
              <a:spcBef>
                <a:spcPts val="0"/>
              </a:spcBef>
              <a:spcAft>
                <a:spcPts val="0"/>
              </a:spcAft>
            </a:pPr>
            <a:r>
              <a:rPr sz="1771" b="0" i="0" u="none">
                <a:solidFill>
                  <a:srgbClr val="3B3535"/>
                </a:solidFill>
                <a:latin typeface="Arial"/>
              </a:rPr>
              <a:t>Every top entry lands above, every bottom entry below.</a:t>
            </a:r>
          </a:p>
        </p:txBody>
      </p:sp>
      <p:sp>
        <p:nvSpPr>
          <p:cNvPr id="13" name="Rounded Rectangle 12"/>
          <p:cNvSpPr/>
          <p:nvPr/>
        </p:nvSpPr>
        <p:spPr>
          <a:xfrm>
            <a:off x="6205347" y="2496122"/>
            <a:ext cx="5314664" cy="1515237"/>
          </a:xfrm>
          <a:prstGeom prst="roundRect">
            <a:avLst>
              <a:gd name="adj" fmla="val 16092"/>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4"/>
          <a:stretch>
            <a:fillRect/>
          </a:stretch>
        </p:blipFill>
        <p:spPr>
          <a:xfrm>
            <a:off x="6445663" y="2776347"/>
            <a:ext cx="580644" cy="580644"/>
          </a:xfrm>
          <a:prstGeom prst="rect">
            <a:avLst/>
          </a:prstGeom>
        </p:spPr>
      </p:pic>
      <p:sp>
        <p:nvSpPr>
          <p:cNvPr id="15" name="TextBox 14"/>
          <p:cNvSpPr txBox="1"/>
          <p:nvPr/>
        </p:nvSpPr>
        <p:spPr>
          <a:xfrm>
            <a:off x="7196423" y="2768537"/>
            <a:ext cx="4121372" cy="328517"/>
          </a:xfrm>
          <a:prstGeom prst="rect">
            <a:avLst/>
          </a:prstGeom>
          <a:noFill/>
        </p:spPr>
        <p:txBody>
          <a:bodyPr wrap="none" anchor="ctr" lIns="0" tIns="0" rIns="0" bIns="0">
            <a:noAutofit/>
          </a:bodyPr>
          <a:lstStyle/>
          <a:p>
            <a:pPr algn="l">
              <a:lnSpc>
                <a:spcPts val="2511"/>
              </a:lnSpc>
              <a:spcBef>
                <a:spcPts val="0"/>
              </a:spcBef>
              <a:spcAft>
                <a:spcPts val="0"/>
              </a:spcAft>
            </a:pPr>
            <a:r>
              <a:rPr sz="2283" b="1" i="0" u="none">
                <a:solidFill>
                  <a:srgbClr val="1F1E1E"/>
                </a:solidFill>
                <a:latin typeface="Arial"/>
              </a:rPr>
              <a:t>Same component</a:t>
            </a:r>
          </a:p>
        </p:txBody>
      </p:sp>
      <p:sp>
        <p:nvSpPr>
          <p:cNvPr id="16" name="TextBox 15"/>
          <p:cNvSpPr txBox="1"/>
          <p:nvPr/>
        </p:nvSpPr>
        <p:spPr>
          <a:xfrm>
            <a:off x="7196423" y="3161348"/>
            <a:ext cx="4163571" cy="543020"/>
          </a:xfrm>
          <a:prstGeom prst="rect">
            <a:avLst/>
          </a:prstGeom>
          <a:noFill/>
        </p:spPr>
        <p:txBody>
          <a:bodyPr wrap="square" anchor="ctr" lIns="0" tIns="0" rIns="0" bIns="0">
            <a:noAutofit/>
          </a:bodyPr>
          <a:lstStyle/>
          <a:p>
            <a:pPr algn="l">
              <a:lnSpc>
                <a:spcPts val="2303"/>
              </a:lnSpc>
              <a:spcBef>
                <a:spcPts val="0"/>
              </a:spcBef>
              <a:spcAft>
                <a:spcPts val="0"/>
              </a:spcAft>
            </a:pPr>
            <a:r>
              <a:rPr sz="1771" b="0" i="0" u="none">
                <a:solidFill>
                  <a:srgbClr val="3B3535"/>
                </a:solidFill>
                <a:latin typeface="Arial"/>
              </a:rPr>
              <a:t>Identical classes, colours and icons in both bands.</a:t>
            </a:r>
          </a:p>
        </p:txBody>
      </p:sp>
      <p:sp>
        <p:nvSpPr>
          <p:cNvPr id="17" name="Rounded Rectangle 16"/>
          <p:cNvSpPr/>
          <p:nvPr/>
        </p:nvSpPr>
        <p:spPr>
          <a:xfrm>
            <a:off x="670465" y="4231576"/>
            <a:ext cx="10849546" cy="1212437"/>
          </a:xfrm>
          <a:prstGeom prst="roundRect">
            <a:avLst>
              <a:gd name="adj" fmla="val 2011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8" name="Picture 17" descr="image.png"/>
          <p:cNvPicPr>
            <a:picLocks noChangeAspect="1"/>
          </p:cNvPicPr>
          <p:nvPr/>
        </p:nvPicPr>
        <p:blipFill>
          <a:blip r:embed="rId5"/>
          <a:stretch>
            <a:fillRect/>
          </a:stretch>
        </p:blipFill>
        <p:spPr>
          <a:xfrm>
            <a:off x="910780" y="4511802"/>
            <a:ext cx="580644" cy="580644"/>
          </a:xfrm>
          <a:prstGeom prst="rect">
            <a:avLst/>
          </a:prstGeom>
        </p:spPr>
      </p:pic>
      <p:sp>
        <p:nvSpPr>
          <p:cNvPr id="19" name="TextBox 18"/>
          <p:cNvSpPr txBox="1"/>
          <p:nvPr/>
        </p:nvSpPr>
        <p:spPr>
          <a:xfrm>
            <a:off x="1661541" y="4503992"/>
            <a:ext cx="9656254" cy="328517"/>
          </a:xfrm>
          <a:prstGeom prst="rect">
            <a:avLst/>
          </a:prstGeom>
          <a:noFill/>
        </p:spPr>
        <p:txBody>
          <a:bodyPr wrap="none" anchor="ctr" lIns="0" tIns="0" rIns="0" bIns="0">
            <a:noAutofit/>
          </a:bodyPr>
          <a:lstStyle/>
          <a:p>
            <a:pPr algn="l">
              <a:lnSpc>
                <a:spcPts val="2511"/>
              </a:lnSpc>
              <a:spcBef>
                <a:spcPts val="0"/>
              </a:spcBef>
              <a:spcAft>
                <a:spcPts val="0"/>
              </a:spcAft>
            </a:pPr>
            <a:r>
              <a:rPr sz="2283" b="1" i="0" u="none">
                <a:solidFill>
                  <a:srgbClr val="1F1E1E"/>
                </a:solidFill>
                <a:latin typeface="Arial"/>
              </a:rPr>
              <a:t>Reveal differs</a:t>
            </a:r>
          </a:p>
        </p:txBody>
      </p:sp>
      <p:sp>
        <p:nvSpPr>
          <p:cNvPr id="20" name="TextBox 19"/>
          <p:cNvSpPr txBox="1"/>
          <p:nvPr/>
        </p:nvSpPr>
        <p:spPr>
          <a:xfrm>
            <a:off x="1661541" y="4896898"/>
            <a:ext cx="9656254" cy="250317"/>
          </a:xfrm>
          <a:prstGeom prst="rect">
            <a:avLst/>
          </a:prstGeom>
          <a:noFill/>
        </p:spPr>
        <p:txBody>
          <a:bodyPr wrap="none" anchor="ctr" lIns="0" tIns="0" rIns="0" bIns="0">
            <a:noAutofit/>
          </a:bodyPr>
          <a:lstStyle/>
          <a:p>
            <a:pPr algn="l">
              <a:lnSpc>
                <a:spcPts val="2303"/>
              </a:lnSpc>
              <a:spcBef>
                <a:spcPts val="0"/>
              </a:spcBef>
              <a:spcAft>
                <a:spcPts val="0"/>
              </a:spcAft>
            </a:pPr>
            <a:r>
              <a:rPr sz="1771" b="0" i="0" u="none">
                <a:solidFill>
                  <a:srgbClr val="3B3535"/>
                </a:solidFill>
                <a:latin typeface="Arial"/>
              </a:rPr>
              <a:t>Only the closing band waits for the last click.</a:t>
            </a:r>
          </a:p>
        </p:txBody>
      </p:sp>
      <p:sp>
        <p:nvSpPr>
          <p:cNvPr id="21" name="Rounded Rectangle 20"/>
          <p:cNvSpPr/>
          <p:nvPr/>
        </p:nvSpPr>
        <p:spPr>
          <a:xfrm>
            <a:off x="670465" y="5736622"/>
            <a:ext cx="10851070" cy="511778"/>
          </a:xfrm>
          <a:prstGeom prst="roundRect">
            <a:avLst>
              <a:gd name="adj" fmla="val 1905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670465" y="5736622"/>
            <a:ext cx="57150" cy="511778"/>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3" name="Picture 22" descr="image.png"/>
          <p:cNvPicPr>
            <a:picLocks noChangeAspect="1"/>
          </p:cNvPicPr>
          <p:nvPr/>
        </p:nvPicPr>
        <p:blipFill>
          <a:blip r:embed="rId6"/>
          <a:stretch>
            <a:fillRect/>
          </a:stretch>
        </p:blipFill>
        <p:spPr>
          <a:xfrm>
            <a:off x="886016" y="5882735"/>
            <a:ext cx="243745" cy="243745"/>
          </a:xfrm>
          <a:prstGeom prst="rect">
            <a:avLst/>
          </a:prstGeom>
        </p:spPr>
      </p:pic>
      <p:sp>
        <p:nvSpPr>
          <p:cNvPr id="24" name="TextBox 23"/>
          <p:cNvSpPr txBox="1"/>
          <p:nvPr/>
        </p:nvSpPr>
        <p:spPr>
          <a:xfrm>
            <a:off x="1251680" y="5877496"/>
            <a:ext cx="6859048" cy="200025"/>
          </a:xfrm>
          <a:prstGeom prst="rect">
            <a:avLst/>
          </a:prstGeom>
          <a:noFill/>
        </p:spPr>
        <p:txBody>
          <a:bodyPr wrap="none" anchor="ctr" lIns="0" tIns="0" rIns="0" bIns="0">
            <a:noAutofit/>
          </a:bodyPr>
          <a:lstStyle/>
          <a:p>
            <a:pPr algn="l">
              <a:lnSpc>
                <a:spcPts val="1892"/>
              </a:lnSpc>
              <a:spcBef>
                <a:spcPts val="0"/>
              </a:spcBef>
              <a:spcAft>
                <a:spcPts val="0"/>
              </a:spcAft>
            </a:pPr>
            <a:r>
              <a:rPr sz="1402" b="1" i="0" u="none">
                <a:solidFill>
                  <a:srgbClr val="1F1E1E"/>
                </a:solidFill>
                <a:latin typeface="Arial"/>
              </a:rPr>
              <a:t>Two bands</a:t>
            </a:r>
            <a:r>
              <a:rPr sz="1402" b="0" i="0" u="none">
                <a:solidFill>
                  <a:srgbClr val="1F1E1E"/>
                </a:solidFill>
                <a:latin typeface="Arial"/>
              </a:rPr>
              <a:t>: the framing line opens the slide, the takeaway closes it — one band each.</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770317"/>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01</a:t>
            </a:r>
          </a:p>
        </p:txBody>
      </p:sp>
      <p:sp>
        <p:nvSpPr>
          <p:cNvPr id="3" name="TextBox 2"/>
          <p:cNvSpPr txBox="1"/>
          <p:nvPr/>
        </p:nvSpPr>
        <p:spPr>
          <a:xfrm>
            <a:off x="1328738" y="1675067"/>
            <a:ext cx="2910459"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Frames &amp; openers</a:t>
            </a:r>
          </a:p>
        </p:txBody>
      </p:sp>
      <p:sp>
        <p:nvSpPr>
          <p:cNvPr id="4" name="TextBox 3"/>
          <p:cNvSpPr txBox="1"/>
          <p:nvPr/>
        </p:nvSpPr>
        <p:spPr>
          <a:xfrm>
            <a:off x="670465" y="2292096"/>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02</a:t>
            </a:r>
          </a:p>
        </p:txBody>
      </p:sp>
      <p:sp>
        <p:nvSpPr>
          <p:cNvPr id="5" name="TextBox 4"/>
          <p:cNvSpPr txBox="1"/>
          <p:nvPr/>
        </p:nvSpPr>
        <p:spPr>
          <a:xfrm>
            <a:off x="1328738" y="2196846"/>
            <a:ext cx="3568922"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Statement &amp; emphasis</a:t>
            </a:r>
          </a:p>
        </p:txBody>
      </p:sp>
      <p:sp>
        <p:nvSpPr>
          <p:cNvPr id="6" name="TextBox 5"/>
          <p:cNvSpPr txBox="1"/>
          <p:nvPr/>
        </p:nvSpPr>
        <p:spPr>
          <a:xfrm>
            <a:off x="670465" y="2813876"/>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03</a:t>
            </a:r>
          </a:p>
        </p:txBody>
      </p:sp>
      <p:sp>
        <p:nvSpPr>
          <p:cNvPr id="7" name="TextBox 6"/>
          <p:cNvSpPr txBox="1"/>
          <p:nvPr/>
        </p:nvSpPr>
        <p:spPr>
          <a:xfrm>
            <a:off x="1328738" y="2718626"/>
            <a:ext cx="2233136"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Enumerations</a:t>
            </a:r>
          </a:p>
        </p:txBody>
      </p:sp>
      <p:sp>
        <p:nvSpPr>
          <p:cNvPr id="8" name="TextBox 7"/>
          <p:cNvSpPr txBox="1"/>
          <p:nvPr/>
        </p:nvSpPr>
        <p:spPr>
          <a:xfrm>
            <a:off x="670465" y="3335655"/>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04</a:t>
            </a:r>
          </a:p>
        </p:txBody>
      </p:sp>
      <p:sp>
        <p:nvSpPr>
          <p:cNvPr id="9" name="TextBox 8"/>
          <p:cNvSpPr txBox="1"/>
          <p:nvPr/>
        </p:nvSpPr>
        <p:spPr>
          <a:xfrm>
            <a:off x="1328738" y="3240405"/>
            <a:ext cx="3605212"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Ordered &amp; comparison</a:t>
            </a:r>
          </a:p>
        </p:txBody>
      </p:sp>
      <p:sp>
        <p:nvSpPr>
          <p:cNvPr id="10" name="TextBox 9"/>
          <p:cNvSpPr txBox="1"/>
          <p:nvPr/>
        </p:nvSpPr>
        <p:spPr>
          <a:xfrm>
            <a:off x="670465" y="3857434"/>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05</a:t>
            </a:r>
          </a:p>
        </p:txBody>
      </p:sp>
      <p:sp>
        <p:nvSpPr>
          <p:cNvPr id="11" name="TextBox 10"/>
          <p:cNvSpPr txBox="1"/>
          <p:nvPr/>
        </p:nvSpPr>
        <p:spPr>
          <a:xfrm>
            <a:off x="1328738" y="3762184"/>
            <a:ext cx="2099405"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Visual &amp; data</a:t>
            </a:r>
          </a:p>
        </p:txBody>
      </p:sp>
      <p:sp>
        <p:nvSpPr>
          <p:cNvPr id="12" name="TextBox 11"/>
          <p:cNvSpPr txBox="1"/>
          <p:nvPr/>
        </p:nvSpPr>
        <p:spPr>
          <a:xfrm>
            <a:off x="670465" y="4379309"/>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A1B2E"/>
                </a:solidFill>
                <a:latin typeface="Courier New"/>
              </a:rPr>
              <a:t>06</a:t>
            </a:r>
          </a:p>
        </p:txBody>
      </p:sp>
      <p:sp>
        <p:nvSpPr>
          <p:cNvPr id="13" name="TextBox 12"/>
          <p:cNvSpPr txBox="1"/>
          <p:nvPr/>
        </p:nvSpPr>
        <p:spPr>
          <a:xfrm>
            <a:off x="1328738" y="4284059"/>
            <a:ext cx="2653760"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Interactive (quiz)</a:t>
            </a:r>
          </a:p>
        </p:txBody>
      </p:sp>
      <p:sp>
        <p:nvSpPr>
          <p:cNvPr id="14" name="TextBox 13"/>
          <p:cNvSpPr txBox="1"/>
          <p:nvPr/>
        </p:nvSpPr>
        <p:spPr>
          <a:xfrm>
            <a:off x="670465" y="4901089"/>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07</a:t>
            </a:r>
          </a:p>
        </p:txBody>
      </p:sp>
      <p:sp>
        <p:nvSpPr>
          <p:cNvPr id="15" name="TextBox 14"/>
          <p:cNvSpPr txBox="1"/>
          <p:nvPr/>
        </p:nvSpPr>
        <p:spPr>
          <a:xfrm>
            <a:off x="1328738" y="4805839"/>
            <a:ext cx="1245108"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Closing</a:t>
            </a:r>
          </a:p>
        </p:txBody>
      </p:sp>
      <p:sp>
        <p:nvSpPr>
          <p:cNvPr id="16" name="TextBox 15"/>
          <p:cNvSpPr txBox="1"/>
          <p:nvPr/>
        </p:nvSpPr>
        <p:spPr>
          <a:xfrm>
            <a:off x="9965341" y="2263807"/>
            <a:ext cx="1594104" cy="1514475"/>
          </a:xfrm>
          <a:prstGeom prst="rect">
            <a:avLst/>
          </a:prstGeom>
          <a:noFill/>
        </p:spPr>
        <p:txBody>
          <a:bodyPr wrap="none" anchor="ctr" lIns="0" tIns="0" rIns="0" bIns="0">
            <a:noAutofit/>
          </a:bodyPr>
          <a:lstStyle/>
          <a:p>
            <a:pPr algn="r">
              <a:lnSpc>
                <a:spcPts val="8976"/>
              </a:lnSpc>
              <a:spcBef>
                <a:spcPts val="0"/>
              </a:spcBef>
              <a:spcAft>
                <a:spcPts val="0"/>
              </a:spcAft>
            </a:pPr>
            <a:r>
              <a:rPr sz="10560" b="1" i="0" u="none" spc="-212">
                <a:solidFill>
                  <a:srgbClr val="DA1B2E"/>
                </a:solidFill>
                <a:latin typeface="Courier New"/>
              </a:rPr>
              <a:t>06</a:t>
            </a:r>
          </a:p>
        </p:txBody>
      </p:sp>
      <p:sp>
        <p:nvSpPr>
          <p:cNvPr id="17" name="TextBox 16"/>
          <p:cNvSpPr txBox="1"/>
          <p:nvPr/>
        </p:nvSpPr>
        <p:spPr>
          <a:xfrm>
            <a:off x="6976586" y="3760565"/>
            <a:ext cx="4582858" cy="657225"/>
          </a:xfrm>
          <a:prstGeom prst="rect">
            <a:avLst/>
          </a:prstGeom>
          <a:noFill/>
        </p:spPr>
        <p:txBody>
          <a:bodyPr wrap="none" anchor="ctr" lIns="0" tIns="0" rIns="0" bIns="0">
            <a:noAutofit/>
          </a:bodyPr>
          <a:lstStyle/>
          <a:p>
            <a:pPr algn="r">
              <a:lnSpc>
                <a:spcPts val="4838"/>
              </a:lnSpc>
              <a:spcBef>
                <a:spcPts val="0"/>
              </a:spcBef>
              <a:spcAft>
                <a:spcPts val="0"/>
              </a:spcAft>
            </a:pPr>
            <a:r>
              <a:rPr sz="4608" b="1" i="0" u="none" spc="-46">
                <a:solidFill>
                  <a:srgbClr val="1F1E1E"/>
                </a:solidFill>
                <a:latin typeface="Arial"/>
              </a:rPr>
              <a:t>Interactive (quiz)</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097691"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794700"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INTERACTIVE (QUIZ)</a:t>
            </a:r>
          </a:p>
        </p:txBody>
      </p:sp>
      <p:sp>
        <p:nvSpPr>
          <p:cNvPr id="4" name="TextBox 3"/>
          <p:cNvSpPr txBox="1"/>
          <p:nvPr/>
        </p:nvSpPr>
        <p:spPr>
          <a:xfrm>
            <a:off x="670465" y="896112"/>
            <a:ext cx="1088898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Quiz</a:t>
            </a:r>
          </a:p>
        </p:txBody>
      </p:sp>
      <p:sp>
        <p:nvSpPr>
          <p:cNvPr id="5" name="TextBox 4"/>
          <p:cNvSpPr txBox="1"/>
          <p:nvPr/>
        </p:nvSpPr>
        <p:spPr>
          <a:xfrm>
            <a:off x="670465" y="1775555"/>
            <a:ext cx="6281126" cy="1167860"/>
          </a:xfrm>
          <a:prstGeom prst="rect">
            <a:avLst/>
          </a:prstGeom>
          <a:noFill/>
        </p:spPr>
        <p:txBody>
          <a:bodyPr wrap="square" anchor="ctr" lIns="0" tIns="0" rIns="0" bIns="0">
            <a:noAutofit/>
          </a:bodyPr>
          <a:lstStyle/>
          <a:p>
            <a:pPr algn="l">
              <a:lnSpc>
                <a:spcPts val="2476"/>
              </a:lnSpc>
              <a:spcBef>
                <a:spcPts val="0"/>
              </a:spcBef>
              <a:spcAft>
                <a:spcPts val="0"/>
              </a:spcAft>
            </a:pPr>
            <a:r>
              <a:rPr sz="2134" b="1" i="0" u="none">
                <a:solidFill>
                  <a:srgbClr val="1F1E1E"/>
                </a:solidFill>
                <a:latin typeface="Arial"/>
              </a:rPr>
              <a:t>In a Talksmith quiz slide, when does the answer appear?</a:t>
            </a:r>
          </a:p>
        </p:txBody>
      </p:sp>
      <p:sp>
        <p:nvSpPr>
          <p:cNvPr id="6" name="Rounded Rectangle 5"/>
          <p:cNvSpPr/>
          <p:nvPr/>
        </p:nvSpPr>
        <p:spPr>
          <a:xfrm>
            <a:off x="670465" y="2609755"/>
            <a:ext cx="6169533" cy="437007"/>
          </a:xfrm>
          <a:prstGeom prst="roundRect">
            <a:avLst>
              <a:gd name="adj" fmla="val 44638"/>
            </a:avLst>
          </a:prstGeom>
          <a:solidFill>
            <a:srgbClr val="FFFFFF"/>
          </a:solidFill>
          <a:ln w="19050">
            <a:solidFill>
              <a:srgbClr val="D8D2C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Oval 6"/>
          <p:cNvSpPr/>
          <p:nvPr/>
        </p:nvSpPr>
        <p:spPr>
          <a:xfrm>
            <a:off x="889921" y="2690241"/>
            <a:ext cx="276034" cy="276034"/>
          </a:xfrm>
          <a:prstGeom prst="ellipse">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889921" y="2690241"/>
            <a:ext cx="314135" cy="276034"/>
          </a:xfrm>
          <a:prstGeom prst="rect">
            <a:avLst/>
          </a:prstGeom>
          <a:noFill/>
        </p:spPr>
        <p:txBody>
          <a:bodyPr wrap="none" anchor="ctr" lIns="0" tIns="0" rIns="0" bIns="0">
            <a:noAutofit/>
          </a:bodyPr>
          <a:lstStyle/>
          <a:p>
            <a:pPr algn="ctr">
              <a:lnSpc>
                <a:spcPts val="1300"/>
              </a:lnSpc>
              <a:spcBef>
                <a:spcPts val="0"/>
              </a:spcBef>
              <a:spcAft>
                <a:spcPts val="0"/>
              </a:spcAft>
            </a:pPr>
            <a:r>
              <a:rPr sz="1040" b="1" i="0" u="none">
                <a:solidFill>
                  <a:srgbClr val="1F1E1E"/>
                </a:solidFill>
                <a:latin typeface="Arial"/>
              </a:rPr>
              <a:t>A</a:t>
            </a:r>
          </a:p>
        </p:txBody>
      </p:sp>
      <p:sp>
        <p:nvSpPr>
          <p:cNvPr id="9" name="TextBox 8"/>
          <p:cNvSpPr txBox="1"/>
          <p:nvPr/>
        </p:nvSpPr>
        <p:spPr>
          <a:xfrm>
            <a:off x="1165955" y="2729865"/>
            <a:ext cx="5494877" cy="189357"/>
          </a:xfrm>
          <a:prstGeom prst="rect">
            <a:avLst/>
          </a:prstGeom>
          <a:noFill/>
        </p:spPr>
        <p:txBody>
          <a:bodyPr wrap="none" anchor="ctr" lIns="0" tIns="0" rIns="0" bIns="0">
            <a:noAutofit/>
          </a:bodyPr>
          <a:lstStyle/>
          <a:p>
            <a:pPr algn="l">
              <a:lnSpc>
                <a:spcPts val="1642"/>
              </a:lnSpc>
              <a:spcBef>
                <a:spcPts val="0"/>
              </a:spcBef>
              <a:spcAft>
                <a:spcPts val="0"/>
              </a:spcAft>
            </a:pPr>
            <a:r>
              <a:rPr sz="1313" b="1" i="0" u="none">
                <a:solidFill>
                  <a:srgbClr val="3B3535"/>
                </a:solidFill>
                <a:latin typeface="Arial"/>
              </a:rPr>
              <a:t>Immediately, with the question</a:t>
            </a:r>
          </a:p>
        </p:txBody>
      </p:sp>
      <p:sp>
        <p:nvSpPr>
          <p:cNvPr id="10" name="Rounded Rectangle 9"/>
          <p:cNvSpPr/>
          <p:nvPr/>
        </p:nvSpPr>
        <p:spPr>
          <a:xfrm>
            <a:off x="670465" y="3150584"/>
            <a:ext cx="6169533" cy="437007"/>
          </a:xfrm>
          <a:prstGeom prst="roundRect">
            <a:avLst>
              <a:gd name="adj" fmla="val 44638"/>
            </a:avLst>
          </a:prstGeom>
          <a:solidFill>
            <a:srgbClr val="F9D2D6"/>
          </a:solidFill>
          <a:ln w="19050">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Oval 10"/>
          <p:cNvSpPr/>
          <p:nvPr/>
        </p:nvSpPr>
        <p:spPr>
          <a:xfrm>
            <a:off x="889921" y="3230975"/>
            <a:ext cx="276034" cy="276034"/>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889921" y="3230975"/>
            <a:ext cx="314135" cy="276034"/>
          </a:xfrm>
          <a:prstGeom prst="rect">
            <a:avLst/>
          </a:prstGeom>
          <a:noFill/>
        </p:spPr>
        <p:txBody>
          <a:bodyPr wrap="none" anchor="ctr" lIns="0" tIns="0" rIns="0" bIns="0">
            <a:noAutofit/>
          </a:bodyPr>
          <a:lstStyle/>
          <a:p>
            <a:pPr algn="ctr">
              <a:lnSpc>
                <a:spcPts val="1300"/>
              </a:lnSpc>
              <a:spcBef>
                <a:spcPts val="0"/>
              </a:spcBef>
              <a:spcAft>
                <a:spcPts val="0"/>
              </a:spcAft>
            </a:pPr>
            <a:r>
              <a:rPr sz="1040" b="1" i="0" u="none">
                <a:solidFill>
                  <a:srgbClr val="FFFFFF"/>
                </a:solidFill>
                <a:latin typeface="Arial"/>
              </a:rPr>
              <a:t>B</a:t>
            </a:r>
          </a:p>
        </p:txBody>
      </p:sp>
      <p:sp>
        <p:nvSpPr>
          <p:cNvPr id="13" name="TextBox 12"/>
          <p:cNvSpPr txBox="1"/>
          <p:nvPr/>
        </p:nvSpPr>
        <p:spPr>
          <a:xfrm>
            <a:off x="1165955" y="3270599"/>
            <a:ext cx="5494877" cy="189357"/>
          </a:xfrm>
          <a:prstGeom prst="rect">
            <a:avLst/>
          </a:prstGeom>
          <a:noFill/>
        </p:spPr>
        <p:txBody>
          <a:bodyPr wrap="none" anchor="ctr" lIns="0" tIns="0" rIns="0" bIns="0">
            <a:noAutofit/>
          </a:bodyPr>
          <a:lstStyle/>
          <a:p>
            <a:pPr algn="l">
              <a:lnSpc>
                <a:spcPts val="1642"/>
              </a:lnSpc>
              <a:spcBef>
                <a:spcPts val="0"/>
              </a:spcBef>
              <a:spcAft>
                <a:spcPts val="0"/>
              </a:spcAft>
            </a:pPr>
            <a:r>
              <a:rPr sz="1313" b="1" i="0" u="none">
                <a:solidFill>
                  <a:srgbClr val="1F1E1E"/>
                </a:solidFill>
                <a:latin typeface="Arial"/>
              </a:rPr>
              <a:t>On the next navigation (Reveal fragment)</a:t>
            </a:r>
          </a:p>
        </p:txBody>
      </p:sp>
      <p:sp>
        <p:nvSpPr>
          <p:cNvPr id="14" name="TextBox 13"/>
          <p:cNvSpPr txBox="1"/>
          <p:nvPr/>
        </p:nvSpPr>
        <p:spPr>
          <a:xfrm>
            <a:off x="4476274" y="3112008"/>
            <a:ext cx="280416" cy="316992"/>
          </a:xfrm>
          <a:prstGeom prst="rect">
            <a:avLst/>
          </a:prstGeom>
          <a:noFill/>
        </p:spPr>
        <p:txBody>
          <a:bodyPr wrap="none" anchor="ctr" lIns="0" tIns="0" rIns="0" bIns="0">
            <a:noAutofit/>
          </a:bodyPr>
          <a:lstStyle/>
          <a:p>
            <a:pPr algn="ctr">
              <a:lnSpc>
                <a:spcPts val="1423"/>
              </a:lnSpc>
              <a:spcBef>
                <a:spcPts val="0"/>
              </a:spcBef>
              <a:spcAft>
                <a:spcPts val="0"/>
              </a:spcAft>
            </a:pPr>
            <a:r>
              <a:rPr sz="1423" b="1" i="0" u="none">
                <a:solidFill>
                  <a:srgbClr val="DA1B2E"/>
                </a:solidFill>
                <a:latin typeface="Arial"/>
              </a:rPr>
              <a:t>✓</a:t>
            </a:r>
          </a:p>
        </p:txBody>
      </p:sp>
      <p:sp>
        <p:nvSpPr>
          <p:cNvPr id="15" name="Rounded Rectangle 14"/>
          <p:cNvSpPr/>
          <p:nvPr/>
        </p:nvSpPr>
        <p:spPr>
          <a:xfrm>
            <a:off x="670465" y="3691318"/>
            <a:ext cx="6169533" cy="437007"/>
          </a:xfrm>
          <a:prstGeom prst="roundRect">
            <a:avLst>
              <a:gd name="adj" fmla="val 44638"/>
            </a:avLst>
          </a:prstGeom>
          <a:solidFill>
            <a:srgbClr val="FFFFFF"/>
          </a:solidFill>
          <a:ln w="19050">
            <a:solidFill>
              <a:srgbClr val="D8D2C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Oval 15"/>
          <p:cNvSpPr/>
          <p:nvPr/>
        </p:nvSpPr>
        <p:spPr>
          <a:xfrm>
            <a:off x="889921" y="3771805"/>
            <a:ext cx="276034" cy="276034"/>
          </a:xfrm>
          <a:prstGeom prst="ellipse">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889921" y="3771805"/>
            <a:ext cx="314135" cy="276034"/>
          </a:xfrm>
          <a:prstGeom prst="rect">
            <a:avLst/>
          </a:prstGeom>
          <a:noFill/>
        </p:spPr>
        <p:txBody>
          <a:bodyPr wrap="none" anchor="ctr" lIns="0" tIns="0" rIns="0" bIns="0">
            <a:noAutofit/>
          </a:bodyPr>
          <a:lstStyle/>
          <a:p>
            <a:pPr algn="ctr">
              <a:lnSpc>
                <a:spcPts val="1300"/>
              </a:lnSpc>
              <a:spcBef>
                <a:spcPts val="0"/>
              </a:spcBef>
              <a:spcAft>
                <a:spcPts val="0"/>
              </a:spcAft>
            </a:pPr>
            <a:r>
              <a:rPr sz="1040" b="1" i="0" u="none">
                <a:solidFill>
                  <a:srgbClr val="1F1E1E"/>
                </a:solidFill>
                <a:latin typeface="Arial"/>
              </a:rPr>
              <a:t>C</a:t>
            </a:r>
          </a:p>
        </p:txBody>
      </p:sp>
      <p:sp>
        <p:nvSpPr>
          <p:cNvPr id="18" name="TextBox 17"/>
          <p:cNvSpPr txBox="1"/>
          <p:nvPr/>
        </p:nvSpPr>
        <p:spPr>
          <a:xfrm>
            <a:off x="1165955" y="3811334"/>
            <a:ext cx="5494877" cy="189357"/>
          </a:xfrm>
          <a:prstGeom prst="rect">
            <a:avLst/>
          </a:prstGeom>
          <a:noFill/>
        </p:spPr>
        <p:txBody>
          <a:bodyPr wrap="none" anchor="ctr" lIns="0" tIns="0" rIns="0" bIns="0">
            <a:noAutofit/>
          </a:bodyPr>
          <a:lstStyle/>
          <a:p>
            <a:pPr algn="l">
              <a:lnSpc>
                <a:spcPts val="1642"/>
              </a:lnSpc>
              <a:spcBef>
                <a:spcPts val="0"/>
              </a:spcBef>
              <a:spcAft>
                <a:spcPts val="0"/>
              </a:spcAft>
            </a:pPr>
            <a:r>
              <a:rPr sz="1313" b="1" i="0" u="none">
                <a:solidFill>
                  <a:srgbClr val="3B3535"/>
                </a:solidFill>
                <a:latin typeface="Arial"/>
              </a:rPr>
              <a:t>Only in the PDF export</a:t>
            </a:r>
          </a:p>
        </p:txBody>
      </p:sp>
      <p:sp>
        <p:nvSpPr>
          <p:cNvPr id="19" name="Rounded Rectangle 18"/>
          <p:cNvSpPr/>
          <p:nvPr/>
        </p:nvSpPr>
        <p:spPr>
          <a:xfrm>
            <a:off x="670465" y="4232053"/>
            <a:ext cx="6169533" cy="437007"/>
          </a:xfrm>
          <a:prstGeom prst="roundRect">
            <a:avLst>
              <a:gd name="adj" fmla="val 44638"/>
            </a:avLst>
          </a:prstGeom>
          <a:solidFill>
            <a:srgbClr val="FFFFFF"/>
          </a:solidFill>
          <a:ln w="19050">
            <a:solidFill>
              <a:srgbClr val="D8D2C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Oval 19"/>
          <p:cNvSpPr/>
          <p:nvPr/>
        </p:nvSpPr>
        <p:spPr>
          <a:xfrm>
            <a:off x="889921" y="4312539"/>
            <a:ext cx="276034" cy="276034"/>
          </a:xfrm>
          <a:prstGeom prst="ellipse">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889921" y="4312539"/>
            <a:ext cx="314135" cy="276034"/>
          </a:xfrm>
          <a:prstGeom prst="rect">
            <a:avLst/>
          </a:prstGeom>
          <a:noFill/>
        </p:spPr>
        <p:txBody>
          <a:bodyPr wrap="none" anchor="ctr" lIns="0" tIns="0" rIns="0" bIns="0">
            <a:noAutofit/>
          </a:bodyPr>
          <a:lstStyle/>
          <a:p>
            <a:pPr algn="ctr">
              <a:lnSpc>
                <a:spcPts val="1300"/>
              </a:lnSpc>
              <a:spcBef>
                <a:spcPts val="0"/>
              </a:spcBef>
              <a:spcAft>
                <a:spcPts val="0"/>
              </a:spcAft>
            </a:pPr>
            <a:r>
              <a:rPr sz="1040" b="1" i="0" u="none">
                <a:solidFill>
                  <a:srgbClr val="1F1E1E"/>
                </a:solidFill>
                <a:latin typeface="Arial"/>
              </a:rPr>
              <a:t>D</a:t>
            </a:r>
          </a:p>
        </p:txBody>
      </p:sp>
      <p:sp>
        <p:nvSpPr>
          <p:cNvPr id="22" name="TextBox 21"/>
          <p:cNvSpPr txBox="1"/>
          <p:nvPr/>
        </p:nvSpPr>
        <p:spPr>
          <a:xfrm>
            <a:off x="1165955" y="4352163"/>
            <a:ext cx="5494877" cy="189357"/>
          </a:xfrm>
          <a:prstGeom prst="rect">
            <a:avLst/>
          </a:prstGeom>
          <a:noFill/>
        </p:spPr>
        <p:txBody>
          <a:bodyPr wrap="none" anchor="ctr" lIns="0" tIns="0" rIns="0" bIns="0">
            <a:noAutofit/>
          </a:bodyPr>
          <a:lstStyle/>
          <a:p>
            <a:pPr algn="l">
              <a:lnSpc>
                <a:spcPts val="1642"/>
              </a:lnSpc>
              <a:spcBef>
                <a:spcPts val="0"/>
              </a:spcBef>
              <a:spcAft>
                <a:spcPts val="0"/>
              </a:spcAft>
            </a:pPr>
            <a:r>
              <a:rPr sz="1313" b="1" i="0" u="none">
                <a:solidFill>
                  <a:srgbClr val="3B3535"/>
                </a:solidFill>
                <a:latin typeface="Arial"/>
              </a:rPr>
              <a:t>Never — it's decorative</a:t>
            </a:r>
          </a:p>
        </p:txBody>
      </p:sp>
      <p:sp>
        <p:nvSpPr>
          <p:cNvPr id="23" name="Rounded Rectangle 22"/>
          <p:cNvSpPr/>
          <p:nvPr/>
        </p:nvSpPr>
        <p:spPr>
          <a:xfrm>
            <a:off x="670465" y="4876800"/>
            <a:ext cx="6169533" cy="1370743"/>
          </a:xfrm>
          <a:prstGeom prst="roundRect">
            <a:avLst>
              <a:gd name="adj" fmla="val 17788"/>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Rectangle 23"/>
          <p:cNvSpPr/>
          <p:nvPr/>
        </p:nvSpPr>
        <p:spPr>
          <a:xfrm>
            <a:off x="670465" y="4876800"/>
            <a:ext cx="104775" cy="1370743"/>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5" name="Picture 24" descr="image.png"/>
          <p:cNvPicPr>
            <a:picLocks noChangeAspect="1"/>
          </p:cNvPicPr>
          <p:nvPr/>
        </p:nvPicPr>
        <p:blipFill>
          <a:blip r:embed="rId2"/>
          <a:stretch>
            <a:fillRect/>
          </a:stretch>
        </p:blipFill>
        <p:spPr>
          <a:xfrm>
            <a:off x="923830" y="5042916"/>
            <a:ext cx="179927" cy="179927"/>
          </a:xfrm>
          <a:prstGeom prst="rect">
            <a:avLst/>
          </a:prstGeom>
        </p:spPr>
      </p:pic>
      <p:sp>
        <p:nvSpPr>
          <p:cNvPr id="26" name="TextBox 25"/>
          <p:cNvSpPr txBox="1"/>
          <p:nvPr/>
        </p:nvSpPr>
        <p:spPr>
          <a:xfrm>
            <a:off x="1173004" y="5056251"/>
            <a:ext cx="701897" cy="146114"/>
          </a:xfrm>
          <a:prstGeom prst="rect">
            <a:avLst/>
          </a:prstGeom>
          <a:noFill/>
        </p:spPr>
        <p:txBody>
          <a:bodyPr wrap="none" anchor="ctr" lIns="0" tIns="0" rIns="0" bIns="0">
            <a:noAutofit/>
          </a:bodyPr>
          <a:lstStyle/>
          <a:p>
            <a:pPr algn="l">
              <a:lnSpc>
                <a:spcPts val="1823"/>
              </a:lnSpc>
              <a:spcBef>
                <a:spcPts val="0"/>
              </a:spcBef>
              <a:spcAft>
                <a:spcPts val="0"/>
              </a:spcAft>
            </a:pPr>
            <a:r>
              <a:rPr sz="1823" b="1" i="0" u="none" spc="182">
                <a:solidFill>
                  <a:srgbClr val="DA1B2E"/>
                </a:solidFill>
                <a:latin typeface="Arial"/>
              </a:rPr>
              <a:t>ANSWER</a:t>
            </a:r>
          </a:p>
        </p:txBody>
      </p:sp>
      <p:sp>
        <p:nvSpPr>
          <p:cNvPr id="27" name="TextBox 26"/>
          <p:cNvSpPr txBox="1"/>
          <p:nvPr/>
        </p:nvSpPr>
        <p:spPr>
          <a:xfrm>
            <a:off x="923830" y="5311426"/>
            <a:ext cx="5829443" cy="643509"/>
          </a:xfrm>
          <a:prstGeom prst="rect">
            <a:avLst/>
          </a:prstGeom>
          <a:noFill/>
        </p:spPr>
        <p:txBody>
          <a:bodyPr wrap="square" anchor="ctr" lIns="0" tIns="0" rIns="0" bIns="0">
            <a:noAutofit/>
          </a:bodyPr>
          <a:lstStyle/>
          <a:p>
            <a:pPr algn="l">
              <a:lnSpc>
                <a:spcPts val="1839"/>
              </a:lnSpc>
              <a:spcBef>
                <a:spcPts val="0"/>
              </a:spcBef>
              <a:spcAft>
                <a:spcPts val="0"/>
              </a:spcAft>
            </a:pPr>
            <a:r>
              <a:rPr sz="1532" b="1" i="0" u="none">
                <a:solidFill>
                  <a:srgbClr val="1F1E1E"/>
                </a:solidFill>
                <a:latin typeface="Arial"/>
              </a:rPr>
              <a:t>On next-nav — the question shows first so the audience can think, then the answer fades up.</a:t>
            </a:r>
          </a:p>
        </p:txBody>
      </p:sp>
      <p:sp>
        <p:nvSpPr>
          <p:cNvPr id="28" name="TextBox 27"/>
          <p:cNvSpPr txBox="1"/>
          <p:nvPr/>
        </p:nvSpPr>
        <p:spPr>
          <a:xfrm>
            <a:off x="923830" y="5889784"/>
            <a:ext cx="5762625" cy="167735"/>
          </a:xfrm>
          <a:prstGeom prst="rect">
            <a:avLst/>
          </a:prstGeom>
          <a:noFill/>
        </p:spPr>
        <p:txBody>
          <a:bodyPr wrap="none" anchor="ctr" lIns="0" tIns="0" rIns="0" bIns="0">
            <a:noAutofit/>
          </a:bodyPr>
          <a:lstStyle/>
          <a:p>
            <a:pPr algn="l">
              <a:lnSpc>
                <a:spcPts val="1685"/>
              </a:lnSpc>
              <a:spcBef>
                <a:spcPts val="0"/>
              </a:spcBef>
              <a:spcAft>
                <a:spcPts val="0"/>
              </a:spcAft>
            </a:pPr>
            <a:r>
              <a:rPr sz="1204" b="0" i="0" u="none">
                <a:solidFill>
                  <a:srgbClr val="1F1E1E"/>
                </a:solidFill>
                <a:latin typeface="Arial"/>
              </a:rPr>
              <a:t>The correct choice highlights in sync; space is reserved so the question never jumps.</a:t>
            </a:r>
          </a:p>
        </p:txBody>
      </p:sp>
      <p:sp>
        <p:nvSpPr>
          <p:cNvPr id="29" name="Rounded Rectangle 28"/>
          <p:cNvSpPr/>
          <p:nvPr/>
        </p:nvSpPr>
        <p:spPr>
          <a:xfrm>
            <a:off x="7266718" y="1775555"/>
            <a:ext cx="4254722" cy="4472845"/>
          </a:xfrm>
          <a:prstGeom prst="roundRect">
            <a:avLst>
              <a:gd name="adj" fmla="val 4011"/>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0" name="Picture 29" descr="image.png"/>
          <p:cNvPicPr>
            <a:picLocks noChangeAspect="1"/>
          </p:cNvPicPr>
          <p:nvPr/>
        </p:nvPicPr>
        <p:blipFill>
          <a:blip r:embed="rId3"/>
          <a:stretch>
            <a:fillRect/>
          </a:stretch>
        </p:blipFill>
        <p:spPr>
          <a:xfrm>
            <a:off x="7723918" y="1785080"/>
            <a:ext cx="3340322" cy="4453795"/>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097691"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794700"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INTERACTIVE (QUIZ)</a:t>
            </a:r>
          </a:p>
        </p:txBody>
      </p:sp>
      <p:sp>
        <p:nvSpPr>
          <p:cNvPr id="4" name="TextBox 3"/>
          <p:cNvSpPr txBox="1"/>
          <p:nvPr/>
        </p:nvSpPr>
        <p:spPr>
          <a:xfrm>
            <a:off x="670465" y="896112"/>
            <a:ext cx="1088898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Quiz with a supporting image</a:t>
            </a:r>
          </a:p>
        </p:txBody>
      </p:sp>
      <p:sp>
        <p:nvSpPr>
          <p:cNvPr id="5" name="TextBox 4"/>
          <p:cNvSpPr txBox="1"/>
          <p:nvPr/>
        </p:nvSpPr>
        <p:spPr>
          <a:xfrm>
            <a:off x="670465" y="1775555"/>
            <a:ext cx="6207633" cy="354806"/>
          </a:xfrm>
          <a:prstGeom prst="rect">
            <a:avLst/>
          </a:prstGeom>
          <a:noFill/>
        </p:spPr>
        <p:txBody>
          <a:bodyPr wrap="none" anchor="ctr" lIns="0" tIns="0" rIns="0" bIns="0">
            <a:noAutofit/>
          </a:bodyPr>
          <a:lstStyle/>
          <a:p>
            <a:pPr algn="l">
              <a:lnSpc>
                <a:spcPts val="2910"/>
              </a:lnSpc>
              <a:spcBef>
                <a:spcPts val="0"/>
              </a:spcBef>
              <a:spcAft>
                <a:spcPts val="0"/>
              </a:spcAft>
            </a:pPr>
            <a:r>
              <a:rPr sz="2508" b="1" i="0" u="none">
                <a:solidFill>
                  <a:srgbClr val="1F1E1E"/>
                </a:solidFill>
                <a:latin typeface="Arial"/>
              </a:rPr>
              <a:t>Where does a quiz slide put its image?</a:t>
            </a:r>
          </a:p>
        </p:txBody>
      </p:sp>
      <p:sp>
        <p:nvSpPr>
          <p:cNvPr id="6" name="Rounded Rectangle 5"/>
          <p:cNvSpPr/>
          <p:nvPr/>
        </p:nvSpPr>
        <p:spPr>
          <a:xfrm>
            <a:off x="670465" y="2385632"/>
            <a:ext cx="6169533" cy="511683"/>
          </a:xfrm>
          <a:prstGeom prst="roundRect">
            <a:avLst>
              <a:gd name="adj" fmla="val 38123"/>
            </a:avLst>
          </a:prstGeom>
          <a:solidFill>
            <a:srgbClr val="FFFFFF"/>
          </a:solidFill>
          <a:ln w="19050">
            <a:solidFill>
              <a:srgbClr val="D8D2C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Oval 6"/>
          <p:cNvSpPr/>
          <p:nvPr/>
        </p:nvSpPr>
        <p:spPr>
          <a:xfrm>
            <a:off x="889921" y="2461165"/>
            <a:ext cx="360807" cy="360807"/>
          </a:xfrm>
          <a:prstGeom prst="ellipse">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889921" y="2461165"/>
            <a:ext cx="398907" cy="360807"/>
          </a:xfrm>
          <a:prstGeom prst="rect">
            <a:avLst/>
          </a:prstGeom>
          <a:noFill/>
        </p:spPr>
        <p:txBody>
          <a:bodyPr wrap="none" anchor="ctr" lIns="0" tIns="0" rIns="0" bIns="0">
            <a:noAutofit/>
          </a:bodyPr>
          <a:lstStyle/>
          <a:p>
            <a:pPr algn="ctr">
              <a:lnSpc>
                <a:spcPts val="1528"/>
              </a:lnSpc>
              <a:spcBef>
                <a:spcPts val="0"/>
              </a:spcBef>
              <a:spcAft>
                <a:spcPts val="0"/>
              </a:spcAft>
            </a:pPr>
            <a:r>
              <a:rPr sz="1222" b="1" i="0" u="none">
                <a:solidFill>
                  <a:srgbClr val="1F1E1E"/>
                </a:solidFill>
                <a:latin typeface="Arial"/>
              </a:rPr>
              <a:t>A</a:t>
            </a:r>
          </a:p>
        </p:txBody>
      </p:sp>
      <p:sp>
        <p:nvSpPr>
          <p:cNvPr id="9" name="TextBox 8"/>
          <p:cNvSpPr txBox="1"/>
          <p:nvPr/>
        </p:nvSpPr>
        <p:spPr>
          <a:xfrm>
            <a:off x="1250728" y="2526221"/>
            <a:ext cx="5410867" cy="221742"/>
          </a:xfrm>
          <a:prstGeom prst="rect">
            <a:avLst/>
          </a:prstGeom>
          <a:noFill/>
        </p:spPr>
        <p:txBody>
          <a:bodyPr wrap="none" anchor="ctr" lIns="0" tIns="0" rIns="0" bIns="0">
            <a:noAutofit/>
          </a:bodyPr>
          <a:lstStyle/>
          <a:p>
            <a:pPr algn="l">
              <a:lnSpc>
                <a:spcPts val="1930"/>
              </a:lnSpc>
              <a:spcBef>
                <a:spcPts val="0"/>
              </a:spcBef>
              <a:spcAft>
                <a:spcPts val="0"/>
              </a:spcAft>
            </a:pPr>
            <a:r>
              <a:rPr sz="1544" b="1" i="0" u="none">
                <a:solidFill>
                  <a:srgbClr val="3B3535"/>
                </a:solidFill>
                <a:latin typeface="Arial"/>
              </a:rPr>
              <a:t>Cropped as a full-bleed background</a:t>
            </a:r>
          </a:p>
        </p:txBody>
      </p:sp>
      <p:sp>
        <p:nvSpPr>
          <p:cNvPr id="10" name="Rounded Rectangle 9"/>
          <p:cNvSpPr/>
          <p:nvPr/>
        </p:nvSpPr>
        <p:spPr>
          <a:xfrm>
            <a:off x="670465" y="3018949"/>
            <a:ext cx="6169533" cy="511683"/>
          </a:xfrm>
          <a:prstGeom prst="roundRect">
            <a:avLst>
              <a:gd name="adj" fmla="val 38123"/>
            </a:avLst>
          </a:prstGeom>
          <a:solidFill>
            <a:srgbClr val="F9D2D6"/>
          </a:solidFill>
          <a:ln w="19050">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Oval 10"/>
          <p:cNvSpPr/>
          <p:nvPr/>
        </p:nvSpPr>
        <p:spPr>
          <a:xfrm>
            <a:off x="889921" y="3094482"/>
            <a:ext cx="360807" cy="360807"/>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889921" y="3094482"/>
            <a:ext cx="398907" cy="360807"/>
          </a:xfrm>
          <a:prstGeom prst="rect">
            <a:avLst/>
          </a:prstGeom>
          <a:noFill/>
        </p:spPr>
        <p:txBody>
          <a:bodyPr wrap="none" anchor="ctr" lIns="0" tIns="0" rIns="0" bIns="0">
            <a:noAutofit/>
          </a:bodyPr>
          <a:lstStyle/>
          <a:p>
            <a:pPr algn="ctr">
              <a:lnSpc>
                <a:spcPts val="1528"/>
              </a:lnSpc>
              <a:spcBef>
                <a:spcPts val="0"/>
              </a:spcBef>
              <a:spcAft>
                <a:spcPts val="0"/>
              </a:spcAft>
            </a:pPr>
            <a:r>
              <a:rPr sz="1222" b="1" i="0" u="none">
                <a:solidFill>
                  <a:srgbClr val="FFFFFF"/>
                </a:solidFill>
                <a:latin typeface="Arial"/>
              </a:rPr>
              <a:t>B</a:t>
            </a:r>
          </a:p>
        </p:txBody>
      </p:sp>
      <p:sp>
        <p:nvSpPr>
          <p:cNvPr id="13" name="TextBox 12"/>
          <p:cNvSpPr txBox="1"/>
          <p:nvPr/>
        </p:nvSpPr>
        <p:spPr>
          <a:xfrm>
            <a:off x="1250728" y="3159538"/>
            <a:ext cx="5410867" cy="221742"/>
          </a:xfrm>
          <a:prstGeom prst="rect">
            <a:avLst/>
          </a:prstGeom>
          <a:noFill/>
        </p:spPr>
        <p:txBody>
          <a:bodyPr wrap="none" anchor="ctr" lIns="0" tIns="0" rIns="0" bIns="0">
            <a:noAutofit/>
          </a:bodyPr>
          <a:lstStyle/>
          <a:p>
            <a:pPr algn="l">
              <a:lnSpc>
                <a:spcPts val="1930"/>
              </a:lnSpc>
              <a:spcBef>
                <a:spcPts val="0"/>
              </a:spcBef>
              <a:spcAft>
                <a:spcPts val="0"/>
              </a:spcAft>
            </a:pPr>
            <a:r>
              <a:rPr sz="1544" b="1" i="0" u="none">
                <a:solidFill>
                  <a:srgbClr val="1F1E1E"/>
                </a:solidFill>
                <a:latin typeface="Arial"/>
              </a:rPr>
              <a:t>Beside the quiz, never cropped</a:t>
            </a:r>
          </a:p>
        </p:txBody>
      </p:sp>
      <p:sp>
        <p:nvSpPr>
          <p:cNvPr id="14" name="TextBox 13"/>
          <p:cNvSpPr txBox="1"/>
          <p:nvPr/>
        </p:nvSpPr>
        <p:spPr>
          <a:xfrm>
            <a:off x="4271486" y="3055144"/>
            <a:ext cx="280416" cy="316992"/>
          </a:xfrm>
          <a:prstGeom prst="rect">
            <a:avLst/>
          </a:prstGeom>
          <a:noFill/>
        </p:spPr>
        <p:txBody>
          <a:bodyPr wrap="none" anchor="ctr" lIns="0" tIns="0" rIns="0" bIns="0">
            <a:noAutofit/>
          </a:bodyPr>
          <a:lstStyle/>
          <a:p>
            <a:pPr algn="ctr">
              <a:lnSpc>
                <a:spcPts val="1672"/>
              </a:lnSpc>
              <a:spcBef>
                <a:spcPts val="0"/>
              </a:spcBef>
              <a:spcAft>
                <a:spcPts val="0"/>
              </a:spcAft>
            </a:pPr>
            <a:r>
              <a:rPr sz="1672" b="1" i="0" u="none">
                <a:solidFill>
                  <a:srgbClr val="DA1B2E"/>
                </a:solidFill>
                <a:latin typeface="Arial"/>
              </a:rPr>
              <a:t>✓</a:t>
            </a:r>
          </a:p>
        </p:txBody>
      </p:sp>
      <p:sp>
        <p:nvSpPr>
          <p:cNvPr id="15" name="Rounded Rectangle 14"/>
          <p:cNvSpPr/>
          <p:nvPr/>
        </p:nvSpPr>
        <p:spPr>
          <a:xfrm>
            <a:off x="670465" y="3652266"/>
            <a:ext cx="6169533" cy="511683"/>
          </a:xfrm>
          <a:prstGeom prst="roundRect">
            <a:avLst>
              <a:gd name="adj" fmla="val 38123"/>
            </a:avLst>
          </a:prstGeom>
          <a:solidFill>
            <a:srgbClr val="FFFFFF"/>
          </a:solidFill>
          <a:ln w="19050">
            <a:solidFill>
              <a:srgbClr val="D8D2C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Oval 15"/>
          <p:cNvSpPr/>
          <p:nvPr/>
        </p:nvSpPr>
        <p:spPr>
          <a:xfrm>
            <a:off x="889921" y="3727704"/>
            <a:ext cx="360807" cy="360807"/>
          </a:xfrm>
          <a:prstGeom prst="ellipse">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889921" y="3727704"/>
            <a:ext cx="398907" cy="360807"/>
          </a:xfrm>
          <a:prstGeom prst="rect">
            <a:avLst/>
          </a:prstGeom>
          <a:noFill/>
        </p:spPr>
        <p:txBody>
          <a:bodyPr wrap="none" anchor="ctr" lIns="0" tIns="0" rIns="0" bIns="0">
            <a:noAutofit/>
          </a:bodyPr>
          <a:lstStyle/>
          <a:p>
            <a:pPr algn="ctr">
              <a:lnSpc>
                <a:spcPts val="1528"/>
              </a:lnSpc>
              <a:spcBef>
                <a:spcPts val="0"/>
              </a:spcBef>
              <a:spcAft>
                <a:spcPts val="0"/>
              </a:spcAft>
            </a:pPr>
            <a:r>
              <a:rPr sz="1222" b="1" i="0" u="none">
                <a:solidFill>
                  <a:srgbClr val="1F1E1E"/>
                </a:solidFill>
                <a:latin typeface="Arial"/>
              </a:rPr>
              <a:t>C</a:t>
            </a:r>
          </a:p>
        </p:txBody>
      </p:sp>
      <p:sp>
        <p:nvSpPr>
          <p:cNvPr id="18" name="TextBox 17"/>
          <p:cNvSpPr txBox="1"/>
          <p:nvPr/>
        </p:nvSpPr>
        <p:spPr>
          <a:xfrm>
            <a:off x="1250728" y="3792855"/>
            <a:ext cx="5410867" cy="221742"/>
          </a:xfrm>
          <a:prstGeom prst="rect">
            <a:avLst/>
          </a:prstGeom>
          <a:noFill/>
        </p:spPr>
        <p:txBody>
          <a:bodyPr wrap="none" anchor="ctr" lIns="0" tIns="0" rIns="0" bIns="0">
            <a:noAutofit/>
          </a:bodyPr>
          <a:lstStyle/>
          <a:p>
            <a:pPr algn="l">
              <a:lnSpc>
                <a:spcPts val="1930"/>
              </a:lnSpc>
              <a:spcBef>
                <a:spcPts val="0"/>
              </a:spcBef>
              <a:spcAft>
                <a:spcPts val="0"/>
              </a:spcAft>
            </a:pPr>
            <a:r>
              <a:rPr sz="1544" b="1" i="0" u="none">
                <a:solidFill>
                  <a:srgbClr val="3B3535"/>
                </a:solidFill>
                <a:latin typeface="Arial"/>
              </a:rPr>
              <a:t>Only in the speaker notes</a:t>
            </a:r>
          </a:p>
        </p:txBody>
      </p:sp>
      <p:sp>
        <p:nvSpPr>
          <p:cNvPr id="19" name="Rounded Rectangle 18"/>
          <p:cNvSpPr/>
          <p:nvPr/>
        </p:nvSpPr>
        <p:spPr>
          <a:xfrm>
            <a:off x="670465" y="4407218"/>
            <a:ext cx="6169533" cy="1841182"/>
          </a:xfrm>
          <a:prstGeom prst="roundRect">
            <a:avLst>
              <a:gd name="adj" fmla="val 13243"/>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Rectangle 19"/>
          <p:cNvSpPr/>
          <p:nvPr/>
        </p:nvSpPr>
        <p:spPr>
          <a:xfrm>
            <a:off x="670465" y="4407218"/>
            <a:ext cx="104775" cy="1841182"/>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1" name="Picture 20" descr="image.png"/>
          <p:cNvPicPr>
            <a:picLocks noChangeAspect="1"/>
          </p:cNvPicPr>
          <p:nvPr/>
        </p:nvPicPr>
        <p:blipFill>
          <a:blip r:embed="rId2"/>
          <a:stretch>
            <a:fillRect/>
          </a:stretch>
        </p:blipFill>
        <p:spPr>
          <a:xfrm>
            <a:off x="967169" y="4601908"/>
            <a:ext cx="210788" cy="210788"/>
          </a:xfrm>
          <a:prstGeom prst="rect">
            <a:avLst/>
          </a:prstGeom>
        </p:spPr>
      </p:pic>
      <p:sp>
        <p:nvSpPr>
          <p:cNvPr id="22" name="TextBox 21"/>
          <p:cNvSpPr txBox="1"/>
          <p:nvPr/>
        </p:nvSpPr>
        <p:spPr>
          <a:xfrm>
            <a:off x="1259014" y="4617530"/>
            <a:ext cx="815435" cy="171069"/>
          </a:xfrm>
          <a:prstGeom prst="rect">
            <a:avLst/>
          </a:prstGeom>
          <a:noFill/>
        </p:spPr>
        <p:txBody>
          <a:bodyPr wrap="none" anchor="ctr" lIns="0" tIns="0" rIns="0" bIns="0">
            <a:noAutofit/>
          </a:bodyPr>
          <a:lstStyle/>
          <a:p>
            <a:pPr algn="l">
              <a:lnSpc>
                <a:spcPts val="1823"/>
              </a:lnSpc>
              <a:spcBef>
                <a:spcPts val="0"/>
              </a:spcBef>
              <a:spcAft>
                <a:spcPts val="0"/>
              </a:spcAft>
            </a:pPr>
            <a:r>
              <a:rPr sz="1823" b="1" i="0" u="none" spc="182">
                <a:solidFill>
                  <a:srgbClr val="DA1B2E"/>
                </a:solidFill>
                <a:latin typeface="Arial"/>
              </a:rPr>
              <a:t>ANSWER</a:t>
            </a:r>
          </a:p>
        </p:txBody>
      </p:sp>
      <p:sp>
        <p:nvSpPr>
          <p:cNvPr id="23" name="TextBox 22"/>
          <p:cNvSpPr txBox="1"/>
          <p:nvPr/>
        </p:nvSpPr>
        <p:spPr>
          <a:xfrm>
            <a:off x="967169" y="4916329"/>
            <a:ext cx="5752583" cy="935546"/>
          </a:xfrm>
          <a:prstGeom prst="rect">
            <a:avLst/>
          </a:prstGeom>
          <a:noFill/>
        </p:spPr>
        <p:txBody>
          <a:bodyPr wrap="square" anchor="ctr" lIns="0" tIns="0" rIns="0" bIns="0">
            <a:noAutofit/>
          </a:bodyPr>
          <a:lstStyle/>
          <a:p>
            <a:pPr algn="l">
              <a:lnSpc>
                <a:spcPts val="2161"/>
              </a:lnSpc>
              <a:spcBef>
                <a:spcPts val="0"/>
              </a:spcBef>
              <a:spcAft>
                <a:spcPts val="0"/>
              </a:spcAft>
            </a:pPr>
            <a:r>
              <a:rPr sz="1801" b="1" i="0" u="none">
                <a:solidFill>
                  <a:srgbClr val="1F1E1E"/>
                </a:solidFill>
                <a:latin typeface="Arial"/>
              </a:rPr>
              <a:t>Beside the quiz — contained, sized to its own aspect.</a:t>
            </a:r>
          </a:p>
        </p:txBody>
      </p:sp>
      <p:sp>
        <p:nvSpPr>
          <p:cNvPr id="24" name="TextBox 23"/>
          <p:cNvSpPr txBox="1"/>
          <p:nvPr/>
        </p:nvSpPr>
        <p:spPr>
          <a:xfrm>
            <a:off x="967169" y="5593652"/>
            <a:ext cx="5752583" cy="446151"/>
          </a:xfrm>
          <a:prstGeom prst="rect">
            <a:avLst/>
          </a:prstGeom>
          <a:noFill/>
        </p:spPr>
        <p:txBody>
          <a:bodyPr wrap="square" anchor="ctr" lIns="0" tIns="0" rIns="0" bIns="0">
            <a:noAutofit/>
          </a:bodyPr>
          <a:lstStyle/>
          <a:p>
            <a:pPr algn="l">
              <a:lnSpc>
                <a:spcPts val="1980"/>
              </a:lnSpc>
              <a:spcBef>
                <a:spcPts val="0"/>
              </a:spcBef>
              <a:spcAft>
                <a:spcPts val="0"/>
              </a:spcAft>
            </a:pPr>
            <a:r>
              <a:rPr sz="1415" b="0" i="0" u="none">
                <a:solidFill>
                  <a:srgbClr val="1F1E1E"/>
                </a:solidFill>
                <a:latin typeface="Arial"/>
              </a:rPr>
              <a:t>The quiz body and the image split the slide; the image is never cropped.</a:t>
            </a:r>
          </a:p>
        </p:txBody>
      </p:sp>
      <p:sp>
        <p:nvSpPr>
          <p:cNvPr id="25" name="Rounded Rectangle 24"/>
          <p:cNvSpPr/>
          <p:nvPr/>
        </p:nvSpPr>
        <p:spPr>
          <a:xfrm>
            <a:off x="7266718" y="1775555"/>
            <a:ext cx="4254722" cy="4472845"/>
          </a:xfrm>
          <a:prstGeom prst="roundRect">
            <a:avLst>
              <a:gd name="adj" fmla="val 4011"/>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6" name="Picture 25" descr="image.png"/>
          <p:cNvPicPr>
            <a:picLocks noChangeAspect="1"/>
          </p:cNvPicPr>
          <p:nvPr/>
        </p:nvPicPr>
        <p:blipFill>
          <a:blip r:embed="rId3"/>
          <a:stretch>
            <a:fillRect/>
          </a:stretch>
        </p:blipFill>
        <p:spPr>
          <a:xfrm>
            <a:off x="7276338" y="2820734"/>
            <a:ext cx="4235386" cy="2382488"/>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097691"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794700"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INTERACTIVE (QUIZ)</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Quiz with the image on the left</a:t>
            </a:r>
          </a:p>
        </p:txBody>
      </p:sp>
      <p:sp>
        <p:nvSpPr>
          <p:cNvPr id="5" name="TextBox 4"/>
          <p:cNvSpPr txBox="1"/>
          <p:nvPr/>
        </p:nvSpPr>
        <p:spPr>
          <a:xfrm>
            <a:off x="5351907" y="1775555"/>
            <a:ext cx="6281223" cy="1318736"/>
          </a:xfrm>
          <a:prstGeom prst="rect">
            <a:avLst/>
          </a:prstGeom>
          <a:noFill/>
        </p:spPr>
        <p:txBody>
          <a:bodyPr wrap="square" anchor="ctr" lIns="0" tIns="0" rIns="0" bIns="0">
            <a:noAutofit/>
          </a:bodyPr>
          <a:lstStyle/>
          <a:p>
            <a:pPr algn="l">
              <a:lnSpc>
                <a:spcPts val="3084"/>
              </a:lnSpc>
              <a:spcBef>
                <a:spcPts val="0"/>
              </a:spcBef>
              <a:spcAft>
                <a:spcPts val="0"/>
              </a:spcAft>
            </a:pPr>
            <a:r>
              <a:rPr sz="2658" b="1" i="0" u="none">
                <a:solidFill>
                  <a:srgbClr val="1F1E1E"/>
                </a:solidFill>
                <a:latin typeface="Arial"/>
              </a:rPr>
              <a:t>Does image-left change which choice is correct?</a:t>
            </a:r>
          </a:p>
        </p:txBody>
      </p:sp>
      <p:sp>
        <p:nvSpPr>
          <p:cNvPr id="6" name="Rounded Rectangle 5"/>
          <p:cNvSpPr/>
          <p:nvPr/>
        </p:nvSpPr>
        <p:spPr>
          <a:xfrm>
            <a:off x="5351907" y="2814066"/>
            <a:ext cx="6169628" cy="543973"/>
          </a:xfrm>
          <a:prstGeom prst="roundRect">
            <a:avLst>
              <a:gd name="adj" fmla="val 35860"/>
            </a:avLst>
          </a:prstGeom>
          <a:solidFill>
            <a:srgbClr val="FFFFFF"/>
          </a:solidFill>
          <a:ln w="19050">
            <a:solidFill>
              <a:srgbClr val="D8D2C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Oval 6"/>
          <p:cNvSpPr/>
          <p:nvPr/>
        </p:nvSpPr>
        <p:spPr>
          <a:xfrm>
            <a:off x="5571363" y="2887408"/>
            <a:ext cx="397288" cy="397288"/>
          </a:xfrm>
          <a:prstGeom prst="ellipse">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5571363" y="2887408"/>
            <a:ext cx="435388" cy="397288"/>
          </a:xfrm>
          <a:prstGeom prst="rect">
            <a:avLst/>
          </a:prstGeom>
          <a:noFill/>
        </p:spPr>
        <p:txBody>
          <a:bodyPr wrap="none" anchor="ctr" lIns="0" tIns="0" rIns="0" bIns="0">
            <a:noAutofit/>
          </a:bodyPr>
          <a:lstStyle/>
          <a:p>
            <a:pPr algn="ctr">
              <a:lnSpc>
                <a:spcPts val="1619"/>
              </a:lnSpc>
              <a:spcBef>
                <a:spcPts val="0"/>
              </a:spcBef>
              <a:spcAft>
                <a:spcPts val="0"/>
              </a:spcAft>
            </a:pPr>
            <a:r>
              <a:rPr sz="1295" b="1" i="0" u="none">
                <a:solidFill>
                  <a:srgbClr val="1F1E1E"/>
                </a:solidFill>
                <a:latin typeface="Arial"/>
              </a:rPr>
              <a:t>A</a:t>
            </a:r>
          </a:p>
        </p:txBody>
      </p:sp>
      <p:sp>
        <p:nvSpPr>
          <p:cNvPr id="9" name="TextBox 8"/>
          <p:cNvSpPr txBox="1"/>
          <p:nvPr/>
        </p:nvSpPr>
        <p:spPr>
          <a:xfrm>
            <a:off x="5968651" y="2963513"/>
            <a:ext cx="5374386" cy="235744"/>
          </a:xfrm>
          <a:prstGeom prst="rect">
            <a:avLst/>
          </a:prstGeom>
          <a:noFill/>
        </p:spPr>
        <p:txBody>
          <a:bodyPr wrap="none" anchor="ctr" lIns="0" tIns="0" rIns="0" bIns="0">
            <a:noAutofit/>
          </a:bodyPr>
          <a:lstStyle/>
          <a:p>
            <a:pPr algn="l">
              <a:lnSpc>
                <a:spcPts val="2045"/>
              </a:lnSpc>
              <a:spcBef>
                <a:spcPts val="0"/>
              </a:spcBef>
              <a:spcAft>
                <a:spcPts val="0"/>
              </a:spcAft>
            </a:pPr>
            <a:r>
              <a:rPr sz="1636" b="1" i="0" u="none">
                <a:solidFill>
                  <a:srgbClr val="3B3535"/>
                </a:solidFill>
                <a:latin typeface="Arial"/>
              </a:rPr>
              <a:t>Yes — the options mirror too</a:t>
            </a:r>
          </a:p>
        </p:txBody>
      </p:sp>
      <p:sp>
        <p:nvSpPr>
          <p:cNvPr id="10" name="Rounded Rectangle 9"/>
          <p:cNvSpPr/>
          <p:nvPr/>
        </p:nvSpPr>
        <p:spPr>
          <a:xfrm>
            <a:off x="5351907" y="3487293"/>
            <a:ext cx="6169628" cy="543973"/>
          </a:xfrm>
          <a:prstGeom prst="roundRect">
            <a:avLst>
              <a:gd name="adj" fmla="val 35860"/>
            </a:avLst>
          </a:prstGeom>
          <a:solidFill>
            <a:srgbClr val="F9D2D6"/>
          </a:solidFill>
          <a:ln w="19050">
            <a:solidFill>
              <a:srgbClr val="DA1B2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Oval 10"/>
          <p:cNvSpPr/>
          <p:nvPr/>
        </p:nvSpPr>
        <p:spPr>
          <a:xfrm>
            <a:off x="5571363" y="3560636"/>
            <a:ext cx="397288" cy="397288"/>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5571363" y="3560636"/>
            <a:ext cx="435388" cy="397288"/>
          </a:xfrm>
          <a:prstGeom prst="rect">
            <a:avLst/>
          </a:prstGeom>
          <a:noFill/>
        </p:spPr>
        <p:txBody>
          <a:bodyPr wrap="none" anchor="ctr" lIns="0" tIns="0" rIns="0" bIns="0">
            <a:noAutofit/>
          </a:bodyPr>
          <a:lstStyle/>
          <a:p>
            <a:pPr algn="ctr">
              <a:lnSpc>
                <a:spcPts val="1619"/>
              </a:lnSpc>
              <a:spcBef>
                <a:spcPts val="0"/>
              </a:spcBef>
              <a:spcAft>
                <a:spcPts val="0"/>
              </a:spcAft>
            </a:pPr>
            <a:r>
              <a:rPr sz="1295" b="1" i="0" u="none">
                <a:solidFill>
                  <a:srgbClr val="FFFFFF"/>
                </a:solidFill>
                <a:latin typeface="Arial"/>
              </a:rPr>
              <a:t>B</a:t>
            </a:r>
          </a:p>
        </p:txBody>
      </p:sp>
      <p:sp>
        <p:nvSpPr>
          <p:cNvPr id="13" name="TextBox 12"/>
          <p:cNvSpPr txBox="1"/>
          <p:nvPr/>
        </p:nvSpPr>
        <p:spPr>
          <a:xfrm>
            <a:off x="5968651" y="3636740"/>
            <a:ext cx="5374386" cy="235744"/>
          </a:xfrm>
          <a:prstGeom prst="rect">
            <a:avLst/>
          </a:prstGeom>
          <a:noFill/>
        </p:spPr>
        <p:txBody>
          <a:bodyPr wrap="none" anchor="ctr" lIns="0" tIns="0" rIns="0" bIns="0">
            <a:noAutofit/>
          </a:bodyPr>
          <a:lstStyle/>
          <a:p>
            <a:pPr algn="l">
              <a:lnSpc>
                <a:spcPts val="2045"/>
              </a:lnSpc>
              <a:spcBef>
                <a:spcPts val="0"/>
              </a:spcBef>
              <a:spcAft>
                <a:spcPts val="0"/>
              </a:spcAft>
            </a:pPr>
            <a:r>
              <a:rPr sz="1636" b="1" i="0" u="none">
                <a:solidFill>
                  <a:srgbClr val="1F1E1E"/>
                </a:solidFill>
                <a:latin typeface="Arial"/>
              </a:rPr>
              <a:t>No — only the two columns swap</a:t>
            </a:r>
          </a:p>
        </p:txBody>
      </p:sp>
      <p:sp>
        <p:nvSpPr>
          <p:cNvPr id="14" name="TextBox 13"/>
          <p:cNvSpPr txBox="1"/>
          <p:nvPr/>
        </p:nvSpPr>
        <p:spPr>
          <a:xfrm>
            <a:off x="8078629" y="3555778"/>
            <a:ext cx="280416" cy="316992"/>
          </a:xfrm>
          <a:prstGeom prst="rect">
            <a:avLst/>
          </a:prstGeom>
          <a:noFill/>
        </p:spPr>
        <p:txBody>
          <a:bodyPr wrap="none" anchor="ctr" lIns="0" tIns="0" rIns="0" bIns="0">
            <a:noAutofit/>
          </a:bodyPr>
          <a:lstStyle/>
          <a:p>
            <a:pPr algn="ctr">
              <a:lnSpc>
                <a:spcPts val="1772"/>
              </a:lnSpc>
              <a:spcBef>
                <a:spcPts val="0"/>
              </a:spcBef>
              <a:spcAft>
                <a:spcPts val="0"/>
              </a:spcAft>
            </a:pPr>
            <a:r>
              <a:rPr sz="1772" b="1" i="0" u="none">
                <a:solidFill>
                  <a:srgbClr val="DA1B2E"/>
                </a:solidFill>
                <a:latin typeface="Arial"/>
              </a:rPr>
              <a:t>✓</a:t>
            </a:r>
          </a:p>
        </p:txBody>
      </p:sp>
      <p:sp>
        <p:nvSpPr>
          <p:cNvPr id="15" name="Rounded Rectangle 14"/>
          <p:cNvSpPr/>
          <p:nvPr/>
        </p:nvSpPr>
        <p:spPr>
          <a:xfrm>
            <a:off x="5351907" y="4289870"/>
            <a:ext cx="6169628" cy="1958530"/>
          </a:xfrm>
          <a:prstGeom prst="roundRect">
            <a:avLst>
              <a:gd name="adj" fmla="val 12450"/>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Rectangle 15"/>
          <p:cNvSpPr/>
          <p:nvPr/>
        </p:nvSpPr>
        <p:spPr>
          <a:xfrm>
            <a:off x="5351907" y="4289870"/>
            <a:ext cx="104775" cy="1958530"/>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7" name="Picture 16" descr="image.png"/>
          <p:cNvPicPr>
            <a:picLocks noChangeAspect="1"/>
          </p:cNvPicPr>
          <p:nvPr/>
        </p:nvPicPr>
        <p:blipFill>
          <a:blip r:embed="rId2"/>
          <a:stretch>
            <a:fillRect/>
          </a:stretch>
        </p:blipFill>
        <p:spPr>
          <a:xfrm>
            <a:off x="5667280" y="4496752"/>
            <a:ext cx="224028" cy="224028"/>
          </a:xfrm>
          <a:prstGeom prst="rect">
            <a:avLst/>
          </a:prstGeom>
        </p:spPr>
      </p:pic>
      <p:sp>
        <p:nvSpPr>
          <p:cNvPr id="18" name="TextBox 17"/>
          <p:cNvSpPr txBox="1"/>
          <p:nvPr/>
        </p:nvSpPr>
        <p:spPr>
          <a:xfrm>
            <a:off x="5977509" y="4513326"/>
            <a:ext cx="864394" cy="181832"/>
          </a:xfrm>
          <a:prstGeom prst="rect">
            <a:avLst/>
          </a:prstGeom>
          <a:noFill/>
        </p:spPr>
        <p:txBody>
          <a:bodyPr wrap="none" anchor="ctr" lIns="0" tIns="0" rIns="0" bIns="0">
            <a:noAutofit/>
          </a:bodyPr>
          <a:lstStyle/>
          <a:p>
            <a:pPr algn="l">
              <a:lnSpc>
                <a:spcPts val="1823"/>
              </a:lnSpc>
              <a:spcBef>
                <a:spcPts val="0"/>
              </a:spcBef>
              <a:spcAft>
                <a:spcPts val="0"/>
              </a:spcAft>
            </a:pPr>
            <a:r>
              <a:rPr sz="1823" b="1" i="0" u="none" spc="182">
                <a:solidFill>
                  <a:srgbClr val="DA1B2E"/>
                </a:solidFill>
                <a:latin typeface="Arial"/>
              </a:rPr>
              <a:t>ANSWER</a:t>
            </a:r>
          </a:p>
        </p:txBody>
      </p:sp>
      <p:sp>
        <p:nvSpPr>
          <p:cNvPr id="19" name="TextBox 18"/>
          <p:cNvSpPr txBox="1"/>
          <p:nvPr/>
        </p:nvSpPr>
        <p:spPr>
          <a:xfrm>
            <a:off x="5667280" y="4830985"/>
            <a:ext cx="5719132" cy="968692"/>
          </a:xfrm>
          <a:prstGeom prst="rect">
            <a:avLst/>
          </a:prstGeom>
          <a:noFill/>
        </p:spPr>
        <p:txBody>
          <a:bodyPr wrap="square" anchor="ctr" lIns="0" tIns="0" rIns="0" bIns="0">
            <a:noAutofit/>
          </a:bodyPr>
          <a:lstStyle/>
          <a:p>
            <a:pPr algn="l">
              <a:lnSpc>
                <a:spcPts val="2290"/>
              </a:lnSpc>
              <a:spcBef>
                <a:spcPts val="0"/>
              </a:spcBef>
              <a:spcAft>
                <a:spcPts val="0"/>
              </a:spcAft>
            </a:pPr>
            <a:r>
              <a:rPr sz="1907" b="1" i="0" u="none">
                <a:solidFill>
                  <a:srgbClr val="1F1E1E"/>
                </a:solidFill>
                <a:latin typeface="Arial"/>
              </a:rPr>
              <a:t>No. The options keep their order, their letters and their alignment.</a:t>
            </a:r>
          </a:p>
        </p:txBody>
      </p:sp>
      <p:sp>
        <p:nvSpPr>
          <p:cNvPr id="20" name="TextBox 19"/>
          <p:cNvSpPr txBox="1"/>
          <p:nvPr/>
        </p:nvSpPr>
        <p:spPr>
          <a:xfrm>
            <a:off x="5667280" y="5550980"/>
            <a:ext cx="5719132" cy="474154"/>
          </a:xfrm>
          <a:prstGeom prst="rect">
            <a:avLst/>
          </a:prstGeom>
          <a:noFill/>
        </p:spPr>
        <p:txBody>
          <a:bodyPr wrap="square" anchor="ctr" lIns="0" tIns="0" rIns="0" bIns="0">
            <a:noAutofit/>
          </a:bodyPr>
          <a:lstStyle/>
          <a:p>
            <a:pPr algn="l">
              <a:lnSpc>
                <a:spcPts val="2099"/>
              </a:lnSpc>
              <a:spcBef>
                <a:spcPts val="0"/>
              </a:spcBef>
              <a:spcAft>
                <a:spcPts val="0"/>
              </a:spcAft>
            </a:pPr>
            <a:r>
              <a:rPr sz="1500" b="0" i="0" u="none">
                <a:solidFill>
                  <a:srgbClr val="1F1E1E"/>
                </a:solidFill>
                <a:latin typeface="Arial"/>
              </a:rPr>
              <a:t>image-left is a composition choice; it never touches the enumeration.</a:t>
            </a:r>
          </a:p>
        </p:txBody>
      </p:sp>
      <p:sp>
        <p:nvSpPr>
          <p:cNvPr id="21" name="Rounded Rectangle 20"/>
          <p:cNvSpPr/>
          <p:nvPr/>
        </p:nvSpPr>
        <p:spPr>
          <a:xfrm>
            <a:off x="670465" y="1775555"/>
            <a:ext cx="4254722" cy="4472845"/>
          </a:xfrm>
          <a:prstGeom prst="roundRect">
            <a:avLst>
              <a:gd name="adj" fmla="val 4011"/>
            </a:avLst>
          </a:prstGeom>
          <a:solidFill>
            <a:srgbClr val="FFFFFF"/>
          </a:solidFill>
          <a:ln w="9525">
            <a:solidFill>
              <a:srgbClr val="F2EEEE"/>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2" name="Picture 21" descr="image.png"/>
          <p:cNvPicPr>
            <a:picLocks noChangeAspect="1"/>
          </p:cNvPicPr>
          <p:nvPr/>
        </p:nvPicPr>
        <p:blipFill>
          <a:blip r:embed="rId3"/>
          <a:stretch>
            <a:fillRect/>
          </a:stretch>
        </p:blipFill>
        <p:spPr>
          <a:xfrm>
            <a:off x="680180" y="2820734"/>
            <a:ext cx="4235386" cy="2382488"/>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70465" y="1770317"/>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01</a:t>
            </a:r>
          </a:p>
        </p:txBody>
      </p:sp>
      <p:sp>
        <p:nvSpPr>
          <p:cNvPr id="3" name="TextBox 2"/>
          <p:cNvSpPr txBox="1"/>
          <p:nvPr/>
        </p:nvSpPr>
        <p:spPr>
          <a:xfrm>
            <a:off x="1328738" y="1675067"/>
            <a:ext cx="2910459"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Frames &amp; openers</a:t>
            </a:r>
          </a:p>
        </p:txBody>
      </p:sp>
      <p:sp>
        <p:nvSpPr>
          <p:cNvPr id="4" name="TextBox 3"/>
          <p:cNvSpPr txBox="1"/>
          <p:nvPr/>
        </p:nvSpPr>
        <p:spPr>
          <a:xfrm>
            <a:off x="670465" y="2292096"/>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02</a:t>
            </a:r>
          </a:p>
        </p:txBody>
      </p:sp>
      <p:sp>
        <p:nvSpPr>
          <p:cNvPr id="5" name="TextBox 4"/>
          <p:cNvSpPr txBox="1"/>
          <p:nvPr/>
        </p:nvSpPr>
        <p:spPr>
          <a:xfrm>
            <a:off x="1328738" y="2196846"/>
            <a:ext cx="3568922"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Statement &amp; emphasis</a:t>
            </a:r>
          </a:p>
        </p:txBody>
      </p:sp>
      <p:sp>
        <p:nvSpPr>
          <p:cNvPr id="6" name="TextBox 5"/>
          <p:cNvSpPr txBox="1"/>
          <p:nvPr/>
        </p:nvSpPr>
        <p:spPr>
          <a:xfrm>
            <a:off x="670465" y="2813876"/>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03</a:t>
            </a:r>
          </a:p>
        </p:txBody>
      </p:sp>
      <p:sp>
        <p:nvSpPr>
          <p:cNvPr id="7" name="TextBox 6"/>
          <p:cNvSpPr txBox="1"/>
          <p:nvPr/>
        </p:nvSpPr>
        <p:spPr>
          <a:xfrm>
            <a:off x="1328738" y="2718626"/>
            <a:ext cx="2233136"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Enumerations</a:t>
            </a:r>
          </a:p>
        </p:txBody>
      </p:sp>
      <p:sp>
        <p:nvSpPr>
          <p:cNvPr id="8" name="TextBox 7"/>
          <p:cNvSpPr txBox="1"/>
          <p:nvPr/>
        </p:nvSpPr>
        <p:spPr>
          <a:xfrm>
            <a:off x="670465" y="3335655"/>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04</a:t>
            </a:r>
          </a:p>
        </p:txBody>
      </p:sp>
      <p:sp>
        <p:nvSpPr>
          <p:cNvPr id="9" name="TextBox 8"/>
          <p:cNvSpPr txBox="1"/>
          <p:nvPr/>
        </p:nvSpPr>
        <p:spPr>
          <a:xfrm>
            <a:off x="1328738" y="3240405"/>
            <a:ext cx="3605212"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Ordered &amp; comparison</a:t>
            </a:r>
          </a:p>
        </p:txBody>
      </p:sp>
      <p:sp>
        <p:nvSpPr>
          <p:cNvPr id="10" name="TextBox 9"/>
          <p:cNvSpPr txBox="1"/>
          <p:nvPr/>
        </p:nvSpPr>
        <p:spPr>
          <a:xfrm>
            <a:off x="670465" y="3857434"/>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05</a:t>
            </a:r>
          </a:p>
        </p:txBody>
      </p:sp>
      <p:sp>
        <p:nvSpPr>
          <p:cNvPr id="11" name="TextBox 10"/>
          <p:cNvSpPr txBox="1"/>
          <p:nvPr/>
        </p:nvSpPr>
        <p:spPr>
          <a:xfrm>
            <a:off x="1328738" y="3762184"/>
            <a:ext cx="2099405"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Visual &amp; data</a:t>
            </a:r>
          </a:p>
        </p:txBody>
      </p:sp>
      <p:sp>
        <p:nvSpPr>
          <p:cNvPr id="12" name="TextBox 11"/>
          <p:cNvSpPr txBox="1"/>
          <p:nvPr/>
        </p:nvSpPr>
        <p:spPr>
          <a:xfrm>
            <a:off x="670465" y="4379309"/>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8D2CE"/>
                </a:solidFill>
                <a:latin typeface="Courier New"/>
              </a:rPr>
              <a:t>06</a:t>
            </a:r>
          </a:p>
        </p:txBody>
      </p:sp>
      <p:sp>
        <p:nvSpPr>
          <p:cNvPr id="13" name="TextBox 12"/>
          <p:cNvSpPr txBox="1"/>
          <p:nvPr/>
        </p:nvSpPr>
        <p:spPr>
          <a:xfrm>
            <a:off x="1328738" y="4284059"/>
            <a:ext cx="2653760"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6E6663"/>
                </a:solidFill>
                <a:latin typeface="Arial"/>
              </a:rPr>
              <a:t>Interactive (quiz)</a:t>
            </a:r>
          </a:p>
        </p:txBody>
      </p:sp>
      <p:sp>
        <p:nvSpPr>
          <p:cNvPr id="14" name="TextBox 13"/>
          <p:cNvSpPr txBox="1"/>
          <p:nvPr/>
        </p:nvSpPr>
        <p:spPr>
          <a:xfrm>
            <a:off x="670465" y="4901089"/>
            <a:ext cx="428149" cy="276225"/>
          </a:xfrm>
          <a:prstGeom prst="rect">
            <a:avLst/>
          </a:prstGeom>
          <a:noFill/>
        </p:spPr>
        <p:txBody>
          <a:bodyPr wrap="none" anchor="ctr" lIns="0" tIns="0" rIns="0" bIns="0">
            <a:noAutofit/>
          </a:bodyPr>
          <a:lstStyle/>
          <a:p>
            <a:pPr algn="l">
              <a:lnSpc>
                <a:spcPts val="1920"/>
              </a:lnSpc>
              <a:spcBef>
                <a:spcPts val="0"/>
              </a:spcBef>
              <a:spcAft>
                <a:spcPts val="0"/>
              </a:spcAft>
            </a:pPr>
            <a:r>
              <a:rPr sz="1920" b="1" i="0" u="none">
                <a:solidFill>
                  <a:srgbClr val="DA1B2E"/>
                </a:solidFill>
                <a:latin typeface="Courier New"/>
              </a:rPr>
              <a:t>07</a:t>
            </a:r>
          </a:p>
        </p:txBody>
      </p:sp>
      <p:sp>
        <p:nvSpPr>
          <p:cNvPr id="15" name="TextBox 14"/>
          <p:cNvSpPr txBox="1"/>
          <p:nvPr/>
        </p:nvSpPr>
        <p:spPr>
          <a:xfrm>
            <a:off x="1328738" y="4805839"/>
            <a:ext cx="1245108"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Closing</a:t>
            </a:r>
          </a:p>
        </p:txBody>
      </p:sp>
      <p:sp>
        <p:nvSpPr>
          <p:cNvPr id="16" name="TextBox 15"/>
          <p:cNvSpPr txBox="1"/>
          <p:nvPr/>
        </p:nvSpPr>
        <p:spPr>
          <a:xfrm>
            <a:off x="9965341" y="2263807"/>
            <a:ext cx="1594104" cy="1514475"/>
          </a:xfrm>
          <a:prstGeom prst="rect">
            <a:avLst/>
          </a:prstGeom>
          <a:noFill/>
        </p:spPr>
        <p:txBody>
          <a:bodyPr wrap="none" anchor="ctr" lIns="0" tIns="0" rIns="0" bIns="0">
            <a:noAutofit/>
          </a:bodyPr>
          <a:lstStyle/>
          <a:p>
            <a:pPr algn="r">
              <a:lnSpc>
                <a:spcPts val="8976"/>
              </a:lnSpc>
              <a:spcBef>
                <a:spcPts val="0"/>
              </a:spcBef>
              <a:spcAft>
                <a:spcPts val="0"/>
              </a:spcAft>
            </a:pPr>
            <a:r>
              <a:rPr sz="10560" b="1" i="0" u="none" spc="-212">
                <a:solidFill>
                  <a:srgbClr val="DA1B2E"/>
                </a:solidFill>
                <a:latin typeface="Courier New"/>
              </a:rPr>
              <a:t>07</a:t>
            </a:r>
          </a:p>
        </p:txBody>
      </p:sp>
      <p:sp>
        <p:nvSpPr>
          <p:cNvPr id="17" name="TextBox 16"/>
          <p:cNvSpPr txBox="1"/>
          <p:nvPr/>
        </p:nvSpPr>
        <p:spPr>
          <a:xfrm>
            <a:off x="9416510" y="3760565"/>
            <a:ext cx="2142934" cy="657225"/>
          </a:xfrm>
          <a:prstGeom prst="rect">
            <a:avLst/>
          </a:prstGeom>
          <a:noFill/>
        </p:spPr>
        <p:txBody>
          <a:bodyPr wrap="none" anchor="ctr" lIns="0" tIns="0" rIns="0" bIns="0">
            <a:noAutofit/>
          </a:bodyPr>
          <a:lstStyle/>
          <a:p>
            <a:pPr algn="r">
              <a:lnSpc>
                <a:spcPts val="4838"/>
              </a:lnSpc>
              <a:spcBef>
                <a:spcPts val="0"/>
              </a:spcBef>
              <a:spcAft>
                <a:spcPts val="0"/>
              </a:spcAft>
            </a:pPr>
            <a:r>
              <a:rPr sz="4608" b="1" i="0" u="none" spc="-46">
                <a:solidFill>
                  <a:srgbClr val="1F1E1E"/>
                </a:solidFill>
                <a:latin typeface="Arial"/>
              </a:rPr>
              <a:t>Closing</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661065"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358075"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VISUAL &amp; DATA</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fallback: the last resort when nothing matches</a:t>
            </a:r>
          </a:p>
        </p:txBody>
      </p:sp>
      <p:sp>
        <p:nvSpPr>
          <p:cNvPr id="5" name="TextBox 4"/>
          <p:cNvSpPr txBox="1"/>
          <p:nvPr/>
        </p:nvSpPr>
        <p:spPr>
          <a:xfrm>
            <a:off x="670465" y="2328577"/>
            <a:ext cx="11030180" cy="1562576"/>
          </a:xfrm>
          <a:prstGeom prst="rect">
            <a:avLst/>
          </a:prstGeom>
          <a:noFill/>
        </p:spPr>
        <p:txBody>
          <a:bodyPr wrap="square" anchor="ctr" lIns="0" tIns="0" rIns="0" bIns="0">
            <a:noAutofit/>
          </a:bodyPr>
          <a:lstStyle/>
          <a:p>
            <a:pPr algn="l">
              <a:lnSpc>
                <a:spcPts val="4019"/>
              </a:lnSpc>
              <a:spcBef>
                <a:spcPts val="0"/>
              </a:spcBef>
              <a:spcAft>
                <a:spcPts val="0"/>
              </a:spcAft>
            </a:pPr>
            <a:r>
              <a:rPr sz="3494" b="1" i="0" u="none">
                <a:solidFill>
                  <a:srgbClr val="1F1E1E"/>
                </a:solidFill>
                <a:latin typeface="Arial"/>
              </a:rPr>
              <a:t>A slide reaching fallback means the catalog is missing an entry — the render now warns.</a:t>
            </a:r>
          </a:p>
        </p:txBody>
      </p:sp>
      <p:sp>
        <p:nvSpPr>
          <p:cNvPr id="6" name="Rounded Rectangle 5"/>
          <p:cNvSpPr/>
          <p:nvPr/>
        </p:nvSpPr>
        <p:spPr>
          <a:xfrm>
            <a:off x="670465" y="3634073"/>
            <a:ext cx="10848404" cy="757714"/>
          </a:xfrm>
          <a:prstGeom prst="roundRect">
            <a:avLst>
              <a:gd name="adj" fmla="val 19308"/>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70465" y="3634073"/>
            <a:ext cx="76200" cy="757714"/>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TextBox 7"/>
          <p:cNvSpPr txBox="1"/>
          <p:nvPr/>
        </p:nvSpPr>
        <p:spPr>
          <a:xfrm>
            <a:off x="1005173" y="3850481"/>
            <a:ext cx="10259187" cy="311182"/>
          </a:xfrm>
          <a:prstGeom prst="rect">
            <a:avLst/>
          </a:prstGeom>
          <a:noFill/>
        </p:spPr>
        <p:txBody>
          <a:bodyPr wrap="none" anchor="ctr" lIns="0" tIns="0" rIns="0" bIns="0">
            <a:noAutofit/>
          </a:bodyPr>
          <a:lstStyle/>
          <a:p>
            <a:pPr algn="l">
              <a:lnSpc>
                <a:spcPts val="2839"/>
              </a:lnSpc>
              <a:spcBef>
                <a:spcPts val="0"/>
              </a:spcBef>
              <a:spcAft>
                <a:spcPts val="0"/>
              </a:spcAft>
            </a:pPr>
            <a:r>
              <a:rPr sz="2184" b="0" i="0" u="none">
                <a:solidFill>
                  <a:srgbClr val="3B3535"/>
                </a:solidFill>
                <a:latin typeface="Arial"/>
              </a:rPr>
              <a:t>fallback still refuses plain bullets: its points render as accented panels.</a:t>
            </a:r>
          </a:p>
        </p:txBody>
      </p:sp>
      <p:sp>
        <p:nvSpPr>
          <p:cNvPr id="9" name="Rounded Rectangle 8"/>
          <p:cNvSpPr/>
          <p:nvPr/>
        </p:nvSpPr>
        <p:spPr>
          <a:xfrm>
            <a:off x="670465" y="4568762"/>
            <a:ext cx="10848404" cy="757809"/>
          </a:xfrm>
          <a:prstGeom prst="roundRect">
            <a:avLst>
              <a:gd name="adj" fmla="val 19306"/>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0" name="Rectangle 9"/>
          <p:cNvSpPr/>
          <p:nvPr/>
        </p:nvSpPr>
        <p:spPr>
          <a:xfrm>
            <a:off x="670465" y="4568762"/>
            <a:ext cx="76200" cy="757809"/>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1005173" y="4785170"/>
            <a:ext cx="10259187" cy="311277"/>
          </a:xfrm>
          <a:prstGeom prst="rect">
            <a:avLst/>
          </a:prstGeom>
          <a:noFill/>
        </p:spPr>
        <p:txBody>
          <a:bodyPr wrap="none" anchor="ctr" lIns="0" tIns="0" rIns="0" bIns="0">
            <a:noAutofit/>
          </a:bodyPr>
          <a:lstStyle/>
          <a:p>
            <a:pPr algn="l">
              <a:lnSpc>
                <a:spcPts val="2839"/>
              </a:lnSpc>
              <a:spcBef>
                <a:spcPts val="0"/>
              </a:spcBef>
              <a:spcAft>
                <a:spcPts val="0"/>
              </a:spcAft>
            </a:pPr>
            <a:r>
              <a:rPr sz="2184" b="0" i="0" u="none">
                <a:solidFill>
                  <a:srgbClr val="3B3535"/>
                </a:solidFill>
                <a:latin typeface="Arial"/>
              </a:rPr>
              <a:t>big defaults to the title when the fill omits it.</a:t>
            </a:r>
          </a:p>
        </p:txBody>
      </p:sp>
      <p:sp>
        <p:nvSpPr>
          <p:cNvPr id="12" name="Rounded Rectangle 11"/>
          <p:cNvSpPr/>
          <p:nvPr/>
        </p:nvSpPr>
        <p:spPr>
          <a:xfrm>
            <a:off x="670465" y="5503545"/>
            <a:ext cx="10848404" cy="744855"/>
          </a:xfrm>
          <a:prstGeom prst="roundRect">
            <a:avLst>
              <a:gd name="adj" fmla="val 1964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ectangle 12"/>
          <p:cNvSpPr/>
          <p:nvPr/>
        </p:nvSpPr>
        <p:spPr>
          <a:xfrm>
            <a:off x="670465" y="5503545"/>
            <a:ext cx="76200" cy="744855"/>
          </a:xfrm>
          <a:prstGeom prst="rect">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005173" y="5719953"/>
            <a:ext cx="10259187" cy="311277"/>
          </a:xfrm>
          <a:prstGeom prst="rect">
            <a:avLst/>
          </a:prstGeom>
          <a:noFill/>
        </p:spPr>
        <p:txBody>
          <a:bodyPr wrap="none" anchor="ctr" lIns="0" tIns="0" rIns="0" bIns="0">
            <a:noAutofit/>
          </a:bodyPr>
          <a:lstStyle/>
          <a:p>
            <a:pPr algn="l">
              <a:lnSpc>
                <a:spcPts val="2839"/>
              </a:lnSpc>
              <a:spcBef>
                <a:spcPts val="0"/>
              </a:spcBef>
              <a:spcAft>
                <a:spcPts val="0"/>
              </a:spcAft>
            </a:pPr>
            <a:r>
              <a:rPr sz="2184" b="0" i="0" u="none">
                <a:solidFill>
                  <a:srgbClr val="3B3535"/>
                </a:solidFill>
                <a:latin typeface="Arial"/>
              </a:rPr>
              <a:t>A recurring fallback is a signal to add a real template, not to style this one.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133124"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830133"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FRAMES &amp; OPENERS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matrix: cells indexed by two named axes</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A quadrant is not four cards — a cell means what it means because of where it sits.</a:t>
            </a:r>
          </a:p>
        </p:txBody>
      </p:sp>
      <p:sp>
        <p:nvSpPr>
          <p:cNvPr id="6" name="TextBox 5"/>
          <p:cNvSpPr txBox="1"/>
          <p:nvPr/>
        </p:nvSpPr>
        <p:spPr>
          <a:xfrm>
            <a:off x="6261735" y="2192369"/>
            <a:ext cx="5295233" cy="230029"/>
          </a:xfrm>
          <a:prstGeom prst="rect">
            <a:avLst/>
          </a:prstGeom>
          <a:noFill/>
        </p:spPr>
        <p:txBody>
          <a:bodyPr wrap="none" anchor="ctr" lIns="0" tIns="0" rIns="0" bIns="0">
            <a:noAutofit/>
          </a:bodyPr>
          <a:lstStyle/>
          <a:p>
            <a:pPr algn="ctr">
              <a:lnSpc>
                <a:spcPts val="1769"/>
              </a:lnSpc>
              <a:spcBef>
                <a:spcPts val="0"/>
              </a:spcBef>
              <a:spcAft>
                <a:spcPts val="0"/>
              </a:spcAft>
            </a:pPr>
            <a:r>
              <a:rPr sz="1769" b="1" i="0" u="none" spc="212">
                <a:solidFill>
                  <a:srgbClr val="3B3535"/>
                </a:solidFill>
                <a:latin typeface="Arial"/>
              </a:rPr>
              <a:t>PREDICTED</a:t>
            </a:r>
          </a:p>
        </p:txBody>
      </p:sp>
      <p:sp>
        <p:nvSpPr>
          <p:cNvPr id="7" name="TextBox 6"/>
          <p:cNvSpPr txBox="1"/>
          <p:nvPr/>
        </p:nvSpPr>
        <p:spPr>
          <a:xfrm>
            <a:off x="4246150" y="2562416"/>
            <a:ext cx="2738628" cy="285274"/>
          </a:xfrm>
          <a:prstGeom prst="rect">
            <a:avLst/>
          </a:prstGeom>
          <a:noFill/>
        </p:spPr>
        <p:txBody>
          <a:bodyPr wrap="none" anchor="ctr" lIns="0" tIns="0" rIns="0" bIns="0">
            <a:noAutofit/>
          </a:bodyPr>
          <a:lstStyle/>
          <a:p>
            <a:pPr algn="ctr">
              <a:lnSpc>
                <a:spcPts val="2048"/>
              </a:lnSpc>
              <a:spcBef>
                <a:spcPts val="0"/>
              </a:spcBef>
              <a:spcAft>
                <a:spcPts val="0"/>
              </a:spcAft>
            </a:pPr>
            <a:r>
              <a:rPr sz="2048" b="1" i="0" u="none">
                <a:solidFill>
                  <a:srgbClr val="1F1E1E"/>
                </a:solidFill>
                <a:latin typeface="Arial"/>
              </a:rPr>
              <a:t>Positive</a:t>
            </a:r>
          </a:p>
        </p:txBody>
      </p:sp>
      <p:sp>
        <p:nvSpPr>
          <p:cNvPr id="8" name="TextBox 7"/>
          <p:cNvSpPr txBox="1"/>
          <p:nvPr/>
        </p:nvSpPr>
        <p:spPr>
          <a:xfrm>
            <a:off x="8775097" y="2562416"/>
            <a:ext cx="2781872" cy="285274"/>
          </a:xfrm>
          <a:prstGeom prst="rect">
            <a:avLst/>
          </a:prstGeom>
          <a:noFill/>
        </p:spPr>
        <p:txBody>
          <a:bodyPr wrap="none" anchor="ctr" lIns="0" tIns="0" rIns="0" bIns="0">
            <a:noAutofit/>
          </a:bodyPr>
          <a:lstStyle/>
          <a:p>
            <a:pPr algn="ctr">
              <a:lnSpc>
                <a:spcPts val="2048"/>
              </a:lnSpc>
              <a:spcBef>
                <a:spcPts val="0"/>
              </a:spcBef>
              <a:spcAft>
                <a:spcPts val="0"/>
              </a:spcAft>
            </a:pPr>
            <a:r>
              <a:rPr sz="2048" b="1" i="0" u="none">
                <a:solidFill>
                  <a:srgbClr val="1F1E1E"/>
                </a:solidFill>
                <a:latin typeface="Arial"/>
              </a:rPr>
              <a:t>Negative</a:t>
            </a:r>
          </a:p>
        </p:txBody>
      </p:sp>
      <p:sp>
        <p:nvSpPr>
          <p:cNvPr id="9" name="TextBox 8"/>
          <p:cNvSpPr txBox="1"/>
          <p:nvPr/>
        </p:nvSpPr>
        <p:spPr>
          <a:xfrm>
            <a:off x="670465" y="4092416"/>
            <a:ext cx="268129" cy="1080992"/>
          </a:xfrm>
          <a:prstGeom prst="rect">
            <a:avLst/>
          </a:prstGeom>
          <a:noFill/>
        </p:spPr>
        <p:txBody>
          <a:bodyPr wrap="none" anchor="ctr" lIns="0" tIns="0" rIns="0" bIns="0" vert="vert270">
            <a:noAutofit/>
          </a:bodyPr>
          <a:lstStyle/>
          <a:p>
            <a:pPr algn="ctr">
              <a:lnSpc>
                <a:spcPts val="1769"/>
              </a:lnSpc>
              <a:spcBef>
                <a:spcPts val="0"/>
              </a:spcBef>
              <a:spcAft>
                <a:spcPts val="0"/>
              </a:spcAft>
            </a:pPr>
            <a:r>
              <a:rPr sz="1769" b="1" i="0" u="none" spc="212">
                <a:solidFill>
                  <a:srgbClr val="3B3535"/>
                </a:solidFill>
                <a:latin typeface="Arial"/>
              </a:rPr>
              <a:t>ACTUAL</a:t>
            </a:r>
          </a:p>
        </p:txBody>
      </p:sp>
      <p:sp>
        <p:nvSpPr>
          <p:cNvPr id="10" name="TextBox 9"/>
          <p:cNvSpPr txBox="1"/>
          <p:nvPr/>
        </p:nvSpPr>
        <p:spPr>
          <a:xfrm>
            <a:off x="1219772" y="3629596"/>
            <a:ext cx="1070896" cy="285274"/>
          </a:xfrm>
          <a:prstGeom prst="rect">
            <a:avLst/>
          </a:prstGeom>
          <a:noFill/>
        </p:spPr>
        <p:txBody>
          <a:bodyPr wrap="none" anchor="ctr" lIns="0" tIns="0" rIns="0" bIns="0">
            <a:noAutofit/>
          </a:bodyPr>
          <a:lstStyle/>
          <a:p>
            <a:pPr algn="ctr">
              <a:lnSpc>
                <a:spcPts val="2048"/>
              </a:lnSpc>
              <a:spcBef>
                <a:spcPts val="0"/>
              </a:spcBef>
              <a:spcAft>
                <a:spcPts val="0"/>
              </a:spcAft>
            </a:pPr>
            <a:r>
              <a:rPr sz="2048" b="1" i="0" u="none">
                <a:solidFill>
                  <a:srgbClr val="1F1E1E"/>
                </a:solidFill>
                <a:latin typeface="Arial"/>
              </a:rPr>
              <a:t>Positive</a:t>
            </a:r>
          </a:p>
        </p:txBody>
      </p:sp>
      <p:sp>
        <p:nvSpPr>
          <p:cNvPr id="11" name="TextBox 10"/>
          <p:cNvSpPr txBox="1"/>
          <p:nvPr/>
        </p:nvSpPr>
        <p:spPr>
          <a:xfrm>
            <a:off x="1176718" y="5340286"/>
            <a:ext cx="1118235" cy="285274"/>
          </a:xfrm>
          <a:prstGeom prst="rect">
            <a:avLst/>
          </a:prstGeom>
          <a:noFill/>
        </p:spPr>
        <p:txBody>
          <a:bodyPr wrap="none" anchor="ctr" lIns="0" tIns="0" rIns="0" bIns="0">
            <a:noAutofit/>
          </a:bodyPr>
          <a:lstStyle/>
          <a:p>
            <a:pPr algn="ctr">
              <a:lnSpc>
                <a:spcPts val="2048"/>
              </a:lnSpc>
              <a:spcBef>
                <a:spcPts val="0"/>
              </a:spcBef>
              <a:spcAft>
                <a:spcPts val="0"/>
              </a:spcAft>
            </a:pPr>
            <a:r>
              <a:rPr sz="2048" b="1" i="0" u="none">
                <a:solidFill>
                  <a:srgbClr val="1F1E1E"/>
                </a:solidFill>
                <a:latin typeface="Arial"/>
              </a:rPr>
              <a:t>Negative</a:t>
            </a:r>
          </a:p>
        </p:txBody>
      </p:sp>
      <p:sp>
        <p:nvSpPr>
          <p:cNvPr id="12" name="Rounded Rectangle 11"/>
          <p:cNvSpPr/>
          <p:nvPr/>
        </p:nvSpPr>
        <p:spPr>
          <a:xfrm>
            <a:off x="2539270" y="3004661"/>
            <a:ext cx="4407313" cy="1545908"/>
          </a:xfrm>
          <a:prstGeom prst="roundRect">
            <a:avLst>
              <a:gd name="adj" fmla="val 12618"/>
            </a:avLst>
          </a:prstGeom>
          <a:solidFill>
            <a:srgbClr val="B8E6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2798350" y="3276981"/>
            <a:ext cx="3927348" cy="331280"/>
          </a:xfrm>
          <a:prstGeom prst="rect">
            <a:avLst/>
          </a:prstGeom>
          <a:noFill/>
        </p:spPr>
        <p:txBody>
          <a:bodyPr wrap="none" anchor="ctr" lIns="0" tIns="0" rIns="0" bIns="0">
            <a:noAutofit/>
          </a:bodyPr>
          <a:lstStyle/>
          <a:p>
            <a:pPr algn="l">
              <a:lnSpc>
                <a:spcPts val="2328"/>
              </a:lnSpc>
              <a:spcBef>
                <a:spcPts val="0"/>
              </a:spcBef>
              <a:spcAft>
                <a:spcPts val="0"/>
              </a:spcAft>
            </a:pPr>
            <a:r>
              <a:rPr sz="2328" b="1" i="0" u="none">
                <a:solidFill>
                  <a:srgbClr val="1F1E1E"/>
                </a:solidFill>
                <a:latin typeface="Arial"/>
              </a:rPr>
              <a:t>True positive</a:t>
            </a:r>
          </a:p>
        </p:txBody>
      </p:sp>
      <p:sp>
        <p:nvSpPr>
          <p:cNvPr id="14" name="TextBox 13"/>
          <p:cNvSpPr txBox="1"/>
          <p:nvPr/>
        </p:nvSpPr>
        <p:spPr>
          <a:xfrm>
            <a:off x="2798350" y="3690556"/>
            <a:ext cx="3927348" cy="276034"/>
          </a:xfrm>
          <a:prstGeom prst="rect">
            <a:avLst/>
          </a:prstGeom>
          <a:noFill/>
        </p:spPr>
        <p:txBody>
          <a:bodyPr wrap="none" anchor="ctr" lIns="0" tIns="0" rIns="0" bIns="0">
            <a:noAutofit/>
          </a:bodyPr>
          <a:lstStyle/>
          <a:p>
            <a:pPr algn="l">
              <a:lnSpc>
                <a:spcPts val="2542"/>
              </a:lnSpc>
              <a:spcBef>
                <a:spcPts val="0"/>
              </a:spcBef>
              <a:spcAft>
                <a:spcPts val="0"/>
              </a:spcAft>
            </a:pPr>
            <a:r>
              <a:rPr sz="1955" b="0" i="0" u="none">
                <a:solidFill>
                  <a:srgbClr val="3B3535"/>
                </a:solidFill>
                <a:latin typeface="Arial"/>
              </a:rPr>
              <a:t>Called it, and it was there.</a:t>
            </a:r>
          </a:p>
        </p:txBody>
      </p:sp>
      <p:sp>
        <p:nvSpPr>
          <p:cNvPr id="15" name="Rounded Rectangle 14"/>
          <p:cNvSpPr/>
          <p:nvPr/>
        </p:nvSpPr>
        <p:spPr>
          <a:xfrm>
            <a:off x="7111460" y="3004661"/>
            <a:ext cx="4407503" cy="1545908"/>
          </a:xfrm>
          <a:prstGeom prst="roundRect">
            <a:avLst>
              <a:gd name="adj" fmla="val 12618"/>
            </a:avLst>
          </a:prstGeom>
          <a:solidFill>
            <a:srgbClr val="F7BBC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7370445" y="3276981"/>
            <a:ext cx="3927443" cy="331280"/>
          </a:xfrm>
          <a:prstGeom prst="rect">
            <a:avLst/>
          </a:prstGeom>
          <a:noFill/>
        </p:spPr>
        <p:txBody>
          <a:bodyPr wrap="none" anchor="ctr" lIns="0" tIns="0" rIns="0" bIns="0">
            <a:noAutofit/>
          </a:bodyPr>
          <a:lstStyle/>
          <a:p>
            <a:pPr algn="l">
              <a:lnSpc>
                <a:spcPts val="2328"/>
              </a:lnSpc>
              <a:spcBef>
                <a:spcPts val="0"/>
              </a:spcBef>
              <a:spcAft>
                <a:spcPts val="0"/>
              </a:spcAft>
            </a:pPr>
            <a:r>
              <a:rPr sz="2328" b="1" i="0" u="none">
                <a:solidFill>
                  <a:srgbClr val="1F1E1E"/>
                </a:solidFill>
                <a:latin typeface="Arial"/>
              </a:rPr>
              <a:t>False negative</a:t>
            </a:r>
          </a:p>
        </p:txBody>
      </p:sp>
      <p:sp>
        <p:nvSpPr>
          <p:cNvPr id="17" name="TextBox 16"/>
          <p:cNvSpPr txBox="1"/>
          <p:nvPr/>
        </p:nvSpPr>
        <p:spPr>
          <a:xfrm>
            <a:off x="7370445" y="3690556"/>
            <a:ext cx="3966733" cy="616172"/>
          </a:xfrm>
          <a:prstGeom prst="rect">
            <a:avLst/>
          </a:prstGeom>
          <a:noFill/>
        </p:spPr>
        <p:txBody>
          <a:bodyPr wrap="square" anchor="ctr" lIns="0" tIns="0" rIns="0" bIns="0">
            <a:noAutofit/>
          </a:bodyPr>
          <a:lstStyle/>
          <a:p>
            <a:pPr algn="l">
              <a:lnSpc>
                <a:spcPts val="2542"/>
              </a:lnSpc>
              <a:spcBef>
                <a:spcPts val="0"/>
              </a:spcBef>
              <a:spcAft>
                <a:spcPts val="0"/>
              </a:spcAft>
            </a:pPr>
            <a:r>
              <a:rPr sz="1955" b="0" i="0" u="none">
                <a:solidFill>
                  <a:srgbClr val="3B3535"/>
                </a:solidFill>
                <a:latin typeface="Arial"/>
              </a:rPr>
              <a:t>Missed it. The expensive one in medicine.</a:t>
            </a:r>
          </a:p>
        </p:txBody>
      </p:sp>
      <p:sp>
        <p:nvSpPr>
          <p:cNvPr id="18" name="Rounded Rectangle 17"/>
          <p:cNvSpPr/>
          <p:nvPr/>
        </p:nvSpPr>
        <p:spPr>
          <a:xfrm>
            <a:off x="2539270" y="4715351"/>
            <a:ext cx="4407313" cy="1533049"/>
          </a:xfrm>
          <a:prstGeom prst="roundRect">
            <a:avLst>
              <a:gd name="adj" fmla="val 12724"/>
            </a:avLst>
          </a:prstGeom>
          <a:solidFill>
            <a:srgbClr val="F7BBC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2798350" y="4987671"/>
            <a:ext cx="3927348" cy="331184"/>
          </a:xfrm>
          <a:prstGeom prst="rect">
            <a:avLst/>
          </a:prstGeom>
          <a:noFill/>
        </p:spPr>
        <p:txBody>
          <a:bodyPr wrap="none" anchor="ctr" lIns="0" tIns="0" rIns="0" bIns="0">
            <a:noAutofit/>
          </a:bodyPr>
          <a:lstStyle/>
          <a:p>
            <a:pPr algn="l">
              <a:lnSpc>
                <a:spcPts val="2328"/>
              </a:lnSpc>
              <a:spcBef>
                <a:spcPts val="0"/>
              </a:spcBef>
              <a:spcAft>
                <a:spcPts val="0"/>
              </a:spcAft>
            </a:pPr>
            <a:r>
              <a:rPr sz="2328" b="1" i="0" u="none">
                <a:solidFill>
                  <a:srgbClr val="1F1E1E"/>
                </a:solidFill>
                <a:latin typeface="Arial"/>
              </a:rPr>
              <a:t>False positive</a:t>
            </a:r>
          </a:p>
        </p:txBody>
      </p:sp>
      <p:sp>
        <p:nvSpPr>
          <p:cNvPr id="20" name="TextBox 19"/>
          <p:cNvSpPr txBox="1"/>
          <p:nvPr/>
        </p:nvSpPr>
        <p:spPr>
          <a:xfrm>
            <a:off x="2798350" y="5401246"/>
            <a:ext cx="3966637" cy="616172"/>
          </a:xfrm>
          <a:prstGeom prst="rect">
            <a:avLst/>
          </a:prstGeom>
          <a:noFill/>
        </p:spPr>
        <p:txBody>
          <a:bodyPr wrap="square" anchor="ctr" lIns="0" tIns="0" rIns="0" bIns="0">
            <a:noAutofit/>
          </a:bodyPr>
          <a:lstStyle/>
          <a:p>
            <a:pPr algn="l">
              <a:lnSpc>
                <a:spcPts val="2542"/>
              </a:lnSpc>
              <a:spcBef>
                <a:spcPts val="0"/>
              </a:spcBef>
              <a:spcAft>
                <a:spcPts val="0"/>
              </a:spcAft>
            </a:pPr>
            <a:r>
              <a:rPr sz="1955" b="0" i="0" u="none">
                <a:solidFill>
                  <a:srgbClr val="3B3535"/>
                </a:solidFill>
                <a:latin typeface="Arial"/>
              </a:rPr>
              <a:t>False alarm. The expensive one in spam.</a:t>
            </a:r>
          </a:p>
        </p:txBody>
      </p:sp>
      <p:sp>
        <p:nvSpPr>
          <p:cNvPr id="21" name="Rounded Rectangle 20"/>
          <p:cNvSpPr/>
          <p:nvPr/>
        </p:nvSpPr>
        <p:spPr>
          <a:xfrm>
            <a:off x="7111460" y="4715351"/>
            <a:ext cx="4407503" cy="1533049"/>
          </a:xfrm>
          <a:prstGeom prst="roundRect">
            <a:avLst>
              <a:gd name="adj" fmla="val 12724"/>
            </a:avLst>
          </a:prstGeom>
          <a:solidFill>
            <a:srgbClr val="B8E6F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7370445" y="4987671"/>
            <a:ext cx="3927443" cy="331184"/>
          </a:xfrm>
          <a:prstGeom prst="rect">
            <a:avLst/>
          </a:prstGeom>
          <a:noFill/>
        </p:spPr>
        <p:txBody>
          <a:bodyPr wrap="none" anchor="ctr" lIns="0" tIns="0" rIns="0" bIns="0">
            <a:noAutofit/>
          </a:bodyPr>
          <a:lstStyle/>
          <a:p>
            <a:pPr algn="l">
              <a:lnSpc>
                <a:spcPts val="2328"/>
              </a:lnSpc>
              <a:spcBef>
                <a:spcPts val="0"/>
              </a:spcBef>
              <a:spcAft>
                <a:spcPts val="0"/>
              </a:spcAft>
            </a:pPr>
            <a:r>
              <a:rPr sz="2328" b="1" i="0" u="none">
                <a:solidFill>
                  <a:srgbClr val="1F1E1E"/>
                </a:solidFill>
                <a:latin typeface="Arial"/>
              </a:rPr>
              <a:t>True negative</a:t>
            </a:r>
          </a:p>
        </p:txBody>
      </p:sp>
      <p:sp>
        <p:nvSpPr>
          <p:cNvPr id="23" name="TextBox 22"/>
          <p:cNvSpPr txBox="1"/>
          <p:nvPr/>
        </p:nvSpPr>
        <p:spPr>
          <a:xfrm>
            <a:off x="7370445" y="5401246"/>
            <a:ext cx="3927443" cy="276034"/>
          </a:xfrm>
          <a:prstGeom prst="rect">
            <a:avLst/>
          </a:prstGeom>
          <a:noFill/>
        </p:spPr>
        <p:txBody>
          <a:bodyPr wrap="none" anchor="ctr" lIns="0" tIns="0" rIns="0" bIns="0">
            <a:noAutofit/>
          </a:bodyPr>
          <a:lstStyle/>
          <a:p>
            <a:pPr algn="l">
              <a:lnSpc>
                <a:spcPts val="2542"/>
              </a:lnSpc>
              <a:spcBef>
                <a:spcPts val="0"/>
              </a:spcBef>
              <a:spcAft>
                <a:spcPts val="0"/>
              </a:spcAft>
            </a:pPr>
            <a:r>
              <a:rPr sz="1955" b="0" i="0" u="none">
                <a:solidFill>
                  <a:srgbClr val="3B3535"/>
                </a:solidFill>
                <a:latin typeface="Arial"/>
              </a:rPr>
              <a:t>Correctly left alone.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133124"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830133"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FRAMES &amp; OPENERS</a:t>
            </a:r>
          </a:p>
        </p:txBody>
      </p:sp>
      <p:sp>
        <p:nvSpPr>
          <p:cNvPr id="4" name="TextBox 3"/>
          <p:cNvSpPr txBox="1"/>
          <p:nvPr/>
        </p:nvSpPr>
        <p:spPr>
          <a:xfrm>
            <a:off x="670465" y="896112"/>
            <a:ext cx="11032887" cy="1124522"/>
          </a:xfrm>
          <a:prstGeom prst="rect">
            <a:avLst/>
          </a:prstGeom>
          <a:noFill/>
        </p:spPr>
        <p:txBody>
          <a:bodyPr wrap="square" anchor="ctr" lIns="0" tIns="0" rIns="0" bIns="0">
            <a:noAutofit/>
          </a:bodyPr>
          <a:lstStyle/>
          <a:p>
            <a:pPr algn="l">
              <a:lnSpc>
                <a:spcPts val="4355"/>
              </a:lnSpc>
              <a:spcBef>
                <a:spcPts val="0"/>
              </a:spcBef>
              <a:spcAft>
                <a:spcPts val="0"/>
              </a:spcAft>
            </a:pPr>
            <a:r>
              <a:rPr sz="4032" b="1" i="0" u="none" spc="-40">
                <a:solidFill>
                  <a:srgbClr val="1F1E1E"/>
                </a:solidFill>
                <a:latin typeface="Arial"/>
              </a:rPr>
              <a:t>media as a code panel — cards keep their cards</a:t>
            </a:r>
          </a:p>
        </p:txBody>
      </p:sp>
      <p:sp>
        <p:nvSpPr>
          <p:cNvPr id="5" name="Rounded Rectangle 4"/>
          <p:cNvSpPr/>
          <p:nvPr/>
        </p:nvSpPr>
        <p:spPr>
          <a:xfrm>
            <a:off x="670465" y="2328577"/>
            <a:ext cx="2512695" cy="2274380"/>
          </a:xfrm>
          <a:prstGeom prst="roundRect">
            <a:avLst>
              <a:gd name="adj" fmla="val 1072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871919" y="2563558"/>
            <a:ext cx="486823" cy="486823"/>
          </a:xfrm>
          <a:prstGeom prst="rect">
            <a:avLst/>
          </a:prstGeom>
        </p:spPr>
      </p:pic>
      <p:sp>
        <p:nvSpPr>
          <p:cNvPr id="7" name="TextBox 6"/>
          <p:cNvSpPr txBox="1"/>
          <p:nvPr/>
        </p:nvSpPr>
        <p:spPr>
          <a:xfrm>
            <a:off x="1501426" y="2556986"/>
            <a:ext cx="1521631" cy="932116"/>
          </a:xfrm>
          <a:prstGeom prst="rect">
            <a:avLst/>
          </a:prstGeom>
          <a:noFill/>
        </p:spPr>
        <p:txBody>
          <a:bodyPr wrap="square" anchor="ctr" lIns="0" tIns="0" rIns="0" bIns="0">
            <a:noAutofit/>
          </a:bodyPr>
          <a:lstStyle/>
          <a:p>
            <a:pPr algn="l">
              <a:lnSpc>
                <a:spcPts val="2113"/>
              </a:lnSpc>
              <a:spcBef>
                <a:spcPts val="0"/>
              </a:spcBef>
              <a:spcAft>
                <a:spcPts val="0"/>
              </a:spcAft>
            </a:pPr>
            <a:r>
              <a:rPr sz="1921" b="1" i="0" u="none">
                <a:solidFill>
                  <a:srgbClr val="1F1E1E"/>
                </a:solidFill>
                <a:latin typeface="Arial"/>
              </a:rPr>
              <a:t>Learned from train</a:t>
            </a:r>
          </a:p>
        </p:txBody>
      </p:sp>
      <p:sp>
        <p:nvSpPr>
          <p:cNvPr id="8" name="TextBox 7"/>
          <p:cNvSpPr txBox="1"/>
          <p:nvPr/>
        </p:nvSpPr>
        <p:spPr>
          <a:xfrm>
            <a:off x="1501426" y="3154013"/>
            <a:ext cx="1521631" cy="1107567"/>
          </a:xfrm>
          <a:prstGeom prst="rect">
            <a:avLst/>
          </a:prstGeom>
          <a:noFill/>
        </p:spPr>
        <p:txBody>
          <a:bodyPr wrap="square" anchor="ctr" lIns="0" tIns="0" rIns="0" bIns="0">
            <a:noAutofit/>
          </a:bodyPr>
          <a:lstStyle/>
          <a:p>
            <a:pPr algn="l">
              <a:lnSpc>
                <a:spcPts val="1938"/>
              </a:lnSpc>
              <a:spcBef>
                <a:spcPts val="0"/>
              </a:spcBef>
              <a:spcAft>
                <a:spcPts val="0"/>
              </a:spcAft>
            </a:pPr>
            <a:r>
              <a:rPr sz="1490" b="0" i="0" u="none">
                <a:solidFill>
                  <a:srgbClr val="3B3535"/>
                </a:solidFill>
                <a:latin typeface="Arial"/>
              </a:rPr>
              <a:t>The statistics come from one split and one split only.</a:t>
            </a:r>
          </a:p>
        </p:txBody>
      </p:sp>
      <p:sp>
        <p:nvSpPr>
          <p:cNvPr id="9" name="Rounded Rectangle 8"/>
          <p:cNvSpPr/>
          <p:nvPr/>
        </p:nvSpPr>
        <p:spPr>
          <a:xfrm>
            <a:off x="3367850" y="2328577"/>
            <a:ext cx="2512790" cy="2274380"/>
          </a:xfrm>
          <a:prstGeom prst="roundRect">
            <a:avLst>
              <a:gd name="adj" fmla="val 1072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3569303" y="2563558"/>
            <a:ext cx="486823" cy="486823"/>
          </a:xfrm>
          <a:prstGeom prst="rect">
            <a:avLst/>
          </a:prstGeom>
        </p:spPr>
      </p:pic>
      <p:sp>
        <p:nvSpPr>
          <p:cNvPr id="11" name="TextBox 10"/>
          <p:cNvSpPr txBox="1"/>
          <p:nvPr/>
        </p:nvSpPr>
        <p:spPr>
          <a:xfrm>
            <a:off x="4198715" y="2556986"/>
            <a:ext cx="1521728" cy="932116"/>
          </a:xfrm>
          <a:prstGeom prst="rect">
            <a:avLst/>
          </a:prstGeom>
          <a:noFill/>
        </p:spPr>
        <p:txBody>
          <a:bodyPr wrap="square" anchor="ctr" lIns="0" tIns="0" rIns="0" bIns="0">
            <a:noAutofit/>
          </a:bodyPr>
          <a:lstStyle/>
          <a:p>
            <a:pPr algn="l">
              <a:lnSpc>
                <a:spcPts val="2113"/>
              </a:lnSpc>
              <a:spcBef>
                <a:spcPts val="0"/>
              </a:spcBef>
              <a:spcAft>
                <a:spcPts val="0"/>
              </a:spcAft>
            </a:pPr>
            <a:r>
              <a:rPr sz="1921" b="1" i="0" u="none">
                <a:solidFill>
                  <a:srgbClr val="1F1E1E"/>
                </a:solidFill>
                <a:latin typeface="Arial"/>
              </a:rPr>
              <a:t>Applied to all three</a:t>
            </a:r>
          </a:p>
        </p:txBody>
      </p:sp>
      <p:sp>
        <p:nvSpPr>
          <p:cNvPr id="12" name="TextBox 11"/>
          <p:cNvSpPr txBox="1"/>
          <p:nvPr/>
        </p:nvSpPr>
        <p:spPr>
          <a:xfrm>
            <a:off x="4198715" y="3154013"/>
            <a:ext cx="1521728" cy="1191482"/>
          </a:xfrm>
          <a:prstGeom prst="rect">
            <a:avLst/>
          </a:prstGeom>
          <a:noFill/>
        </p:spPr>
        <p:txBody>
          <a:bodyPr wrap="square" anchor="ctr" lIns="0" tIns="0" rIns="0" bIns="0">
            <a:noAutofit/>
          </a:bodyPr>
          <a:lstStyle/>
          <a:p>
            <a:pPr algn="l">
              <a:lnSpc>
                <a:spcPts val="1938"/>
              </a:lnSpc>
              <a:spcBef>
                <a:spcPts val="0"/>
              </a:spcBef>
              <a:spcAft>
                <a:spcPts val="0"/>
              </a:spcAft>
            </a:pPr>
            <a:r>
              <a:rPr sz="1490" b="0" i="0" u="none">
                <a:solidFill>
                  <a:srgbClr val="3B3535"/>
                </a:solidFill>
                <a:latin typeface="Arial"/>
              </a:rPr>
              <a:t>Same parameters, every time — that is what makes it a transform.</a:t>
            </a:r>
          </a:p>
        </p:txBody>
      </p:sp>
      <p:sp>
        <p:nvSpPr>
          <p:cNvPr id="13" name="Rounded Rectangle 12"/>
          <p:cNvSpPr/>
          <p:nvPr/>
        </p:nvSpPr>
        <p:spPr>
          <a:xfrm>
            <a:off x="670465" y="4787551"/>
            <a:ext cx="5210175" cy="1270444"/>
          </a:xfrm>
          <a:prstGeom prst="roundRect">
            <a:avLst>
              <a:gd name="adj" fmla="val 19193"/>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4"/>
          <a:stretch>
            <a:fillRect/>
          </a:stretch>
        </p:blipFill>
        <p:spPr>
          <a:xfrm>
            <a:off x="871919" y="5022532"/>
            <a:ext cx="486823" cy="486823"/>
          </a:xfrm>
          <a:prstGeom prst="rect">
            <a:avLst/>
          </a:prstGeom>
        </p:spPr>
      </p:pic>
      <p:sp>
        <p:nvSpPr>
          <p:cNvPr id="15" name="TextBox 14"/>
          <p:cNvSpPr txBox="1"/>
          <p:nvPr/>
        </p:nvSpPr>
        <p:spPr>
          <a:xfrm>
            <a:off x="1501426" y="5015960"/>
            <a:ext cx="4215956" cy="275463"/>
          </a:xfrm>
          <a:prstGeom prst="rect">
            <a:avLst/>
          </a:prstGeom>
          <a:noFill/>
        </p:spPr>
        <p:txBody>
          <a:bodyPr wrap="none" anchor="ctr" lIns="0" tIns="0" rIns="0" bIns="0">
            <a:noAutofit/>
          </a:bodyPr>
          <a:lstStyle/>
          <a:p>
            <a:pPr algn="l">
              <a:lnSpc>
                <a:spcPts val="2113"/>
              </a:lnSpc>
              <a:spcBef>
                <a:spcPts val="0"/>
              </a:spcBef>
              <a:spcAft>
                <a:spcPts val="0"/>
              </a:spcAft>
            </a:pPr>
            <a:r>
              <a:rPr sz="1921" b="1" i="0" u="none">
                <a:solidFill>
                  <a:srgbClr val="1F1E1E"/>
                </a:solidFill>
                <a:latin typeface="Arial"/>
              </a:rPr>
              <a:t>Silent when wrong</a:t>
            </a:r>
          </a:p>
        </p:txBody>
      </p:sp>
      <p:sp>
        <p:nvSpPr>
          <p:cNvPr id="16" name="TextBox 15"/>
          <p:cNvSpPr txBox="1"/>
          <p:nvPr/>
        </p:nvSpPr>
        <p:spPr>
          <a:xfrm>
            <a:off x="1501426" y="5345335"/>
            <a:ext cx="4259573" cy="455295"/>
          </a:xfrm>
          <a:prstGeom prst="rect">
            <a:avLst/>
          </a:prstGeom>
          <a:noFill/>
        </p:spPr>
        <p:txBody>
          <a:bodyPr wrap="square" anchor="ctr" lIns="0" tIns="0" rIns="0" bIns="0">
            <a:noAutofit/>
          </a:bodyPr>
          <a:lstStyle/>
          <a:p>
            <a:pPr algn="l">
              <a:lnSpc>
                <a:spcPts val="1938"/>
              </a:lnSpc>
              <a:spcBef>
                <a:spcPts val="0"/>
              </a:spcBef>
              <a:spcAft>
                <a:spcPts val="0"/>
              </a:spcAft>
            </a:pPr>
            <a:r>
              <a:rPr sz="1490" b="0" i="0" u="none">
                <a:solidFill>
                  <a:srgbClr val="3B3535"/>
                </a:solidFill>
                <a:latin typeface="Arial"/>
              </a:rPr>
              <a:t>Leak the test set in and nothing raises; the score just flatters you.</a:t>
            </a:r>
          </a:p>
        </p:txBody>
      </p:sp>
      <p:sp>
        <p:nvSpPr>
          <p:cNvPr id="17" name="Rounded Rectangle 16"/>
          <p:cNvSpPr/>
          <p:nvPr/>
        </p:nvSpPr>
        <p:spPr>
          <a:xfrm>
            <a:off x="6309265" y="2328577"/>
            <a:ext cx="5212270" cy="2479072"/>
          </a:xfrm>
          <a:prstGeom prst="roundRect">
            <a:avLst>
              <a:gd name="adj" fmla="val 7868"/>
            </a:avLst>
          </a:prstGeom>
          <a:solidFill>
            <a:srgbClr val="1E1E1E"/>
          </a:solidFill>
          <a:ln w="9525">
            <a:solidFill>
              <a:srgbClr val="3C3C41"/>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Rectangle 17"/>
          <p:cNvSpPr/>
          <p:nvPr/>
        </p:nvSpPr>
        <p:spPr>
          <a:xfrm>
            <a:off x="6318790" y="2338102"/>
            <a:ext cx="5193220" cy="329089"/>
          </a:xfrm>
          <a:prstGeom prst="rect">
            <a:avLst/>
          </a:prstGeom>
          <a:solidFill>
            <a:srgbClr val="2525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Rectangle 18"/>
          <p:cNvSpPr/>
          <p:nvPr/>
        </p:nvSpPr>
        <p:spPr>
          <a:xfrm>
            <a:off x="6318790" y="2657666"/>
            <a:ext cx="5193220" cy="9525"/>
          </a:xfrm>
          <a:prstGeom prst="rect">
            <a:avLst/>
          </a:prstGeom>
          <a:solidFill>
            <a:srgbClr val="3C3C4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Oval 19"/>
          <p:cNvSpPr/>
          <p:nvPr/>
        </p:nvSpPr>
        <p:spPr>
          <a:xfrm>
            <a:off x="6489382" y="2455926"/>
            <a:ext cx="83820" cy="83820"/>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Oval 20"/>
          <p:cNvSpPr/>
          <p:nvPr/>
        </p:nvSpPr>
        <p:spPr>
          <a:xfrm>
            <a:off x="6654260" y="2455926"/>
            <a:ext cx="83820" cy="83820"/>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Oval 21"/>
          <p:cNvSpPr/>
          <p:nvPr/>
        </p:nvSpPr>
        <p:spPr>
          <a:xfrm>
            <a:off x="6819138" y="2455926"/>
            <a:ext cx="83820" cy="83820"/>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10818495" y="2426018"/>
            <a:ext cx="561118" cy="142875"/>
          </a:xfrm>
          <a:prstGeom prst="rect">
            <a:avLst/>
          </a:prstGeom>
          <a:noFill/>
        </p:spPr>
        <p:txBody>
          <a:bodyPr wrap="none" anchor="ctr" lIns="0" tIns="0" rIns="0" bIns="0">
            <a:noAutofit/>
          </a:bodyPr>
          <a:lstStyle/>
          <a:p>
            <a:pPr algn="l">
              <a:lnSpc>
                <a:spcPts val="980"/>
              </a:lnSpc>
              <a:spcBef>
                <a:spcPts val="0"/>
              </a:spcBef>
              <a:spcAft>
                <a:spcPts val="0"/>
              </a:spcAft>
            </a:pPr>
            <a:r>
              <a:rPr sz="980" b="0" i="0" u="none" spc="98">
                <a:solidFill>
                  <a:srgbClr val="8A8A94"/>
                </a:solidFill>
                <a:latin typeface="Courier New"/>
              </a:rPr>
              <a:t>PYTHON</a:t>
            </a:r>
          </a:p>
        </p:txBody>
      </p:sp>
      <p:sp>
        <p:nvSpPr>
          <p:cNvPr id="24" name="TextBox 23"/>
          <p:cNvSpPr txBox="1"/>
          <p:nvPr/>
        </p:nvSpPr>
        <p:spPr>
          <a:xfrm>
            <a:off x="6562534" y="2924651"/>
            <a:ext cx="4795270" cy="1654016"/>
          </a:xfrm>
          <a:prstGeom prst="rect">
            <a:avLst/>
          </a:prstGeom>
          <a:noFill/>
        </p:spPr>
        <p:txBody>
          <a:bodyPr wrap="square" anchor="ctr" lIns="0" tIns="0" rIns="0" bIns="0">
            <a:noAutofit/>
          </a:bodyPr>
          <a:lstStyle/>
          <a:p>
            <a:pPr algn="l">
              <a:lnSpc>
                <a:spcPts val="2664"/>
              </a:lnSpc>
              <a:spcBef>
                <a:spcPts val="0"/>
              </a:spcBef>
              <a:spcAft>
                <a:spcPts val="0"/>
              </a:spcAft>
            </a:pPr>
            <a:r>
              <a:rPr sz="1776" b="0" i="0" u="none">
                <a:solidFill>
                  <a:srgbClr val="D4D4D4"/>
                </a:solidFill>
                <a:latin typeface="Courier New"/>
              </a:rPr>
              <a:t>scaler = StandardScaler()</a:t>
            </a:r>
          </a:p>
          <a:p>
            <a:pPr algn="l">
              <a:lnSpc>
                <a:spcPts val="2664"/>
              </a:lnSpc>
              <a:spcBef>
                <a:spcPts val="0"/>
              </a:spcBef>
              <a:spcAft>
                <a:spcPts val="0"/>
              </a:spcAft>
            </a:pPr>
            <a:r>
              <a:rPr sz="1776" b="0" i="0" u="none">
                <a:solidFill>
                  <a:srgbClr val="D4D4D4"/>
                </a:solidFill>
                <a:latin typeface="Courier New"/>
              </a:rPr>
              <a:t>scaler.fit(X_train)            </a:t>
            </a:r>
            <a:r>
              <a:rPr sz="1776" b="0" i="1" u="none">
                <a:solidFill>
                  <a:srgbClr val="6A9955"/>
                </a:solidFill>
                <a:latin typeface="Courier New"/>
              </a:rPr>
              <a:t># train only</a:t>
            </a:r>
          </a:p>
          <a:p>
            <a:pPr algn="l">
              <a:lnSpc>
                <a:spcPts val="2664"/>
              </a:lnSpc>
              <a:spcBef>
                <a:spcPts val="0"/>
              </a:spcBef>
              <a:spcAft>
                <a:spcPts val="0"/>
              </a:spcAft>
            </a:pPr>
            <a:r>
              <a:rPr sz="1776" b="0" i="0" u="none">
                <a:solidFill>
                  <a:srgbClr val="D4D4D4"/>
                </a:solidFill>
                <a:latin typeface="Courier New"/>
              </a:rPr>
              <a:t>X_val  = scaler.transform(X_val)</a:t>
            </a:r>
          </a:p>
          <a:p>
            <a:pPr algn="l">
              <a:lnSpc>
                <a:spcPts val="2664"/>
              </a:lnSpc>
              <a:spcBef>
                <a:spcPts val="0"/>
              </a:spcBef>
              <a:spcAft>
                <a:spcPts val="0"/>
              </a:spcAft>
            </a:pPr>
            <a:r>
              <a:rPr sz="1776" b="0" i="0" u="none">
                <a:solidFill>
                  <a:srgbClr val="D4D4D4"/>
                </a:solidFill>
                <a:latin typeface="Courier New"/>
              </a:rPr>
              <a:t>X_test = scaler.transform(X_test)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133124"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830133"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FRAMES &amp; OPENERS</a:t>
            </a:r>
          </a:p>
        </p:txBody>
      </p:sp>
      <p:sp>
        <p:nvSpPr>
          <p:cNvPr id="4" name="TextBox 3"/>
          <p:cNvSpPr txBox="1"/>
          <p:nvPr/>
        </p:nvSpPr>
        <p:spPr>
          <a:xfrm>
            <a:off x="670465" y="896112"/>
            <a:ext cx="1088898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media as a small aligned grid</a:t>
            </a:r>
          </a:p>
        </p:txBody>
      </p:sp>
      <p:sp>
        <p:nvSpPr>
          <p:cNvPr id="5" name="Rounded Rectangle 4"/>
          <p:cNvSpPr/>
          <p:nvPr/>
        </p:nvSpPr>
        <p:spPr>
          <a:xfrm>
            <a:off x="670465" y="1775555"/>
            <a:ext cx="2991898" cy="4372737"/>
          </a:xfrm>
          <a:prstGeom prst="roundRect">
            <a:avLst>
              <a:gd name="adj" fmla="val 815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63073" y="2116741"/>
            <a:ext cx="707041" cy="707041"/>
          </a:xfrm>
          <a:prstGeom prst="rect">
            <a:avLst/>
          </a:prstGeom>
        </p:spPr>
      </p:pic>
      <p:sp>
        <p:nvSpPr>
          <p:cNvPr id="7" name="TextBox 6"/>
          <p:cNvSpPr txBox="1"/>
          <p:nvPr/>
        </p:nvSpPr>
        <p:spPr>
          <a:xfrm>
            <a:off x="1877282" y="2107216"/>
            <a:ext cx="1534006" cy="1177862"/>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Early stopping</a:t>
            </a:r>
          </a:p>
        </p:txBody>
      </p:sp>
      <p:sp>
        <p:nvSpPr>
          <p:cNvPr id="8" name="TextBox 7"/>
          <p:cNvSpPr txBox="1"/>
          <p:nvPr/>
        </p:nvSpPr>
        <p:spPr>
          <a:xfrm>
            <a:off x="1877282" y="2974467"/>
            <a:ext cx="1533909" cy="2087213"/>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Cheapest of the lot: stop when validation turns.</a:t>
            </a:r>
          </a:p>
        </p:txBody>
      </p:sp>
      <p:sp>
        <p:nvSpPr>
          <p:cNvPr id="9" name="Rounded Rectangle 8"/>
          <p:cNvSpPr/>
          <p:nvPr/>
        </p:nvSpPr>
        <p:spPr>
          <a:xfrm>
            <a:off x="3930587" y="1775555"/>
            <a:ext cx="2631853" cy="4372737"/>
          </a:xfrm>
          <a:prstGeom prst="roundRect">
            <a:avLst>
              <a:gd name="adj" fmla="val 926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4223194" y="2116741"/>
            <a:ext cx="707041" cy="707041"/>
          </a:xfrm>
          <a:prstGeom prst="rect">
            <a:avLst/>
          </a:prstGeom>
        </p:spPr>
      </p:pic>
      <p:sp>
        <p:nvSpPr>
          <p:cNvPr id="11" name="TextBox 10"/>
          <p:cNvSpPr txBox="1"/>
          <p:nvPr/>
        </p:nvSpPr>
        <p:spPr>
          <a:xfrm>
            <a:off x="5137404" y="2107216"/>
            <a:ext cx="1172524" cy="1177862"/>
          </a:xfrm>
          <a:prstGeom prst="rect">
            <a:avLst/>
          </a:prstGeom>
          <a:noFill/>
        </p:spPr>
        <p:txBody>
          <a:bodyPr wrap="square" anchor="ctr" lIns="0" tIns="0" rIns="0" bIns="0">
            <a:noAutofit/>
          </a:bodyPr>
          <a:lstStyle/>
          <a:p>
            <a:pPr algn="l">
              <a:lnSpc>
                <a:spcPts val="3062"/>
              </a:lnSpc>
              <a:spcBef>
                <a:spcPts val="0"/>
              </a:spcBef>
              <a:spcAft>
                <a:spcPts val="0"/>
              </a:spcAft>
            </a:pPr>
            <a:r>
              <a:rPr sz="2784" b="1" i="0" u="none">
                <a:solidFill>
                  <a:srgbClr val="1F1E1E"/>
                </a:solidFill>
                <a:latin typeface="Arial"/>
              </a:rPr>
              <a:t>More data</a:t>
            </a:r>
          </a:p>
        </p:txBody>
      </p:sp>
      <p:sp>
        <p:nvSpPr>
          <p:cNvPr id="12" name="TextBox 11"/>
          <p:cNvSpPr txBox="1"/>
          <p:nvPr/>
        </p:nvSpPr>
        <p:spPr>
          <a:xfrm>
            <a:off x="5137404" y="2974467"/>
            <a:ext cx="1172524" cy="2832354"/>
          </a:xfrm>
          <a:prstGeom prst="rect">
            <a:avLst/>
          </a:prstGeom>
          <a:noFill/>
        </p:spPr>
        <p:txBody>
          <a:bodyPr wrap="square" anchor="ctr" lIns="0" tIns="0" rIns="0" bIns="0">
            <a:noAutofit/>
          </a:bodyPr>
          <a:lstStyle/>
          <a:p>
            <a:pPr algn="l">
              <a:lnSpc>
                <a:spcPts val="2808"/>
              </a:lnSpc>
              <a:spcBef>
                <a:spcPts val="0"/>
              </a:spcBef>
              <a:spcAft>
                <a:spcPts val="0"/>
              </a:spcAft>
            </a:pPr>
            <a:r>
              <a:rPr sz="2160" b="0" i="0" u="none">
                <a:solidFill>
                  <a:srgbClr val="3B3535"/>
                </a:solidFill>
                <a:latin typeface="Arial"/>
              </a:rPr>
              <a:t>The one that always works, and the one nobody has.</a:t>
            </a:r>
          </a:p>
        </p:txBody>
      </p:sp>
      <p:sp>
        <p:nvSpPr>
          <p:cNvPr id="13" name="Rectangle 12"/>
          <p:cNvSpPr/>
          <p:nvPr/>
        </p:nvSpPr>
        <p:spPr>
          <a:xfrm>
            <a:off x="6989159" y="1775555"/>
            <a:ext cx="4532281" cy="37061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6989159" y="2108073"/>
            <a:ext cx="4532281" cy="38100"/>
          </a:xfrm>
          <a:prstGeom prst="rect">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6989159" y="1775555"/>
            <a:ext cx="2218468" cy="276225"/>
          </a:xfrm>
          <a:prstGeom prst="rect">
            <a:avLst/>
          </a:prstGeom>
          <a:noFill/>
        </p:spPr>
        <p:txBody>
          <a:bodyPr wrap="none" anchor="ctr" lIns="0" tIns="0" rIns="0" bIns="0">
            <a:noAutofit/>
          </a:bodyPr>
          <a:lstStyle/>
          <a:p>
            <a:pPr algn="l">
              <a:lnSpc>
                <a:spcPts val="2112"/>
              </a:lnSpc>
              <a:spcBef>
                <a:spcPts val="0"/>
              </a:spcBef>
              <a:spcAft>
                <a:spcPts val="0"/>
              </a:spcAft>
            </a:pPr>
            <a:r>
              <a:rPr sz="2112" b="1" i="0" u="none">
                <a:solidFill>
                  <a:srgbClr val="1F1E1E"/>
                </a:solidFill>
                <a:latin typeface="Arial"/>
              </a:rPr>
              <a:t>Situation</a:t>
            </a:r>
          </a:p>
        </p:txBody>
      </p:sp>
      <p:sp>
        <p:nvSpPr>
          <p:cNvPr id="16" name="TextBox 15"/>
          <p:cNvSpPr txBox="1"/>
          <p:nvPr/>
        </p:nvSpPr>
        <p:spPr>
          <a:xfrm>
            <a:off x="9341072" y="1775555"/>
            <a:ext cx="2218468" cy="276225"/>
          </a:xfrm>
          <a:prstGeom prst="rect">
            <a:avLst/>
          </a:prstGeom>
          <a:noFill/>
        </p:spPr>
        <p:txBody>
          <a:bodyPr wrap="none" anchor="ctr" lIns="0" tIns="0" rIns="0" bIns="0">
            <a:noAutofit/>
          </a:bodyPr>
          <a:lstStyle/>
          <a:p>
            <a:pPr algn="l">
              <a:lnSpc>
                <a:spcPts val="2112"/>
              </a:lnSpc>
              <a:spcBef>
                <a:spcPts val="0"/>
              </a:spcBef>
              <a:spcAft>
                <a:spcPts val="0"/>
              </a:spcAft>
            </a:pPr>
            <a:r>
              <a:rPr sz="2112" b="1" i="0" u="none">
                <a:solidFill>
                  <a:srgbClr val="1F1E1E"/>
                </a:solidFill>
                <a:latin typeface="Arial"/>
              </a:rPr>
              <a:t>Reach for</a:t>
            </a:r>
          </a:p>
        </p:txBody>
      </p:sp>
      <p:sp>
        <p:nvSpPr>
          <p:cNvPr id="17" name="TextBox 16"/>
          <p:cNvSpPr txBox="1"/>
          <p:nvPr/>
        </p:nvSpPr>
        <p:spPr>
          <a:xfrm>
            <a:off x="6989159" y="2406301"/>
            <a:ext cx="2032825" cy="266700"/>
          </a:xfrm>
          <a:prstGeom prst="rect">
            <a:avLst/>
          </a:prstGeom>
          <a:noFill/>
        </p:spPr>
        <p:txBody>
          <a:bodyPr wrap="none" anchor="ctr" lIns="0" tIns="0" rIns="0" bIns="0">
            <a:noAutofit/>
          </a:bodyPr>
          <a:lstStyle/>
          <a:p>
            <a:pPr algn="l">
              <a:lnSpc>
                <a:spcPts val="1943"/>
              </a:lnSpc>
              <a:spcBef>
                <a:spcPts val="0"/>
              </a:spcBef>
              <a:spcAft>
                <a:spcPts val="0"/>
              </a:spcAft>
            </a:pPr>
            <a:r>
              <a:rPr sz="1943" b="1" i="0" u="none">
                <a:solidFill>
                  <a:srgbClr val="1F1E1E"/>
                </a:solidFill>
                <a:latin typeface="Arial"/>
              </a:rPr>
              <a:t>Small tabular net</a:t>
            </a:r>
          </a:p>
        </p:txBody>
      </p:sp>
      <p:sp>
        <p:nvSpPr>
          <p:cNvPr id="18" name="Rounded Rectangle 17"/>
          <p:cNvSpPr/>
          <p:nvPr/>
        </p:nvSpPr>
        <p:spPr>
          <a:xfrm>
            <a:off x="9334214" y="2274856"/>
            <a:ext cx="2187226" cy="547688"/>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9526619" y="2406301"/>
            <a:ext cx="1840325" cy="266700"/>
          </a:xfrm>
          <a:prstGeom prst="rect">
            <a:avLst/>
          </a:prstGeom>
          <a:noFill/>
        </p:spPr>
        <p:txBody>
          <a:bodyPr wrap="none" anchor="ctr" lIns="0" tIns="0" rIns="0" bIns="0">
            <a:noAutofit/>
          </a:bodyPr>
          <a:lstStyle/>
          <a:p>
            <a:pPr algn="l">
              <a:lnSpc>
                <a:spcPts val="1943"/>
              </a:lnSpc>
              <a:spcBef>
                <a:spcPts val="0"/>
              </a:spcBef>
              <a:spcAft>
                <a:spcPts val="0"/>
              </a:spcAft>
            </a:pPr>
            <a:r>
              <a:rPr sz="1943" b="0" i="0" u="none">
                <a:solidFill>
                  <a:srgbClr val="3B3535"/>
                </a:solidFill>
                <a:latin typeface="Arial"/>
              </a:rPr>
              <a:t>L2</a:t>
            </a:r>
          </a:p>
        </p:txBody>
      </p:sp>
      <p:sp>
        <p:nvSpPr>
          <p:cNvPr id="20" name="TextBox 19"/>
          <p:cNvSpPr txBox="1"/>
          <p:nvPr/>
        </p:nvSpPr>
        <p:spPr>
          <a:xfrm>
            <a:off x="6989159" y="3082671"/>
            <a:ext cx="2032825" cy="266700"/>
          </a:xfrm>
          <a:prstGeom prst="rect">
            <a:avLst/>
          </a:prstGeom>
          <a:noFill/>
        </p:spPr>
        <p:txBody>
          <a:bodyPr wrap="none" anchor="ctr" lIns="0" tIns="0" rIns="0" bIns="0">
            <a:noAutofit/>
          </a:bodyPr>
          <a:lstStyle/>
          <a:p>
            <a:pPr algn="l">
              <a:lnSpc>
                <a:spcPts val="1943"/>
              </a:lnSpc>
              <a:spcBef>
                <a:spcPts val="0"/>
              </a:spcBef>
              <a:spcAft>
                <a:spcPts val="0"/>
              </a:spcAft>
            </a:pPr>
            <a:r>
              <a:rPr sz="1943" b="1" i="0" u="none">
                <a:solidFill>
                  <a:srgbClr val="1F1E1E"/>
                </a:solidFill>
                <a:latin typeface="Arial"/>
              </a:rPr>
              <a:t>Deep net</a:t>
            </a:r>
          </a:p>
        </p:txBody>
      </p:sp>
      <p:sp>
        <p:nvSpPr>
          <p:cNvPr id="21" name="Rounded Rectangle 20"/>
          <p:cNvSpPr/>
          <p:nvPr/>
        </p:nvSpPr>
        <p:spPr>
          <a:xfrm>
            <a:off x="9334214" y="2951226"/>
            <a:ext cx="2187226" cy="547688"/>
          </a:xfrm>
          <a:prstGeom prst="roundRect">
            <a:avLst>
              <a:gd name="adj" fmla="val 2342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9526619" y="3082671"/>
            <a:ext cx="1840325" cy="266700"/>
          </a:xfrm>
          <a:prstGeom prst="rect">
            <a:avLst/>
          </a:prstGeom>
          <a:noFill/>
        </p:spPr>
        <p:txBody>
          <a:bodyPr wrap="none" anchor="ctr" lIns="0" tIns="0" rIns="0" bIns="0">
            <a:noAutofit/>
          </a:bodyPr>
          <a:lstStyle/>
          <a:p>
            <a:pPr algn="l">
              <a:lnSpc>
                <a:spcPts val="1943"/>
              </a:lnSpc>
              <a:spcBef>
                <a:spcPts val="0"/>
              </a:spcBef>
              <a:spcAft>
                <a:spcPts val="0"/>
              </a:spcAft>
            </a:pPr>
            <a:r>
              <a:rPr sz="1943" b="0" i="0" u="none">
                <a:solidFill>
                  <a:srgbClr val="3B3535"/>
                </a:solidFill>
                <a:latin typeface="Arial"/>
              </a:rPr>
              <a:t>Dropout</a:t>
            </a:r>
          </a:p>
        </p:txBody>
      </p:sp>
      <p:sp>
        <p:nvSpPr>
          <p:cNvPr id="23" name="TextBox 22"/>
          <p:cNvSpPr txBox="1"/>
          <p:nvPr/>
        </p:nvSpPr>
        <p:spPr>
          <a:xfrm>
            <a:off x="6989159" y="3882485"/>
            <a:ext cx="2032825" cy="266700"/>
          </a:xfrm>
          <a:prstGeom prst="rect">
            <a:avLst/>
          </a:prstGeom>
          <a:noFill/>
        </p:spPr>
        <p:txBody>
          <a:bodyPr wrap="none" anchor="ctr" lIns="0" tIns="0" rIns="0" bIns="0">
            <a:noAutofit/>
          </a:bodyPr>
          <a:lstStyle/>
          <a:p>
            <a:pPr algn="l">
              <a:lnSpc>
                <a:spcPts val="1943"/>
              </a:lnSpc>
              <a:spcBef>
                <a:spcPts val="0"/>
              </a:spcBef>
              <a:spcAft>
                <a:spcPts val="0"/>
              </a:spcAft>
            </a:pPr>
            <a:r>
              <a:rPr sz="1943" b="1" i="0" u="none">
                <a:solidFill>
                  <a:srgbClr val="1F1E1E"/>
                </a:solidFill>
                <a:latin typeface="Arial"/>
              </a:rPr>
              <a:t>Vision</a:t>
            </a:r>
          </a:p>
        </p:txBody>
      </p:sp>
      <p:sp>
        <p:nvSpPr>
          <p:cNvPr id="24" name="Rounded Rectangle 23"/>
          <p:cNvSpPr/>
          <p:nvPr/>
        </p:nvSpPr>
        <p:spPr>
          <a:xfrm>
            <a:off x="9334214" y="3627692"/>
            <a:ext cx="2187226" cy="794480"/>
          </a:xfrm>
          <a:prstGeom prst="roundRect">
            <a:avLst>
              <a:gd name="adj" fmla="val 1615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9526619" y="3759137"/>
            <a:ext cx="1848309" cy="663035"/>
          </a:xfrm>
          <a:prstGeom prst="rect">
            <a:avLst/>
          </a:prstGeom>
          <a:noFill/>
        </p:spPr>
        <p:txBody>
          <a:bodyPr wrap="square" anchor="ctr" lIns="0" tIns="0" rIns="0" bIns="0">
            <a:noAutofit/>
          </a:bodyPr>
          <a:lstStyle/>
          <a:p>
            <a:pPr algn="l">
              <a:lnSpc>
                <a:spcPts val="1943"/>
              </a:lnSpc>
              <a:spcBef>
                <a:spcPts val="0"/>
              </a:spcBef>
              <a:spcAft>
                <a:spcPts val="0"/>
              </a:spcAft>
            </a:pPr>
            <a:r>
              <a:rPr sz="1943" b="0" i="0" u="none">
                <a:solidFill>
                  <a:srgbClr val="3B3535"/>
                </a:solidFill>
                <a:latin typeface="Arial"/>
              </a:rPr>
              <a:t>Augmentation first</a:t>
            </a:r>
          </a:p>
        </p:txBody>
      </p:sp>
      <p:sp>
        <p:nvSpPr>
          <p:cNvPr id="26" name="TextBox 25"/>
          <p:cNvSpPr txBox="1"/>
          <p:nvPr/>
        </p:nvSpPr>
        <p:spPr>
          <a:xfrm>
            <a:off x="6989159" y="4805648"/>
            <a:ext cx="2032825" cy="266700"/>
          </a:xfrm>
          <a:prstGeom prst="rect">
            <a:avLst/>
          </a:prstGeom>
          <a:noFill/>
        </p:spPr>
        <p:txBody>
          <a:bodyPr wrap="none" anchor="ctr" lIns="0" tIns="0" rIns="0" bIns="0">
            <a:noAutofit/>
          </a:bodyPr>
          <a:lstStyle/>
          <a:p>
            <a:pPr algn="l">
              <a:lnSpc>
                <a:spcPts val="1943"/>
              </a:lnSpc>
              <a:spcBef>
                <a:spcPts val="0"/>
              </a:spcBef>
              <a:spcAft>
                <a:spcPts val="0"/>
              </a:spcAft>
            </a:pPr>
            <a:r>
              <a:rPr sz="1943" b="1" i="0" u="none">
                <a:solidFill>
                  <a:srgbClr val="1F1E1E"/>
                </a:solidFill>
                <a:latin typeface="Arial"/>
              </a:rPr>
              <a:t>Transformers</a:t>
            </a:r>
          </a:p>
        </p:txBody>
      </p:sp>
      <p:sp>
        <p:nvSpPr>
          <p:cNvPr id="27" name="Rounded Rectangle 26"/>
          <p:cNvSpPr/>
          <p:nvPr/>
        </p:nvSpPr>
        <p:spPr>
          <a:xfrm>
            <a:off x="9334214" y="4550854"/>
            <a:ext cx="2187226" cy="794480"/>
          </a:xfrm>
          <a:prstGeom prst="roundRect">
            <a:avLst>
              <a:gd name="adj" fmla="val 16151"/>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9526619" y="4682300"/>
            <a:ext cx="1848309" cy="663035"/>
          </a:xfrm>
          <a:prstGeom prst="rect">
            <a:avLst/>
          </a:prstGeom>
          <a:noFill/>
        </p:spPr>
        <p:txBody>
          <a:bodyPr wrap="square" anchor="ctr" lIns="0" tIns="0" rIns="0" bIns="0">
            <a:noAutofit/>
          </a:bodyPr>
          <a:lstStyle/>
          <a:p>
            <a:pPr algn="l">
              <a:lnSpc>
                <a:spcPts val="1943"/>
              </a:lnSpc>
              <a:spcBef>
                <a:spcPts val="0"/>
              </a:spcBef>
              <a:spcAft>
                <a:spcPts val="0"/>
              </a:spcAft>
            </a:pPr>
            <a:r>
              <a:rPr sz="1943" b="0" i="0" u="none">
                <a:solidFill>
                  <a:srgbClr val="3B3535"/>
                </a:solidFill>
                <a:latin typeface="Arial"/>
              </a:rPr>
              <a:t>Both, plus warmup</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2133124"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1830133"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FRAMES &amp; OPENERS</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a stat band under the body</a:t>
            </a:r>
          </a:p>
        </p:txBody>
      </p:sp>
      <p:sp>
        <p:nvSpPr>
          <p:cNvPr id="5" name="TextBox 4"/>
          <p:cNvSpPr txBox="1"/>
          <p:nvPr/>
        </p:nvSpPr>
        <p:spPr>
          <a:xfrm>
            <a:off x="670465" y="1634585"/>
            <a:ext cx="10889170" cy="247650"/>
          </a:xfrm>
          <a:prstGeom prst="rect">
            <a:avLst/>
          </a:prstGeom>
          <a:noFill/>
        </p:spPr>
        <p:txBody>
          <a:bodyPr wrap="none" anchor="ctr" lIns="0" tIns="0" rIns="0" bIns="0">
            <a:noAutofit/>
          </a:bodyPr>
          <a:lstStyle/>
          <a:p>
            <a:pPr algn="l">
              <a:lnSpc>
                <a:spcPts val="1748"/>
              </a:lnSpc>
              <a:spcBef>
                <a:spcPts val="0"/>
              </a:spcBef>
              <a:spcAft>
                <a:spcPts val="0"/>
              </a:spcAft>
            </a:pPr>
            <a:r>
              <a:rPr sz="1748" b="1" i="0" u="none">
                <a:solidFill>
                  <a:srgbClr val="3B3535"/>
                </a:solidFill>
                <a:latin typeface="Arial"/>
              </a:rPr>
              <a:t>Two figures that comment on the body — without making the whole slide a stat.</a:t>
            </a:r>
          </a:p>
        </p:txBody>
      </p:sp>
      <p:sp>
        <p:nvSpPr>
          <p:cNvPr id="6" name="Oval 5"/>
          <p:cNvSpPr/>
          <p:nvPr/>
        </p:nvSpPr>
        <p:spPr>
          <a:xfrm>
            <a:off x="670465" y="2350770"/>
            <a:ext cx="121920" cy="121920"/>
          </a:xfrm>
          <a:prstGeom prst="ellipse">
            <a:avLst/>
          </a:prstGeom>
          <a:solidFill>
            <a:srgbClr val="DA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3073" y="2260092"/>
            <a:ext cx="5010381" cy="1169480"/>
          </a:xfrm>
          <a:prstGeom prst="rect">
            <a:avLst/>
          </a:prstGeom>
          <a:noFill/>
        </p:spPr>
        <p:txBody>
          <a:bodyPr wrap="square" anchor="ctr" lIns="0" tIns="0" rIns="0" bIns="0">
            <a:noAutofit/>
          </a:bodyPr>
          <a:lstStyle/>
          <a:p>
            <a:pPr algn="l">
              <a:lnSpc>
                <a:spcPts val="3120"/>
              </a:lnSpc>
              <a:spcBef>
                <a:spcPts val="0"/>
              </a:spcBef>
              <a:spcAft>
                <a:spcPts val="0"/>
              </a:spcAft>
            </a:pPr>
            <a:r>
              <a:rPr sz="2400" b="1" i="0" u="none">
                <a:solidFill>
                  <a:srgbClr val="1F1E1E"/>
                </a:solidFill>
                <a:latin typeface="Arial"/>
              </a:rPr>
              <a:t>The hook is a contrast</a:t>
            </a:r>
            <a:r>
              <a:rPr sz="2400" b="0" i="0" u="none">
                <a:solidFill>
                  <a:srgbClr val="3B3535"/>
                </a:solidFill>
                <a:latin typeface="Arial"/>
              </a:rPr>
              <a:t>: A pair of numbers can carry a slide's opening without being its structure.</a:t>
            </a:r>
          </a:p>
        </p:txBody>
      </p:sp>
      <p:sp>
        <p:nvSpPr>
          <p:cNvPr id="8" name="Rounded Rectangle 7"/>
          <p:cNvSpPr/>
          <p:nvPr/>
        </p:nvSpPr>
        <p:spPr>
          <a:xfrm>
            <a:off x="670465" y="3795236"/>
            <a:ext cx="2458784" cy="1749171"/>
          </a:xfrm>
          <a:prstGeom prst="roundRect">
            <a:avLst>
              <a:gd name="adj" fmla="val 1394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889826" y="4000976"/>
            <a:ext cx="2058162" cy="685800"/>
          </a:xfrm>
          <a:prstGeom prst="rect">
            <a:avLst/>
          </a:prstGeom>
          <a:noFill/>
        </p:spPr>
        <p:txBody>
          <a:bodyPr wrap="none" anchor="ctr" lIns="0" tIns="0" rIns="0" bIns="0">
            <a:noAutofit/>
          </a:bodyPr>
          <a:lstStyle/>
          <a:p>
            <a:pPr algn="l">
              <a:lnSpc>
                <a:spcPts val="4800"/>
              </a:lnSpc>
              <a:spcBef>
                <a:spcPts val="0"/>
              </a:spcBef>
              <a:spcAft>
                <a:spcPts val="0"/>
              </a:spcAft>
            </a:pPr>
            <a:r>
              <a:rPr sz="4800" b="1" i="0" u="none" spc="-96">
                <a:solidFill>
                  <a:srgbClr val="DA1B2E"/>
                </a:solidFill>
                <a:latin typeface="Arial"/>
              </a:rPr>
              <a:t>99%</a:t>
            </a:r>
          </a:p>
        </p:txBody>
      </p:sp>
      <p:sp>
        <p:nvSpPr>
          <p:cNvPr id="10" name="TextBox 9"/>
          <p:cNvSpPr txBox="1"/>
          <p:nvPr/>
        </p:nvSpPr>
        <p:spPr>
          <a:xfrm>
            <a:off x="889826" y="4731258"/>
            <a:ext cx="2069413" cy="569309"/>
          </a:xfrm>
          <a:prstGeom prst="rect">
            <a:avLst/>
          </a:prstGeom>
          <a:noFill/>
        </p:spPr>
        <p:txBody>
          <a:bodyPr wrap="square" anchor="ctr" lIns="0" tIns="0" rIns="0" bIns="0">
            <a:noAutofit/>
          </a:bodyPr>
          <a:lstStyle/>
          <a:p>
            <a:pPr algn="l">
              <a:lnSpc>
                <a:spcPts val="2280"/>
              </a:lnSpc>
              <a:spcBef>
                <a:spcPts val="0"/>
              </a:spcBef>
              <a:spcAft>
                <a:spcPts val="0"/>
              </a:spcAft>
            </a:pPr>
            <a:r>
              <a:rPr sz="1823" b="0" i="0" u="none">
                <a:solidFill>
                  <a:srgbClr val="3B3535"/>
                </a:solidFill>
                <a:latin typeface="Arial"/>
              </a:rPr>
              <a:t>accuracy on the imbalanced set</a:t>
            </a:r>
          </a:p>
        </p:txBody>
      </p:sp>
      <p:sp>
        <p:nvSpPr>
          <p:cNvPr id="11" name="Rounded Rectangle 10"/>
          <p:cNvSpPr/>
          <p:nvPr/>
        </p:nvSpPr>
        <p:spPr>
          <a:xfrm>
            <a:off x="3421856" y="3795236"/>
            <a:ext cx="2458784" cy="1749171"/>
          </a:xfrm>
          <a:prstGeom prst="roundRect">
            <a:avLst>
              <a:gd name="adj" fmla="val 13940"/>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3641217" y="4000976"/>
            <a:ext cx="2058162" cy="685800"/>
          </a:xfrm>
          <a:prstGeom prst="rect">
            <a:avLst/>
          </a:prstGeom>
          <a:noFill/>
        </p:spPr>
        <p:txBody>
          <a:bodyPr wrap="none" anchor="ctr" lIns="0" tIns="0" rIns="0" bIns="0">
            <a:noAutofit/>
          </a:bodyPr>
          <a:lstStyle/>
          <a:p>
            <a:pPr algn="l">
              <a:lnSpc>
                <a:spcPts val="4800"/>
              </a:lnSpc>
              <a:spcBef>
                <a:spcPts val="0"/>
              </a:spcBef>
              <a:spcAft>
                <a:spcPts val="0"/>
              </a:spcAft>
            </a:pPr>
            <a:r>
              <a:rPr sz="4800" b="1" i="0" u="none" spc="-96">
                <a:solidFill>
                  <a:srgbClr val="DA1B2E"/>
                </a:solidFill>
                <a:latin typeface="Arial"/>
              </a:rPr>
              <a:t>0 / 100</a:t>
            </a:r>
          </a:p>
        </p:txBody>
      </p:sp>
      <p:sp>
        <p:nvSpPr>
          <p:cNvPr id="13" name="TextBox 12"/>
          <p:cNvSpPr txBox="1"/>
          <p:nvPr/>
        </p:nvSpPr>
        <p:spPr>
          <a:xfrm>
            <a:off x="3641217" y="4731258"/>
            <a:ext cx="2069413" cy="569309"/>
          </a:xfrm>
          <a:prstGeom prst="rect">
            <a:avLst/>
          </a:prstGeom>
          <a:noFill/>
        </p:spPr>
        <p:txBody>
          <a:bodyPr wrap="square" anchor="ctr" lIns="0" tIns="0" rIns="0" bIns="0">
            <a:noAutofit/>
          </a:bodyPr>
          <a:lstStyle/>
          <a:p>
            <a:pPr algn="l">
              <a:lnSpc>
                <a:spcPts val="2280"/>
              </a:lnSpc>
              <a:spcBef>
                <a:spcPts val="0"/>
              </a:spcBef>
              <a:spcAft>
                <a:spcPts val="0"/>
              </a:spcAft>
            </a:pPr>
            <a:r>
              <a:rPr sz="1823" b="0" i="0" u="none">
                <a:solidFill>
                  <a:srgbClr val="3B3535"/>
                </a:solidFill>
                <a:latin typeface="Arial"/>
              </a:rPr>
              <a:t>frauds actually caught</a:t>
            </a:r>
          </a:p>
        </p:txBody>
      </p:sp>
      <p:sp>
        <p:nvSpPr>
          <p:cNvPr id="14" name="Rounded Rectangle 13"/>
          <p:cNvSpPr/>
          <p:nvPr/>
        </p:nvSpPr>
        <p:spPr>
          <a:xfrm>
            <a:off x="6309265" y="2192369"/>
            <a:ext cx="5882735" cy="4056031"/>
          </a:xfrm>
          <a:prstGeom prst="roundRect">
            <a:avLst>
              <a:gd name="adj" fmla="val 4208"/>
            </a:avLst>
          </a:prstGeom>
          <a:no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9080468" y="4085463"/>
            <a:ext cx="1706308" cy="257175"/>
          </a:xfrm>
          <a:prstGeom prst="rect">
            <a:avLst/>
          </a:prstGeom>
          <a:noFill/>
        </p:spPr>
        <p:txBody>
          <a:bodyPr wrap="none" anchor="ctr" lIns="0" tIns="0" rIns="0" bIns="0">
            <a:noAutofit/>
          </a:bodyPr>
          <a:lstStyle/>
          <a:p>
            <a:pPr algn="l">
              <a:lnSpc>
                <a:spcPts val="1823"/>
              </a:lnSpc>
              <a:spcBef>
                <a:spcPts val="0"/>
              </a:spcBef>
              <a:spcAft>
                <a:spcPts val="0"/>
              </a:spcAft>
            </a:pPr>
            <a:r>
              <a:rPr sz="1823" b="0" i="0" u="none">
                <a:solidFill>
                  <a:srgbClr val="999999"/>
                </a:solidFill>
                <a:latin typeface="Courier New"/>
              </a:rPr>
              <a:t>The pipeline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430083" y="2001869"/>
            <a:ext cx="9369933" cy="285750"/>
          </a:xfrm>
          <a:prstGeom prst="rect">
            <a:avLst/>
          </a:prstGeom>
          <a:noFill/>
        </p:spPr>
        <p:txBody>
          <a:bodyPr wrap="none" anchor="ctr" lIns="0" tIns="0" rIns="0" bIns="0">
            <a:noAutofit/>
          </a:bodyPr>
          <a:lstStyle/>
          <a:p>
            <a:pPr algn="l">
              <a:lnSpc>
                <a:spcPts val="2016"/>
              </a:lnSpc>
              <a:spcBef>
                <a:spcPts val="0"/>
              </a:spcBef>
              <a:spcAft>
                <a:spcPts val="0"/>
              </a:spcAft>
            </a:pPr>
            <a:r>
              <a:rPr sz="2016" b="1" i="0" u="none" spc="242">
                <a:solidFill>
                  <a:srgbClr val="DA1B2E"/>
                </a:solidFill>
                <a:latin typeface="Arial"/>
              </a:rPr>
              <a:t>CLOSING</a:t>
            </a:r>
          </a:p>
        </p:txBody>
      </p:sp>
      <p:sp>
        <p:nvSpPr>
          <p:cNvPr id="3" name="TextBox 2"/>
          <p:cNvSpPr txBox="1"/>
          <p:nvPr/>
        </p:nvSpPr>
        <p:spPr>
          <a:xfrm>
            <a:off x="1430083" y="2795397"/>
            <a:ext cx="9369933" cy="1219200"/>
          </a:xfrm>
          <a:prstGeom prst="rect">
            <a:avLst/>
          </a:prstGeom>
          <a:noFill/>
        </p:spPr>
        <p:txBody>
          <a:bodyPr wrap="none" anchor="ctr" lIns="0" tIns="0" rIns="0" bIns="0">
            <a:noAutofit/>
          </a:bodyPr>
          <a:lstStyle/>
          <a:p>
            <a:pPr algn="l">
              <a:lnSpc>
                <a:spcPts val="8640"/>
              </a:lnSpc>
              <a:spcBef>
                <a:spcPts val="0"/>
              </a:spcBef>
              <a:spcAft>
                <a:spcPts val="0"/>
              </a:spcAft>
            </a:pPr>
            <a:r>
              <a:rPr sz="8640" b="1" i="0" u="none" spc="-172">
                <a:solidFill>
                  <a:srgbClr val="1F1E1E"/>
                </a:solidFill>
                <a:latin typeface="Arial"/>
              </a:rPr>
              <a:t>Questions?</a:t>
            </a:r>
          </a:p>
        </p:txBody>
      </p:sp>
      <p:sp>
        <p:nvSpPr>
          <p:cNvPr id="4" name="TextBox 3"/>
          <p:cNvSpPr txBox="1"/>
          <p:nvPr/>
        </p:nvSpPr>
        <p:spPr>
          <a:xfrm>
            <a:off x="1430083" y="4223480"/>
            <a:ext cx="9490860" cy="625983"/>
          </a:xfrm>
          <a:prstGeom prst="rect">
            <a:avLst/>
          </a:prstGeom>
          <a:noFill/>
        </p:spPr>
        <p:txBody>
          <a:bodyPr wrap="square" anchor="ctr" lIns="0" tIns="0" rIns="0" bIns="0">
            <a:noAutofit/>
          </a:bodyPr>
          <a:lstStyle/>
          <a:p>
            <a:pPr algn="l">
              <a:lnSpc>
                <a:spcPts val="2304"/>
              </a:lnSpc>
              <a:spcBef>
                <a:spcPts val="0"/>
              </a:spcBef>
              <a:spcAft>
                <a:spcPts val="0"/>
              </a:spcAft>
            </a:pPr>
            <a:r>
              <a:rPr sz="2304" b="0" i="0" u="none">
                <a:solidFill>
                  <a:srgbClr val="3B3535"/>
                </a:solidFill>
                <a:latin typeface="Courier New"/>
              </a:rPr>
              <a:t>Thanks for flipping through the Talksmith template catalog.</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70465" y="514826"/>
            <a:ext cx="1126808" cy="342043"/>
          </a:xfrm>
          <a:prstGeom prst="roundRect">
            <a:avLst>
              <a:gd name="adj" fmla="val 24951"/>
            </a:avLst>
          </a:prstGeom>
          <a:solidFill>
            <a:srgbClr val="F9D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 name="TextBox 2"/>
          <p:cNvSpPr txBox="1"/>
          <p:nvPr/>
        </p:nvSpPr>
        <p:spPr>
          <a:xfrm>
            <a:off x="841058" y="600075"/>
            <a:ext cx="823722" cy="171450"/>
          </a:xfrm>
          <a:prstGeom prst="rect">
            <a:avLst/>
          </a:prstGeom>
          <a:noFill/>
        </p:spPr>
        <p:txBody>
          <a:bodyPr wrap="none" anchor="ctr" lIns="0" tIns="0" rIns="0" bIns="0">
            <a:noAutofit/>
          </a:bodyPr>
          <a:lstStyle/>
          <a:p>
            <a:pPr algn="l">
              <a:lnSpc>
                <a:spcPts val="1210"/>
              </a:lnSpc>
              <a:spcBef>
                <a:spcPts val="0"/>
              </a:spcBef>
              <a:spcAft>
                <a:spcPts val="0"/>
              </a:spcAft>
            </a:pPr>
            <a:r>
              <a:rPr sz="1210" b="1" i="0" u="none" spc="97">
                <a:solidFill>
                  <a:srgbClr val="1F1E1E"/>
                </a:solidFill>
                <a:latin typeface="Arial"/>
              </a:rPr>
              <a:t>CLOSING</a:t>
            </a:r>
          </a:p>
        </p:txBody>
      </p:sp>
      <p:sp>
        <p:nvSpPr>
          <p:cNvPr id="4" name="TextBox 3"/>
          <p:cNvSpPr txBox="1"/>
          <p:nvPr/>
        </p:nvSpPr>
        <p:spPr>
          <a:xfrm>
            <a:off x="670465" y="896112"/>
            <a:ext cx="10889170" cy="571500"/>
          </a:xfrm>
          <a:prstGeom prst="rect">
            <a:avLst/>
          </a:prstGeom>
          <a:noFill/>
        </p:spPr>
        <p:txBody>
          <a:bodyPr wrap="none" anchor="ctr" lIns="0" tIns="0" rIns="0" bIns="0">
            <a:noAutofit/>
          </a:bodyPr>
          <a:lstStyle/>
          <a:p>
            <a:pPr algn="l">
              <a:lnSpc>
                <a:spcPts val="4355"/>
              </a:lnSpc>
              <a:spcBef>
                <a:spcPts val="0"/>
              </a:spcBef>
              <a:spcAft>
                <a:spcPts val="0"/>
              </a:spcAft>
            </a:pPr>
            <a:r>
              <a:rPr sz="4032" b="1" i="0" u="none" spc="-40">
                <a:solidFill>
                  <a:srgbClr val="1F1E1E"/>
                </a:solidFill>
                <a:latin typeface="Arial"/>
              </a:rPr>
              <a:t>Where to go next</a:t>
            </a:r>
          </a:p>
        </p:txBody>
      </p:sp>
      <p:sp>
        <p:nvSpPr>
          <p:cNvPr id="5" name="Rounded Rectangle 4"/>
          <p:cNvSpPr/>
          <p:nvPr/>
        </p:nvSpPr>
        <p:spPr>
          <a:xfrm>
            <a:off x="670465" y="1775555"/>
            <a:ext cx="5290376" cy="2182082"/>
          </a:xfrm>
          <a:prstGeom prst="roundRect">
            <a:avLst>
              <a:gd name="adj" fmla="val 1117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6" name="Picture 5" descr="image.png"/>
          <p:cNvPicPr>
            <a:picLocks noChangeAspect="1"/>
          </p:cNvPicPr>
          <p:nvPr/>
        </p:nvPicPr>
        <p:blipFill>
          <a:blip r:embed="rId2"/>
          <a:stretch>
            <a:fillRect/>
          </a:stretch>
        </p:blipFill>
        <p:spPr>
          <a:xfrm>
            <a:off x="963073" y="2068163"/>
            <a:ext cx="560832" cy="560832"/>
          </a:xfrm>
          <a:prstGeom prst="rect">
            <a:avLst/>
          </a:prstGeom>
        </p:spPr>
      </p:pic>
      <p:sp>
        <p:nvSpPr>
          <p:cNvPr id="7" name="TextBox 6"/>
          <p:cNvSpPr txBox="1"/>
          <p:nvPr/>
        </p:nvSpPr>
        <p:spPr>
          <a:xfrm>
            <a:off x="963073" y="2707291"/>
            <a:ext cx="4743260"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Schema</a:t>
            </a:r>
          </a:p>
        </p:txBody>
      </p:sp>
      <p:sp>
        <p:nvSpPr>
          <p:cNvPr id="8" name="TextBox 7"/>
          <p:cNvSpPr txBox="1"/>
          <p:nvPr/>
        </p:nvSpPr>
        <p:spPr>
          <a:xfrm>
            <a:off x="963073" y="3134011"/>
            <a:ext cx="4743260" cy="285750"/>
          </a:xfrm>
          <a:prstGeom prst="rect">
            <a:avLst/>
          </a:prstGeom>
          <a:noFill/>
        </p:spPr>
        <p:txBody>
          <a:bodyPr wrap="none" anchor="ctr" lIns="0" tIns="0" rIns="0" bIns="0">
            <a:noAutofit/>
          </a:bodyPr>
          <a:lstStyle/>
          <a:p>
            <a:pPr algn="l">
              <a:lnSpc>
                <a:spcPts val="2016"/>
              </a:lnSpc>
              <a:spcBef>
                <a:spcPts val="0"/>
              </a:spcBef>
              <a:spcAft>
                <a:spcPts val="0"/>
              </a:spcAft>
            </a:pPr>
            <a:r>
              <a:rPr sz="2016" b="0" i="0" u="none">
                <a:solidFill>
                  <a:srgbClr val="DA1B2E"/>
                </a:solidFill>
                <a:latin typeface="Courier New"/>
              </a:rPr>
              <a:t>schemas/slide-model.md</a:t>
            </a:r>
          </a:p>
        </p:txBody>
      </p:sp>
      <p:sp>
        <p:nvSpPr>
          <p:cNvPr id="9" name="Rounded Rectangle 8"/>
          <p:cNvSpPr/>
          <p:nvPr/>
        </p:nvSpPr>
        <p:spPr>
          <a:xfrm>
            <a:off x="6229064" y="1775555"/>
            <a:ext cx="5290376" cy="2182082"/>
          </a:xfrm>
          <a:prstGeom prst="roundRect">
            <a:avLst>
              <a:gd name="adj" fmla="val 11174"/>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0" name="Picture 9" descr="image.png"/>
          <p:cNvPicPr>
            <a:picLocks noChangeAspect="1"/>
          </p:cNvPicPr>
          <p:nvPr/>
        </p:nvPicPr>
        <p:blipFill>
          <a:blip r:embed="rId3"/>
          <a:stretch>
            <a:fillRect/>
          </a:stretch>
        </p:blipFill>
        <p:spPr>
          <a:xfrm>
            <a:off x="6521672" y="2068163"/>
            <a:ext cx="560832" cy="560832"/>
          </a:xfrm>
          <a:prstGeom prst="rect">
            <a:avLst/>
          </a:prstGeom>
        </p:spPr>
      </p:pic>
      <p:sp>
        <p:nvSpPr>
          <p:cNvPr id="11" name="TextBox 10"/>
          <p:cNvSpPr txBox="1"/>
          <p:nvPr/>
        </p:nvSpPr>
        <p:spPr>
          <a:xfrm>
            <a:off x="6521672" y="2707291"/>
            <a:ext cx="4743260"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Catalog</a:t>
            </a:r>
          </a:p>
        </p:txBody>
      </p:sp>
      <p:sp>
        <p:nvSpPr>
          <p:cNvPr id="12" name="TextBox 11"/>
          <p:cNvSpPr txBox="1"/>
          <p:nvPr/>
        </p:nvSpPr>
        <p:spPr>
          <a:xfrm>
            <a:off x="6521672" y="3134011"/>
            <a:ext cx="4794787" cy="541782"/>
          </a:xfrm>
          <a:prstGeom prst="rect">
            <a:avLst/>
          </a:prstGeom>
          <a:noFill/>
        </p:spPr>
        <p:txBody>
          <a:bodyPr wrap="square" anchor="ctr" lIns="0" tIns="0" rIns="0" bIns="0">
            <a:noAutofit/>
          </a:bodyPr>
          <a:lstStyle/>
          <a:p>
            <a:pPr algn="l">
              <a:lnSpc>
                <a:spcPts val="2016"/>
              </a:lnSpc>
              <a:spcBef>
                <a:spcPts val="0"/>
              </a:spcBef>
              <a:spcAft>
                <a:spcPts val="0"/>
              </a:spcAft>
            </a:pPr>
            <a:r>
              <a:rPr sz="2016" b="0" i="0" u="none">
                <a:solidFill>
                  <a:srgbClr val="DA1B2E"/>
                </a:solidFill>
                <a:latin typeface="Courier New"/>
              </a:rPr>
              <a:t>config/pptx-styles/slide-templates.md</a:t>
            </a:r>
          </a:p>
        </p:txBody>
      </p:sp>
      <p:sp>
        <p:nvSpPr>
          <p:cNvPr id="13" name="Rounded Rectangle 12"/>
          <p:cNvSpPr/>
          <p:nvPr/>
        </p:nvSpPr>
        <p:spPr>
          <a:xfrm>
            <a:off x="670465" y="4225862"/>
            <a:ext cx="5290376" cy="1926146"/>
          </a:xfrm>
          <a:prstGeom prst="roundRect">
            <a:avLst>
              <a:gd name="adj" fmla="val 12659"/>
            </a:avLst>
          </a:prstGeom>
          <a:solidFill>
            <a:srgbClr val="F2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png"/>
          <p:cNvPicPr>
            <a:picLocks noChangeAspect="1"/>
          </p:cNvPicPr>
          <p:nvPr/>
        </p:nvPicPr>
        <p:blipFill>
          <a:blip r:embed="rId4"/>
          <a:stretch>
            <a:fillRect/>
          </a:stretch>
        </p:blipFill>
        <p:spPr>
          <a:xfrm>
            <a:off x="963073" y="4518470"/>
            <a:ext cx="560832" cy="560832"/>
          </a:xfrm>
          <a:prstGeom prst="rect">
            <a:avLst/>
          </a:prstGeom>
        </p:spPr>
      </p:pic>
      <p:sp>
        <p:nvSpPr>
          <p:cNvPr id="15" name="TextBox 14"/>
          <p:cNvSpPr txBox="1"/>
          <p:nvPr/>
        </p:nvSpPr>
        <p:spPr>
          <a:xfrm>
            <a:off x="963073" y="5157597"/>
            <a:ext cx="4743260" cy="361950"/>
          </a:xfrm>
          <a:prstGeom prst="rect">
            <a:avLst/>
          </a:prstGeom>
          <a:noFill/>
        </p:spPr>
        <p:txBody>
          <a:bodyPr wrap="none" anchor="ctr" lIns="0" tIns="0" rIns="0" bIns="0">
            <a:noAutofit/>
          </a:bodyPr>
          <a:lstStyle/>
          <a:p>
            <a:pPr algn="l">
              <a:lnSpc>
                <a:spcPts val="2592"/>
              </a:lnSpc>
              <a:spcBef>
                <a:spcPts val="0"/>
              </a:spcBef>
              <a:spcAft>
                <a:spcPts val="0"/>
              </a:spcAft>
            </a:pPr>
            <a:r>
              <a:rPr sz="2592" b="1" i="0" u="none">
                <a:solidFill>
                  <a:srgbClr val="1F1E1E"/>
                </a:solidFill>
                <a:latin typeface="Arial"/>
              </a:rPr>
              <a:t>Repo</a:t>
            </a:r>
          </a:p>
        </p:txBody>
      </p:sp>
      <p:sp>
        <p:nvSpPr>
          <p:cNvPr id="16" name="TextBox 15"/>
          <p:cNvSpPr txBox="1"/>
          <p:nvPr/>
        </p:nvSpPr>
        <p:spPr>
          <a:xfrm>
            <a:off x="963073" y="5584317"/>
            <a:ext cx="4743260" cy="285750"/>
          </a:xfrm>
          <a:prstGeom prst="rect">
            <a:avLst/>
          </a:prstGeom>
          <a:noFill/>
        </p:spPr>
        <p:txBody>
          <a:bodyPr wrap="none" anchor="ctr" lIns="0" tIns="0" rIns="0" bIns="0">
            <a:noAutofit/>
          </a:bodyPr>
          <a:lstStyle/>
          <a:p>
            <a:pPr algn="l">
              <a:lnSpc>
                <a:spcPts val="2016"/>
              </a:lnSpc>
              <a:spcBef>
                <a:spcPts val="0"/>
              </a:spcBef>
              <a:spcAft>
                <a:spcPts val="0"/>
              </a:spcAft>
            </a:pPr>
            <a:r>
              <a:rPr sz="2016" b="1" i="0" u="sng">
                <a:solidFill>
                  <a:srgbClr val="DA1B2E"/>
                </a:solidFill>
                <a:latin typeface="Courier New"/>
                <a:hlinkClick r:id="rId5"/>
              </a:rPr>
              <a:t>github.com/austral/talksmith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